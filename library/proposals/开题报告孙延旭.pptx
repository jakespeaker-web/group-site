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  <p:sldMasterId id="2147483651" r:id="rId3"/>
  </p:sldMasterIdLst>
  <p:notesMasterIdLst>
    <p:notesMasterId r:id="rId24"/>
  </p:notesMasterIdLst>
  <p:sldIdLst>
    <p:sldId id="273" r:id="rId4"/>
    <p:sldId id="257" r:id="rId5"/>
    <p:sldId id="285" r:id="rId6"/>
    <p:sldId id="258" r:id="rId7"/>
    <p:sldId id="281" r:id="rId8"/>
    <p:sldId id="259" r:id="rId9"/>
    <p:sldId id="270" r:id="rId10"/>
    <p:sldId id="278" r:id="rId11"/>
    <p:sldId id="282" r:id="rId12"/>
    <p:sldId id="286" r:id="rId13"/>
    <p:sldId id="277" r:id="rId14"/>
    <p:sldId id="275" r:id="rId15"/>
    <p:sldId id="287" r:id="rId16"/>
    <p:sldId id="290" r:id="rId17"/>
    <p:sldId id="289" r:id="rId18"/>
    <p:sldId id="276" r:id="rId19"/>
    <p:sldId id="261" r:id="rId20"/>
    <p:sldId id="288" r:id="rId21"/>
    <p:sldId id="262" r:id="rId22"/>
    <p:sldId id="274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8516319149@163.com" initials="1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77584" autoAdjust="0"/>
  </p:normalViewPr>
  <p:slideViewPr>
    <p:cSldViewPr snapToGrid="0">
      <p:cViewPr varScale="1">
        <p:scale>
          <a:sx n="93" d="100"/>
          <a:sy n="93" d="100"/>
        </p:scale>
        <p:origin x="259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A7990-BF14-47BD-ACE7-CE420EBBE3FB}" type="datetimeFigureOut">
              <a:rPr lang="zh-CN" altLang="en-US" smtClean="0"/>
              <a:t>2020/12/8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DFB31-976D-484F-B835-A6109DB931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384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DFB31-976D-484F-B835-A6109DB9312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608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DFB31-976D-484F-B835-A6109DB9312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213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DFB31-976D-484F-B835-A6109DB9312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845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DFB31-976D-484F-B835-A6109DB9312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538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DFB31-976D-484F-B835-A6109DB9312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160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DFB31-976D-484F-B835-A6109DB9312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262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DFB31-976D-484F-B835-A6109DB9312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865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DFB31-976D-484F-B835-A6109DB9312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954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DFB31-976D-484F-B835-A6109DB9312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649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DFB31-976D-484F-B835-A6109DB9312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930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DFB31-976D-484F-B835-A6109DB9312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903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DFB31-976D-484F-B835-A6109DB9312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5302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DFB31-976D-484F-B835-A6109DB9312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6453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DFB31-976D-484F-B835-A6109DB9312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826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DFB31-976D-484F-B835-A6109DB9312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616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DFB31-976D-484F-B835-A6109DB9312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971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711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240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 descr="http://aappsbulletin.org/img/201408/active_01_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" y="883920"/>
            <a:ext cx="9031111" cy="5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92445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5" descr="http://aappsbulletin.org/img/201408/active_01_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179" y="899329"/>
            <a:ext cx="6840760" cy="4579533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  <a:effectLst/>
        </p:spPr>
      </p:pic>
      <p:pic>
        <p:nvPicPr>
          <p:cNvPr id="5" name="Picture 2056" descr="iland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16564"/>
            <a:ext cx="12192000" cy="134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80576" y="44627"/>
            <a:ext cx="864096" cy="7274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9" name="Rectangle 27"/>
          <p:cNvSpPr>
            <a:spLocks noChangeArrowheads="1"/>
          </p:cNvSpPr>
          <p:nvPr userDrawn="1"/>
        </p:nvSpPr>
        <p:spPr bwMode="auto">
          <a:xfrm>
            <a:off x="-6350" y="858839"/>
            <a:ext cx="12198351" cy="60325"/>
          </a:xfrm>
          <a:prstGeom prst="rect">
            <a:avLst/>
          </a:prstGeom>
          <a:gradFill rotWithShape="1">
            <a:gsLst>
              <a:gs pos="0">
                <a:srgbClr val="003366">
                  <a:alpha val="85999"/>
                </a:srgbClr>
              </a:gs>
              <a:gs pos="100000">
                <a:schemeClr val="bg1"/>
              </a:gs>
            </a:gsLst>
            <a:lin ang="5400000" scaled="1"/>
          </a:gra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none" lIns="91429" tIns="45714" rIns="91429" bIns="45714" anchor="ctr"/>
          <a:lstStyle/>
          <a:p>
            <a:pPr algn="ctr">
              <a:defRPr/>
            </a:pPr>
            <a:endParaRPr lang="zh-CN" altLang="en-US" sz="3100" baseline="-25000">
              <a:latin typeface="Arial" pitchFamily="34" charset="0"/>
              <a:ea typeface="MS PGothic" pitchFamily="34" charset="-128"/>
            </a:endParaRP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>
          <a:xfrm>
            <a:off x="0" y="26134"/>
            <a:ext cx="11227635" cy="810578"/>
          </a:xfr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>
                <a:solidFill>
                  <a:srgbClr val="FF0000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0012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911424" y="3033197"/>
            <a:ext cx="10316211" cy="369332"/>
          </a:xfrm>
          <a:prstGeom prst="rect">
            <a:avLst/>
          </a:prstGeom>
          <a:solidFill>
            <a:schemeClr val="bg1">
              <a:alpha val="69000"/>
            </a:schemeClr>
          </a:solidFill>
          <a:ln w="15875">
            <a:noFill/>
          </a:ln>
        </p:spPr>
        <p:txBody>
          <a:bodyPr wrap="square" rtlCol="0" anchor="ctr">
            <a:spAutoFit/>
          </a:bodyPr>
          <a:lstStyle/>
          <a:p>
            <a:pPr algn="ctr">
              <a:buNone/>
            </a:pPr>
            <a:endParaRPr lang="en-US" sz="1800" dirty="0" smtClean="0">
              <a:latin typeface="+mn-lt"/>
            </a:endParaRPr>
          </a:p>
        </p:txBody>
      </p:sp>
      <p:sp>
        <p:nvSpPr>
          <p:cNvPr id="12" name="Rectangle 1"/>
          <p:cNvSpPr/>
          <p:nvPr userDrawn="1"/>
        </p:nvSpPr>
        <p:spPr>
          <a:xfrm>
            <a:off x="2023782" y="889001"/>
            <a:ext cx="7737158" cy="4597400"/>
          </a:xfrm>
          <a:prstGeom prst="rect">
            <a:avLst/>
          </a:prstGeom>
          <a:solidFill>
            <a:schemeClr val="bg1">
              <a:alpha val="69000"/>
            </a:schemeClr>
          </a:solidFill>
          <a:ln w="15875">
            <a:noFill/>
          </a:ln>
        </p:spPr>
        <p:txBody>
          <a:bodyPr wrap="square" rtlCol="0" anchor="ctr">
            <a:spAutoFit/>
          </a:bodyPr>
          <a:lstStyle/>
          <a:p>
            <a:pPr algn="ctr">
              <a:buNone/>
            </a:pPr>
            <a:endParaRPr lang="en-US" sz="1800" dirty="0" smtClean="0">
              <a:latin typeface="+mn-lt"/>
            </a:endParaRPr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395520" y="1925547"/>
            <a:ext cx="11365109" cy="1143000"/>
          </a:xfrm>
          <a:prstGeom prst="rect">
            <a:avLst/>
          </a:prstGeom>
        </p:spPr>
        <p:txBody>
          <a:bodyPr/>
          <a:lstStyle>
            <a:lvl1pPr marL="0" indent="-5143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lang="zh-CN" altLang="en-US" sz="4000" b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Arial Unicode MS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0"/>
          </p:nvPr>
        </p:nvSpPr>
        <p:spPr>
          <a:xfrm>
            <a:off x="481642" y="3835689"/>
            <a:ext cx="8255959" cy="914400"/>
          </a:xfrm>
        </p:spPr>
        <p:txBody>
          <a:bodyPr/>
          <a:lstStyle>
            <a:lvl1pPr marL="0" indent="-51435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  <a:defRPr kumimoji="1" lang="zh-CN" altLang="en-US" sz="2400" b="1" kern="1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华文中宋" pitchFamily="2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523698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167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64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3"/>
          <p:cNvSpPr>
            <a:spLocks noChangeArrowheads="1"/>
          </p:cNvSpPr>
          <p:nvPr userDrawn="1"/>
        </p:nvSpPr>
        <p:spPr bwMode="auto">
          <a:xfrm>
            <a:off x="0" y="6484938"/>
            <a:ext cx="379413" cy="296862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 defTabSz="457200" eaLnBrk="1" hangingPunct="1">
              <a:defRPr/>
            </a:pPr>
            <a:fld id="{37A52A83-9951-4F1B-BCA0-C548FE003A5A}" type="slidenum">
              <a:rPr lang="en-US" altLang="zh-CN" sz="1200">
                <a:latin typeface="Century Gothic" pitchFamily="34" charset="0"/>
                <a:ea typeface="MS PGothic" pitchFamily="34" charset="-128"/>
              </a:rPr>
              <a:pPr algn="ctr" defTabSz="457200" eaLnBrk="1" hangingPunct="1">
                <a:defRPr/>
              </a:pPr>
              <a:t>‹#›</a:t>
            </a:fld>
            <a:endParaRPr lang="en-US" altLang="zh-CN" sz="1200" dirty="0">
              <a:latin typeface="Century Gothic" pitchFamily="34" charset="0"/>
              <a:ea typeface="MS PGothic" pitchFamily="34" charset="-128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2000" cy="8400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543928" y="6121225"/>
            <a:ext cx="648072" cy="7274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96677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D0106-BA95-4480-B0F0-745DDD9E3D68}" type="datetimeFigureOut">
              <a:rPr lang="zh-CN" altLang="en-US" smtClean="0"/>
              <a:t>2020/12/8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FA75E-AB44-4109-B505-7564A40D14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559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8400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543928" y="6130575"/>
            <a:ext cx="648072" cy="7274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6568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369611" y="919258"/>
            <a:ext cx="9144000" cy="2387600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Arial Unicode MS" pitchFamily="34" charset="-122"/>
              </a:rPr>
              <a:t>EAST</a:t>
            </a:r>
            <a:r>
              <a:rPr kumimoji="1"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Arial Unicode MS" pitchFamily="34" charset="-122"/>
              </a:rPr>
              <a:t>高参数长脉冲运行</a:t>
            </a:r>
            <a:r>
              <a:rPr kumimoji="1" lang="zh-CN" alt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Arial Unicode MS" pitchFamily="34" charset="-122"/>
              </a:rPr>
              <a:t>下</a:t>
            </a:r>
            <a:endParaRPr kumimoji="1" lang="en-US" altLang="zh-CN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+mn-ea"/>
              <a:cs typeface="Arial Unicode MS" pitchFamily="34" charset="-122"/>
            </a:endParaRPr>
          </a:p>
          <a:p>
            <a:r>
              <a:rPr kumimoji="1" lang="zh-CN" alt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Arial Unicode MS" pitchFamily="34" charset="-122"/>
              </a:rPr>
              <a:t>快离子</a:t>
            </a:r>
            <a:r>
              <a:rPr kumimoji="1"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Arial Unicode MS" pitchFamily="34" charset="-122"/>
              </a:rPr>
              <a:t>分布的研究</a:t>
            </a:r>
          </a:p>
        </p:txBody>
      </p:sp>
      <p:sp>
        <p:nvSpPr>
          <p:cNvPr id="7" name="副标题 2"/>
          <p:cNvSpPr txBox="1">
            <a:spLocks/>
          </p:cNvSpPr>
          <p:nvPr/>
        </p:nvSpPr>
        <p:spPr>
          <a:xfrm>
            <a:off x="3304319" y="3306858"/>
            <a:ext cx="4870823" cy="165576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defRPr/>
            </a:pPr>
            <a:r>
              <a:rPr lang="zh-CN" altLang="en-US" sz="2800" dirty="0" smtClean="0">
                <a:latin typeface="宋体" panose="02010600030101010101" pitchFamily="2" charset="-122"/>
              </a:rPr>
              <a:t>                    </a:t>
            </a:r>
            <a:endParaRPr lang="en-US" altLang="zh-CN" sz="2800" dirty="0" smtClean="0">
              <a:latin typeface="宋体" panose="02010600030101010101" pitchFamily="2" charset="-122"/>
            </a:endParaRPr>
          </a:p>
          <a:p>
            <a:pPr indent="-51435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kumimoji="1"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华文中宋" pitchFamily="2" charset="-122"/>
              </a:rPr>
              <a:t>报告人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华文中宋" pitchFamily="2" charset="-122"/>
              </a:rPr>
              <a:t>：孙延旭</a:t>
            </a:r>
            <a:endParaRPr kumimoji="1"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  <a:ea typeface="华文中宋" pitchFamily="2" charset="-122"/>
            </a:endParaRPr>
          </a:p>
          <a:p>
            <a:pPr indent="-51435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kumimoji="1"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华文中宋" pitchFamily="2" charset="-122"/>
              </a:rPr>
              <a:t>导  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华文中宋" pitchFamily="2" charset="-122"/>
              </a:rPr>
              <a:t>师：</a:t>
            </a:r>
            <a:r>
              <a:rPr kumimoji="1"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华文中宋" pitchFamily="2" charset="-122"/>
              </a:rPr>
              <a:t>黄娟</a:t>
            </a:r>
            <a:endParaRPr kumimoji="1" lang="en-US" altLang="zh-CN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  <a:ea typeface="华文中宋" pitchFamily="2" charset="-122"/>
            </a:endParaRPr>
          </a:p>
          <a:p>
            <a:pPr indent="-51435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kumimoji="1"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华文中宋" pitchFamily="2" charset="-122"/>
              </a:rPr>
              <a:t>2020.12.8</a:t>
            </a:r>
          </a:p>
          <a:p>
            <a:pPr indent="-514350" algn="l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defRPr/>
            </a:pPr>
            <a:endParaRPr kumimoji="1"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  <a:ea typeface="华文中宋" pitchFamily="2" charset="-122"/>
            </a:endParaRPr>
          </a:p>
          <a:p>
            <a:pPr algn="l">
              <a:buClr>
                <a:schemeClr val="tx1"/>
              </a:buClr>
              <a:defRPr/>
            </a:pPr>
            <a:r>
              <a:rPr lang="zh-CN" altLang="en-US" sz="2800" dirty="0" smtClean="0">
                <a:latin typeface="宋体" panose="02010600030101010101" pitchFamily="2" charset="-122"/>
              </a:rPr>
              <a:t>                    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4915569" y="334483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</a:rPr>
              <a:t>开</a:t>
            </a:r>
            <a:r>
              <a:rPr lang="zh-CN" altLang="en-US" sz="3200" b="1" dirty="0" smtClean="0">
                <a:latin typeface="+mn-ea"/>
              </a:rPr>
              <a:t>题报告</a:t>
            </a:r>
            <a:endParaRPr lang="zh-CN" altLang="en-US" sz="3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767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56626" y="159309"/>
            <a:ext cx="5016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报告纲要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73802" y="1184884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选题依据及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国内外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现状和发展趋势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思路及研究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研究方法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工作基础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工作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进度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安排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121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56626" y="159309"/>
            <a:ext cx="5016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报告纲要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73802" y="1184884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选题依据及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国内外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现状和发展趋势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思路及研究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研究方法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工作基础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工作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进度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安排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832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15726"/>
            <a:ext cx="124790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快离子分布和输运及有效控制是实现未来燃烧等离子体的关键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4620" y="-1095874"/>
            <a:ext cx="9505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研究快离子的物理意义：加热，驱动不稳定性，损坏第一壁</a:t>
            </a:r>
            <a:r>
              <a:rPr lang="en-US" altLang="zh-CN" dirty="0" smtClean="0"/>
              <a:t>…</a:t>
            </a:r>
          </a:p>
          <a:p>
            <a:endParaRPr lang="en-US" altLang="zh-CN" dirty="0"/>
          </a:p>
          <a:p>
            <a:r>
              <a:rPr lang="zh-CN" altLang="en-US" dirty="0"/>
              <a:t>芯部</a:t>
            </a:r>
            <a:r>
              <a:rPr lang="zh-CN" altLang="en-US" dirty="0" smtClean="0"/>
              <a:t>输运（分布和损失）对等离子体参数和不稳定性的影响，扩展到分布的影响，</a:t>
            </a:r>
            <a:r>
              <a:rPr lang="en-US" altLang="zh-CN" dirty="0" smtClean="0"/>
              <a:t>H</a:t>
            </a:r>
            <a:r>
              <a:rPr lang="zh-CN" altLang="en-US" dirty="0" smtClean="0"/>
              <a:t>的文献</a:t>
            </a:r>
            <a:endParaRPr lang="zh-CN" altLang="en-US" dirty="0"/>
          </a:p>
        </p:txBody>
      </p:sp>
      <p:grpSp>
        <p:nvGrpSpPr>
          <p:cNvPr id="18" name="组合 17"/>
          <p:cNvGrpSpPr/>
          <p:nvPr/>
        </p:nvGrpSpPr>
        <p:grpSpPr>
          <a:xfrm>
            <a:off x="778367" y="993823"/>
            <a:ext cx="10922344" cy="830997"/>
            <a:chOff x="1789301" y="1237707"/>
            <a:chExt cx="10922344" cy="830997"/>
          </a:xfrm>
        </p:grpSpPr>
        <p:sp>
          <p:nvSpPr>
            <p:cNvPr id="5" name="文本框 4"/>
            <p:cNvSpPr txBox="1"/>
            <p:nvPr/>
          </p:nvSpPr>
          <p:spPr>
            <a:xfrm>
              <a:off x="1789301" y="1237707"/>
              <a:ext cx="1092234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 smtClean="0"/>
                <a:t>EAST </a:t>
              </a:r>
              <a:r>
                <a:rPr lang="zh-CN" altLang="en-US" sz="2400" b="1" dirty="0" smtClean="0"/>
                <a:t>主要科学目标</a:t>
              </a:r>
              <a:r>
                <a:rPr lang="en-US" altLang="zh-CN" sz="2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altLang="zh-CN" sz="2400" b="1" dirty="0" smtClean="0"/>
                <a:t> </a:t>
              </a:r>
            </a:p>
            <a:p>
              <a:r>
                <a:rPr lang="en-US" altLang="zh-CN" sz="2400" b="1" dirty="0"/>
                <a:t> </a:t>
              </a:r>
              <a:r>
                <a:rPr lang="en-US" altLang="zh-CN" sz="2400" b="1" dirty="0" smtClean="0"/>
                <a:t>         </a:t>
              </a:r>
              <a:endParaRPr lang="zh-CN" altLang="en-US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4765581" y="1307231"/>
              <a:ext cx="794606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 smtClean="0"/>
                <a:t>围绕</a:t>
              </a:r>
              <a:r>
                <a:rPr lang="en-US" altLang="zh-CN" sz="2000" dirty="0" smtClean="0"/>
                <a:t>CFETR</a:t>
              </a:r>
              <a:r>
                <a:rPr lang="zh-CN" altLang="en-US" sz="2000" dirty="0"/>
                <a:t>、</a:t>
              </a:r>
              <a:r>
                <a:rPr lang="en-US" altLang="zh-CN" sz="2000" dirty="0" smtClean="0"/>
                <a:t>ITER</a:t>
              </a:r>
              <a:r>
                <a:rPr lang="zh-CN" altLang="en-US" sz="2000" dirty="0" smtClean="0"/>
                <a:t>，实现</a:t>
              </a:r>
              <a:r>
                <a:rPr lang="en-US" altLang="zh-CN" sz="2000" dirty="0" smtClean="0"/>
                <a:t>400s</a:t>
              </a:r>
              <a:r>
                <a:rPr lang="zh-CN" altLang="en-US" sz="2000" dirty="0" smtClean="0">
                  <a:sym typeface="+mn-ea"/>
                </a:rPr>
                <a:t>稳态高参数运行</a:t>
              </a:r>
              <a:r>
                <a:rPr lang="zh-CN" altLang="en-US" sz="2000" dirty="0">
                  <a:sym typeface="+mn-ea"/>
                </a:rPr>
                <a:t>（</a:t>
              </a:r>
              <a:r>
                <a:rPr lang="en-GB" altLang="zh-CN" sz="2000" i="1" dirty="0" smtClean="0">
                  <a:solidFill>
                    <a:prstClr val="black"/>
                  </a:solidFill>
                  <a:latin typeface="Century Gothic" charset="0"/>
                  <a:ea typeface="ＭＳ Ｐゴシック" charset="0"/>
                </a:rPr>
                <a:t> H</a:t>
              </a:r>
              <a:r>
                <a:rPr lang="en-GB" altLang="zh-CN" sz="2000" i="1" baseline="-25000" dirty="0" smtClean="0">
                  <a:solidFill>
                    <a:prstClr val="black"/>
                  </a:solidFill>
                  <a:latin typeface="Century Gothic" charset="0"/>
                  <a:ea typeface="ＭＳ Ｐゴシック" charset="0"/>
                </a:rPr>
                <a:t>98y2</a:t>
              </a:r>
              <a:r>
                <a:rPr lang="en-GB" altLang="zh-CN" sz="2000" i="1" dirty="0" smtClean="0">
                  <a:solidFill>
                    <a:prstClr val="black"/>
                  </a:solidFill>
                  <a:latin typeface="Century Gothic" charset="0"/>
                  <a:ea typeface="ＭＳ Ｐゴシック" charset="0"/>
                </a:rPr>
                <a:t>&gt;1</a:t>
              </a:r>
              <a:r>
                <a:rPr lang="zh-CN" altLang="en-US" sz="2000" i="1" dirty="0" smtClean="0">
                  <a:solidFill>
                    <a:prstClr val="black"/>
                  </a:solidFill>
                  <a:latin typeface="Century Gothic" charset="0"/>
                  <a:ea typeface="ＭＳ Ｐゴシック" charset="0"/>
                </a:rPr>
                <a:t>，</a:t>
              </a:r>
              <a:r>
                <a:rPr lang="en-GB" altLang="zh-CN" sz="2000" i="1" dirty="0" err="1">
                  <a:solidFill>
                    <a:prstClr val="black"/>
                  </a:solidFill>
                  <a:latin typeface="Century Gothic" charset="0"/>
                  <a:ea typeface="ＭＳ Ｐゴシック" charset="0"/>
                </a:rPr>
                <a:t>f</a:t>
              </a:r>
              <a:r>
                <a:rPr lang="en-GB" altLang="zh-CN" sz="2000" i="1" baseline="-25000" dirty="0" err="1">
                  <a:solidFill>
                    <a:prstClr val="black"/>
                  </a:solidFill>
                  <a:latin typeface="Century Gothic" charset="0"/>
                  <a:ea typeface="ＭＳ Ｐゴシック" charset="0"/>
                </a:rPr>
                <a:t>BS</a:t>
              </a:r>
              <a:r>
                <a:rPr lang="en-GB" altLang="zh-CN" sz="2000" i="1" dirty="0">
                  <a:solidFill>
                    <a:prstClr val="black"/>
                  </a:solidFill>
                  <a:latin typeface="Century Gothic" charset="0"/>
                  <a:ea typeface="ＭＳ Ｐゴシック" charset="0"/>
                </a:rPr>
                <a:t>&gt;50</a:t>
              </a:r>
              <a:r>
                <a:rPr lang="en-GB" altLang="zh-CN" sz="2000" i="1" dirty="0" smtClean="0">
                  <a:solidFill>
                    <a:prstClr val="black"/>
                  </a:solidFill>
                  <a:latin typeface="Century Gothic" charset="0"/>
                  <a:ea typeface="ＭＳ Ｐゴシック" charset="0"/>
                </a:rPr>
                <a:t>%</a:t>
              </a:r>
              <a:r>
                <a:rPr lang="zh-CN" altLang="en-US" sz="2000" i="1" dirty="0">
                  <a:solidFill>
                    <a:prstClr val="black"/>
                  </a:solidFill>
                  <a:latin typeface="Century Gothic" charset="0"/>
                  <a:ea typeface="ＭＳ Ｐゴシック" charset="0"/>
                </a:rPr>
                <a:t> </a:t>
              </a:r>
              <a:r>
                <a:rPr lang="zh-CN" altLang="en-US" sz="2000" dirty="0" smtClean="0">
                  <a:solidFill>
                    <a:prstClr val="black"/>
                  </a:solidFill>
                  <a:latin typeface="Century Gothic" charset="0"/>
                  <a:ea typeface="ＭＳ Ｐゴシック" charset="0"/>
                </a:rPr>
                <a:t>）</a:t>
              </a:r>
              <a:endParaRPr lang="zh-CN" altLang="en-US" sz="2000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91164" y="1781277"/>
            <a:ext cx="11646955" cy="4964650"/>
            <a:chOff x="1700933" y="1830855"/>
            <a:chExt cx="10015119" cy="4574832"/>
          </a:xfrm>
        </p:grpSpPr>
        <p:grpSp>
          <p:nvGrpSpPr>
            <p:cNvPr id="21" name="组合 20"/>
            <p:cNvGrpSpPr/>
            <p:nvPr/>
          </p:nvGrpSpPr>
          <p:grpSpPr>
            <a:xfrm>
              <a:off x="3872798" y="2214207"/>
              <a:ext cx="4701183" cy="3510817"/>
              <a:chOff x="3787738" y="2150412"/>
              <a:chExt cx="4701183" cy="3510817"/>
            </a:xfrm>
          </p:grpSpPr>
          <p:grpSp>
            <p:nvGrpSpPr>
              <p:cNvPr id="28" name="Group 8">
                <a:extLst>
                  <a:ext uri="{FF2B5EF4-FFF2-40B4-BE49-F238E27FC236}">
                    <a16:creationId xmlns:a16="http://schemas.microsoft.com/office/drawing/2014/main" id="{0E8B12A9-2297-461D-9128-BE6DD60489E9}"/>
                  </a:ext>
                </a:extLst>
              </p:cNvPr>
              <p:cNvGrpSpPr/>
              <p:nvPr/>
            </p:nvGrpSpPr>
            <p:grpSpPr bwMode="auto">
              <a:xfrm>
                <a:off x="3787738" y="2150412"/>
                <a:ext cx="4701183" cy="3510817"/>
                <a:chOff x="2392363" y="1968501"/>
                <a:chExt cx="4701183" cy="3511549"/>
              </a:xfrm>
            </p:grpSpPr>
            <p:sp>
              <p:nvSpPr>
                <p:cNvPr id="39" name="Freeform 18">
                  <a:extLst>
                    <a:ext uri="{FF2B5EF4-FFF2-40B4-BE49-F238E27FC236}">
                      <a16:creationId xmlns:a16="http://schemas.microsoft.com/office/drawing/2014/main" id="{F3A36598-74D1-4941-AA73-D70AE2962EDE}"/>
                    </a:ext>
                  </a:extLst>
                </p:cNvPr>
                <p:cNvSpPr/>
                <p:nvPr/>
              </p:nvSpPr>
              <p:spPr bwMode="auto">
                <a:xfrm>
                  <a:off x="3032125" y="1968501"/>
                  <a:ext cx="1690687" cy="2333625"/>
                </a:xfrm>
                <a:custGeom>
                  <a:avLst/>
                  <a:gdLst>
                    <a:gd name="T0" fmla="*/ 1278342149 w 259"/>
                    <a:gd name="T1" fmla="*/ 2147483646 h 357"/>
                    <a:gd name="T2" fmla="*/ 511338165 w 259"/>
                    <a:gd name="T3" fmla="*/ 2147483646 h 357"/>
                    <a:gd name="T4" fmla="*/ 0 w 259"/>
                    <a:gd name="T5" fmla="*/ 2147483646 h 357"/>
                    <a:gd name="T6" fmla="*/ 2147483646 w 259"/>
                    <a:gd name="T7" fmla="*/ 2147483646 h 357"/>
                    <a:gd name="T8" fmla="*/ 2147483646 w 259"/>
                    <a:gd name="T9" fmla="*/ 85461662 h 357"/>
                    <a:gd name="T10" fmla="*/ 2147483646 w 259"/>
                    <a:gd name="T11" fmla="*/ 769128809 h 357"/>
                    <a:gd name="T12" fmla="*/ 2147483646 w 259"/>
                    <a:gd name="T13" fmla="*/ 1666443574 h 357"/>
                    <a:gd name="T14" fmla="*/ 1619234259 w 259"/>
                    <a:gd name="T15" fmla="*/ 2147483646 h 357"/>
                    <a:gd name="T16" fmla="*/ 2045352661 w 259"/>
                    <a:gd name="T17" fmla="*/ 2147483646 h 357"/>
                    <a:gd name="T18" fmla="*/ 1534014495 w 259"/>
                    <a:gd name="T19" fmla="*/ 2147483646 h 357"/>
                    <a:gd name="T20" fmla="*/ 1278342149 w 259"/>
                    <a:gd name="T21" fmla="*/ 2147483646 h 35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59" h="357">
                      <a:moveTo>
                        <a:pt x="30" y="357"/>
                      </a:moveTo>
                      <a:cubicBezTo>
                        <a:pt x="22" y="357"/>
                        <a:pt x="14" y="352"/>
                        <a:pt x="12" y="343"/>
                      </a:cubicBezTo>
                      <a:cubicBezTo>
                        <a:pt x="4" y="318"/>
                        <a:pt x="0" y="292"/>
                        <a:pt x="0" y="266"/>
                      </a:cubicBezTo>
                      <a:cubicBezTo>
                        <a:pt x="0" y="200"/>
                        <a:pt x="25" y="137"/>
                        <a:pt x="69" y="88"/>
                      </a:cubicBezTo>
                      <a:cubicBezTo>
                        <a:pt x="112" y="39"/>
                        <a:pt x="172" y="9"/>
                        <a:pt x="237" y="2"/>
                      </a:cubicBezTo>
                      <a:cubicBezTo>
                        <a:pt x="247" y="0"/>
                        <a:pt x="257" y="8"/>
                        <a:pt x="258" y="18"/>
                      </a:cubicBezTo>
                      <a:cubicBezTo>
                        <a:pt x="259" y="29"/>
                        <a:pt x="252" y="38"/>
                        <a:pt x="241" y="39"/>
                      </a:cubicBezTo>
                      <a:cubicBezTo>
                        <a:pt x="126" y="52"/>
                        <a:pt x="38" y="149"/>
                        <a:pt x="38" y="266"/>
                      </a:cubicBezTo>
                      <a:cubicBezTo>
                        <a:pt x="38" y="288"/>
                        <a:pt x="42" y="311"/>
                        <a:pt x="48" y="332"/>
                      </a:cubicBezTo>
                      <a:cubicBezTo>
                        <a:pt x="51" y="342"/>
                        <a:pt x="46" y="353"/>
                        <a:pt x="36" y="356"/>
                      </a:cubicBezTo>
                      <a:cubicBezTo>
                        <a:pt x="34" y="357"/>
                        <a:pt x="32" y="357"/>
                        <a:pt x="30" y="35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Freeform 19">
                  <a:extLst>
                    <a:ext uri="{FF2B5EF4-FFF2-40B4-BE49-F238E27FC236}">
                      <a16:creationId xmlns:a16="http://schemas.microsoft.com/office/drawing/2014/main" id="{7D1F3B17-209D-49C1-85ED-46693F789D8B}"/>
                    </a:ext>
                  </a:extLst>
                </p:cNvPr>
                <p:cNvSpPr/>
                <p:nvPr/>
              </p:nvSpPr>
              <p:spPr bwMode="auto">
                <a:xfrm>
                  <a:off x="3254375" y="4413249"/>
                  <a:ext cx="2311400" cy="1033462"/>
                </a:xfrm>
                <a:custGeom>
                  <a:avLst/>
                  <a:gdLst>
                    <a:gd name="T0" fmla="*/ 2147483646 w 354"/>
                    <a:gd name="T1" fmla="*/ 2147483646 h 158"/>
                    <a:gd name="T2" fmla="*/ 2147483646 w 354"/>
                    <a:gd name="T3" fmla="*/ 2147483646 h 158"/>
                    <a:gd name="T4" fmla="*/ 255794933 w 354"/>
                    <a:gd name="T5" fmla="*/ 1326286238 h 158"/>
                    <a:gd name="T6" fmla="*/ 511596396 w 354"/>
                    <a:gd name="T7" fmla="*/ 213920300 h 158"/>
                    <a:gd name="T8" fmla="*/ 1620043284 w 354"/>
                    <a:gd name="T9" fmla="*/ 470618119 h 158"/>
                    <a:gd name="T10" fmla="*/ 2147483646 w 354"/>
                    <a:gd name="T11" fmla="*/ 2147483646 h 158"/>
                    <a:gd name="T12" fmla="*/ 2147483646 w 354"/>
                    <a:gd name="T13" fmla="*/ 2147483646 h 158"/>
                    <a:gd name="T14" fmla="*/ 2147483646 w 354"/>
                    <a:gd name="T15" fmla="*/ 2147483646 h 158"/>
                    <a:gd name="T16" fmla="*/ 2147483646 w 354"/>
                    <a:gd name="T17" fmla="*/ 2147483646 h 158"/>
                    <a:gd name="T18" fmla="*/ 2147483646 w 354"/>
                    <a:gd name="T19" fmla="*/ 2147483646 h 15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354" h="158">
                      <a:moveTo>
                        <a:pt x="232" y="158"/>
                      </a:moveTo>
                      <a:cubicBezTo>
                        <a:pt x="186" y="158"/>
                        <a:pt x="140" y="146"/>
                        <a:pt x="101" y="123"/>
                      </a:cubicBezTo>
                      <a:cubicBezTo>
                        <a:pt x="62" y="101"/>
                        <a:pt x="29" y="69"/>
                        <a:pt x="6" y="31"/>
                      </a:cubicBezTo>
                      <a:cubicBezTo>
                        <a:pt x="0" y="22"/>
                        <a:pt x="3" y="11"/>
                        <a:pt x="12" y="5"/>
                      </a:cubicBezTo>
                      <a:cubicBezTo>
                        <a:pt x="21" y="0"/>
                        <a:pt x="33" y="2"/>
                        <a:pt x="38" y="11"/>
                      </a:cubicBezTo>
                      <a:cubicBezTo>
                        <a:pt x="80" y="79"/>
                        <a:pt x="152" y="119"/>
                        <a:pt x="232" y="119"/>
                      </a:cubicBezTo>
                      <a:cubicBezTo>
                        <a:pt x="264" y="119"/>
                        <a:pt x="295" y="113"/>
                        <a:pt x="324" y="100"/>
                      </a:cubicBezTo>
                      <a:cubicBezTo>
                        <a:pt x="334" y="96"/>
                        <a:pt x="345" y="100"/>
                        <a:pt x="350" y="110"/>
                      </a:cubicBezTo>
                      <a:cubicBezTo>
                        <a:pt x="354" y="119"/>
                        <a:pt x="350" y="130"/>
                        <a:pt x="340" y="135"/>
                      </a:cubicBezTo>
                      <a:cubicBezTo>
                        <a:pt x="306" y="150"/>
                        <a:pt x="270" y="158"/>
                        <a:pt x="232" y="15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" name="Freeform 20">
                  <a:extLst>
                    <a:ext uri="{FF2B5EF4-FFF2-40B4-BE49-F238E27FC236}">
                      <a16:creationId xmlns:a16="http://schemas.microsoft.com/office/drawing/2014/main" id="{44995A9B-8455-4552-8D7E-FD33E9918D02}"/>
                    </a:ext>
                  </a:extLst>
                </p:cNvPr>
                <p:cNvSpPr/>
                <p:nvPr/>
              </p:nvSpPr>
              <p:spPr bwMode="auto">
                <a:xfrm>
                  <a:off x="5643563" y="3263435"/>
                  <a:ext cx="862012" cy="1824419"/>
                </a:xfrm>
                <a:custGeom>
                  <a:avLst/>
                  <a:gdLst>
                    <a:gd name="T0" fmla="*/ 21 w 132"/>
                    <a:gd name="T1" fmla="*/ 279 h 279"/>
                    <a:gd name="T2" fmla="*/ 7 w 132"/>
                    <a:gd name="T3" fmla="*/ 272 h 279"/>
                    <a:gd name="T4" fmla="*/ 9 w 132"/>
                    <a:gd name="T5" fmla="*/ 245 h 279"/>
                    <a:gd name="T6" fmla="*/ 94 w 132"/>
                    <a:gd name="T7" fmla="*/ 68 h 279"/>
                    <a:gd name="T8" fmla="*/ 89 w 132"/>
                    <a:gd name="T9" fmla="*/ 24 h 279"/>
                    <a:gd name="T10" fmla="*/ 105 w 132"/>
                    <a:gd name="T11" fmla="*/ 2 h 279"/>
                    <a:gd name="T12" fmla="*/ 127 w 132"/>
                    <a:gd name="T13" fmla="*/ 17 h 279"/>
                    <a:gd name="T14" fmla="*/ 132 w 132"/>
                    <a:gd name="T15" fmla="*/ 68 h 279"/>
                    <a:gd name="T16" fmla="*/ 33 w 132"/>
                    <a:gd name="T17" fmla="*/ 274 h 279"/>
                    <a:gd name="T18" fmla="*/ 21 w 132"/>
                    <a:gd name="T19" fmla="*/ 279 h 2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32" h="279">
                      <a:moveTo>
                        <a:pt x="21" y="279"/>
                      </a:moveTo>
                      <a:cubicBezTo>
                        <a:pt x="16" y="279"/>
                        <a:pt x="10" y="276"/>
                        <a:pt x="7" y="272"/>
                      </a:cubicBezTo>
                      <a:cubicBezTo>
                        <a:pt x="0" y="263"/>
                        <a:pt x="1" y="251"/>
                        <a:pt x="9" y="245"/>
                      </a:cubicBezTo>
                      <a:cubicBezTo>
                        <a:pt x="63" y="201"/>
                        <a:pt x="94" y="137"/>
                        <a:pt x="94" y="68"/>
                      </a:cubicBezTo>
                      <a:cubicBezTo>
                        <a:pt x="94" y="53"/>
                        <a:pt x="92" y="38"/>
                        <a:pt x="89" y="24"/>
                      </a:cubicBezTo>
                      <a:cubicBezTo>
                        <a:pt x="87" y="14"/>
                        <a:pt x="94" y="4"/>
                        <a:pt x="105" y="2"/>
                      </a:cubicBezTo>
                      <a:cubicBezTo>
                        <a:pt x="115" y="0"/>
                        <a:pt x="125" y="6"/>
                        <a:pt x="127" y="17"/>
                      </a:cubicBezTo>
                      <a:cubicBezTo>
                        <a:pt x="130" y="33"/>
                        <a:pt x="132" y="51"/>
                        <a:pt x="132" y="68"/>
                      </a:cubicBezTo>
                      <a:cubicBezTo>
                        <a:pt x="132" y="148"/>
                        <a:pt x="96" y="224"/>
                        <a:pt x="33" y="274"/>
                      </a:cubicBezTo>
                      <a:cubicBezTo>
                        <a:pt x="30" y="277"/>
                        <a:pt x="26" y="279"/>
                        <a:pt x="21" y="27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2" name="Freeform 21">
                  <a:extLst>
                    <a:ext uri="{FF2B5EF4-FFF2-40B4-BE49-F238E27FC236}">
                      <a16:creationId xmlns:a16="http://schemas.microsoft.com/office/drawing/2014/main" id="{4864F963-4684-4A23-A4D5-3A259901C4D2}"/>
                    </a:ext>
                  </a:extLst>
                </p:cNvPr>
                <p:cNvSpPr/>
                <p:nvPr/>
              </p:nvSpPr>
              <p:spPr bwMode="auto">
                <a:xfrm>
                  <a:off x="4821238" y="1974850"/>
                  <a:ext cx="1554162" cy="1177925"/>
                </a:xfrm>
                <a:custGeom>
                  <a:avLst/>
                  <a:gdLst>
                    <a:gd name="T0" fmla="*/ 2147483646 w 238"/>
                    <a:gd name="T1" fmla="*/ 2147483646 h 180"/>
                    <a:gd name="T2" fmla="*/ 2147483646 w 238"/>
                    <a:gd name="T3" fmla="*/ 2147483646 h 180"/>
                    <a:gd name="T4" fmla="*/ 767560125 w 238"/>
                    <a:gd name="T5" fmla="*/ 1670147137 h 180"/>
                    <a:gd name="T6" fmla="*/ 42641504 w 238"/>
                    <a:gd name="T7" fmla="*/ 728010002 h 180"/>
                    <a:gd name="T8" fmla="*/ 938126140 w 238"/>
                    <a:gd name="T9" fmla="*/ 42824118 h 180"/>
                    <a:gd name="T10" fmla="*/ 2147483646 w 238"/>
                    <a:gd name="T11" fmla="*/ 2141212433 h 180"/>
                    <a:gd name="T12" fmla="*/ 2147483646 w 238"/>
                    <a:gd name="T13" fmla="*/ 2147483646 h 180"/>
                    <a:gd name="T14" fmla="*/ 2147483646 w 238"/>
                    <a:gd name="T15" fmla="*/ 2147483646 h 180"/>
                    <a:gd name="T16" fmla="*/ 2147483646 w 238"/>
                    <a:gd name="T17" fmla="*/ 2147483646 h 18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38" h="180">
                      <a:moveTo>
                        <a:pt x="216" y="180"/>
                      </a:moveTo>
                      <a:cubicBezTo>
                        <a:pt x="209" y="180"/>
                        <a:pt x="202" y="176"/>
                        <a:pt x="199" y="169"/>
                      </a:cubicBezTo>
                      <a:cubicBezTo>
                        <a:pt x="165" y="97"/>
                        <a:pt x="96" y="47"/>
                        <a:pt x="18" y="39"/>
                      </a:cubicBezTo>
                      <a:cubicBezTo>
                        <a:pt x="8" y="37"/>
                        <a:pt x="0" y="28"/>
                        <a:pt x="1" y="17"/>
                      </a:cubicBezTo>
                      <a:cubicBezTo>
                        <a:pt x="3" y="7"/>
                        <a:pt x="12" y="0"/>
                        <a:pt x="22" y="1"/>
                      </a:cubicBezTo>
                      <a:cubicBezTo>
                        <a:pt x="68" y="6"/>
                        <a:pt x="112" y="23"/>
                        <a:pt x="149" y="50"/>
                      </a:cubicBezTo>
                      <a:cubicBezTo>
                        <a:pt x="185" y="77"/>
                        <a:pt x="214" y="112"/>
                        <a:pt x="233" y="153"/>
                      </a:cubicBezTo>
                      <a:cubicBezTo>
                        <a:pt x="238" y="162"/>
                        <a:pt x="233" y="174"/>
                        <a:pt x="224" y="178"/>
                      </a:cubicBezTo>
                      <a:cubicBezTo>
                        <a:pt x="221" y="179"/>
                        <a:pt x="219" y="180"/>
                        <a:pt x="216" y="18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公众号：陈西设计之家。微信搜索即可">
                  <a:extLst>
                    <a:ext uri="{FF2B5EF4-FFF2-40B4-BE49-F238E27FC236}">
                      <a16:creationId xmlns:a16="http://schemas.microsoft.com/office/drawing/2014/main" id="{530C50BF-35C7-4B57-B326-966A17B470AA}"/>
                    </a:ext>
                  </a:extLst>
                </p:cNvPr>
                <p:cNvSpPr/>
                <p:nvPr/>
              </p:nvSpPr>
              <p:spPr bwMode="auto">
                <a:xfrm>
                  <a:off x="6350596" y="4618426"/>
                  <a:ext cx="742950" cy="352499"/>
                </a:xfrm>
                <a:custGeom>
                  <a:avLst/>
                  <a:gdLst>
                    <a:gd name="T0" fmla="*/ 102 w 114"/>
                    <a:gd name="T1" fmla="*/ 35 h 54"/>
                    <a:gd name="T2" fmla="*/ 92 w 114"/>
                    <a:gd name="T3" fmla="*/ 43 h 54"/>
                    <a:gd name="T4" fmla="*/ 41 w 114"/>
                    <a:gd name="T5" fmla="*/ 43 h 54"/>
                    <a:gd name="T6" fmla="*/ 20 w 114"/>
                    <a:gd name="T7" fmla="*/ 15 h 54"/>
                    <a:gd name="T8" fmla="*/ 12 w 114"/>
                    <a:gd name="T9" fmla="*/ 0 h 54"/>
                    <a:gd name="T10" fmla="*/ 12 w 114"/>
                    <a:gd name="T11" fmla="*/ 19 h 54"/>
                    <a:gd name="T12" fmla="*/ 16 w 114"/>
                    <a:gd name="T13" fmla="*/ 19 h 54"/>
                    <a:gd name="T14" fmla="*/ 38 w 114"/>
                    <a:gd name="T15" fmla="*/ 49 h 54"/>
                    <a:gd name="T16" fmla="*/ 93 w 114"/>
                    <a:gd name="T17" fmla="*/ 49 h 54"/>
                    <a:gd name="T18" fmla="*/ 102 w 114"/>
                    <a:gd name="T19" fmla="*/ 54 h 54"/>
                    <a:gd name="T20" fmla="*/ 102 w 114"/>
                    <a:gd name="T21" fmla="*/ 35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4" h="54">
                      <a:moveTo>
                        <a:pt x="102" y="35"/>
                      </a:moveTo>
                      <a:cubicBezTo>
                        <a:pt x="96" y="35"/>
                        <a:pt x="93" y="38"/>
                        <a:pt x="92" y="43"/>
                      </a:cubicBezTo>
                      <a:cubicBezTo>
                        <a:pt x="41" y="43"/>
                        <a:pt x="41" y="43"/>
                        <a:pt x="41" y="43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4" y="9"/>
                        <a:pt x="21" y="0"/>
                        <a:pt x="12" y="0"/>
                      </a:cubicBezTo>
                      <a:cubicBezTo>
                        <a:pt x="0" y="0"/>
                        <a:pt x="0" y="19"/>
                        <a:pt x="12" y="19"/>
                      </a:cubicBezTo>
                      <a:cubicBezTo>
                        <a:pt x="14" y="19"/>
                        <a:pt x="15" y="19"/>
                        <a:pt x="16" y="19"/>
                      </a:cubicBezTo>
                      <a:cubicBezTo>
                        <a:pt x="38" y="49"/>
                        <a:pt x="38" y="49"/>
                        <a:pt x="38" y="49"/>
                      </a:cubicBezTo>
                      <a:cubicBezTo>
                        <a:pt x="93" y="49"/>
                        <a:pt x="93" y="49"/>
                        <a:pt x="93" y="49"/>
                      </a:cubicBezTo>
                      <a:cubicBezTo>
                        <a:pt x="94" y="52"/>
                        <a:pt x="97" y="54"/>
                        <a:pt x="102" y="54"/>
                      </a:cubicBezTo>
                      <a:cubicBezTo>
                        <a:pt x="114" y="54"/>
                        <a:pt x="114" y="35"/>
                        <a:pt x="102" y="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4" name="Freeform 23">
                  <a:extLst>
                    <a:ext uri="{FF2B5EF4-FFF2-40B4-BE49-F238E27FC236}">
                      <a16:creationId xmlns:a16="http://schemas.microsoft.com/office/drawing/2014/main" id="{D52D4934-7284-4696-9D84-91D803CA0BF1}"/>
                    </a:ext>
                  </a:extLst>
                </p:cNvPr>
                <p:cNvSpPr/>
                <p:nvPr/>
              </p:nvSpPr>
              <p:spPr bwMode="auto">
                <a:xfrm>
                  <a:off x="2392363" y="2217738"/>
                  <a:ext cx="985837" cy="398463"/>
                </a:xfrm>
                <a:custGeom>
                  <a:avLst/>
                  <a:gdLst>
                    <a:gd name="T0" fmla="*/ 2147483646 w 151"/>
                    <a:gd name="T1" fmla="*/ 1749442003 h 61"/>
                    <a:gd name="T2" fmla="*/ 2147483646 w 151"/>
                    <a:gd name="T3" fmla="*/ 1792116737 h 61"/>
                    <a:gd name="T4" fmla="*/ 2147483646 w 151"/>
                    <a:gd name="T5" fmla="*/ 298683945 h 61"/>
                    <a:gd name="T6" fmla="*/ 895107352 w 151"/>
                    <a:gd name="T7" fmla="*/ 298683945 h 61"/>
                    <a:gd name="T8" fmla="*/ 511492714 w 151"/>
                    <a:gd name="T9" fmla="*/ 0 h 61"/>
                    <a:gd name="T10" fmla="*/ 511492714 w 151"/>
                    <a:gd name="T11" fmla="*/ 810715433 h 61"/>
                    <a:gd name="T12" fmla="*/ 895107352 w 151"/>
                    <a:gd name="T13" fmla="*/ 554699689 h 61"/>
                    <a:gd name="T14" fmla="*/ 2147483646 w 151"/>
                    <a:gd name="T15" fmla="*/ 554699689 h 61"/>
                    <a:gd name="T16" fmla="*/ 2147483646 w 151"/>
                    <a:gd name="T17" fmla="*/ 1962789545 h 61"/>
                    <a:gd name="T18" fmla="*/ 2147483646 w 151"/>
                    <a:gd name="T19" fmla="*/ 2147483646 h 61"/>
                    <a:gd name="T20" fmla="*/ 2147483646 w 151"/>
                    <a:gd name="T21" fmla="*/ 1749442003 h 6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51" h="61">
                      <a:moveTo>
                        <a:pt x="138" y="41"/>
                      </a:moveTo>
                      <a:cubicBezTo>
                        <a:pt x="137" y="41"/>
                        <a:pt x="135" y="42"/>
                        <a:pt x="134" y="42"/>
                      </a:cubicBezTo>
                      <a:cubicBezTo>
                        <a:pt x="100" y="7"/>
                        <a:pt x="100" y="7"/>
                        <a:pt x="100" y="7"/>
                      </a:cubicBezTo>
                      <a:cubicBezTo>
                        <a:pt x="21" y="7"/>
                        <a:pt x="21" y="7"/>
                        <a:pt x="21" y="7"/>
                      </a:cubicBezTo>
                      <a:cubicBezTo>
                        <a:pt x="20" y="3"/>
                        <a:pt x="17" y="0"/>
                        <a:pt x="12" y="0"/>
                      </a:cubicBezTo>
                      <a:cubicBezTo>
                        <a:pt x="0" y="0"/>
                        <a:pt x="0" y="19"/>
                        <a:pt x="12" y="19"/>
                      </a:cubicBezTo>
                      <a:cubicBezTo>
                        <a:pt x="17" y="19"/>
                        <a:pt x="20" y="16"/>
                        <a:pt x="21" y="13"/>
                      </a:cubicBezTo>
                      <a:cubicBezTo>
                        <a:pt x="97" y="13"/>
                        <a:pt x="97" y="13"/>
                        <a:pt x="97" y="13"/>
                      </a:cubicBezTo>
                      <a:cubicBezTo>
                        <a:pt x="130" y="46"/>
                        <a:pt x="130" y="46"/>
                        <a:pt x="130" y="46"/>
                      </a:cubicBezTo>
                      <a:cubicBezTo>
                        <a:pt x="127" y="52"/>
                        <a:pt x="130" y="61"/>
                        <a:pt x="138" y="61"/>
                      </a:cubicBezTo>
                      <a:cubicBezTo>
                        <a:pt x="151" y="61"/>
                        <a:pt x="151" y="41"/>
                        <a:pt x="138" y="4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" name="Freeform 24">
                  <a:extLst>
                    <a:ext uri="{FF2B5EF4-FFF2-40B4-BE49-F238E27FC236}">
                      <a16:creationId xmlns:a16="http://schemas.microsoft.com/office/drawing/2014/main" id="{924FA011-7C35-4D03-A2CD-EB147244D951}"/>
                    </a:ext>
                  </a:extLst>
                </p:cNvPr>
                <p:cNvSpPr/>
                <p:nvPr/>
              </p:nvSpPr>
              <p:spPr bwMode="auto">
                <a:xfrm>
                  <a:off x="2849563" y="5140325"/>
                  <a:ext cx="849312" cy="339725"/>
                </a:xfrm>
                <a:custGeom>
                  <a:avLst/>
                  <a:gdLst>
                    <a:gd name="T0" fmla="*/ 2147483646 w 130"/>
                    <a:gd name="T1" fmla="*/ 0 h 52"/>
                    <a:gd name="T2" fmla="*/ 2147483646 w 130"/>
                    <a:gd name="T3" fmla="*/ 554868923 h 52"/>
                    <a:gd name="T4" fmla="*/ 2147483646 w 130"/>
                    <a:gd name="T5" fmla="*/ 1664613301 h 52"/>
                    <a:gd name="T6" fmla="*/ 896331219 w 130"/>
                    <a:gd name="T7" fmla="*/ 1664613301 h 52"/>
                    <a:gd name="T8" fmla="*/ 512187401 w 130"/>
                    <a:gd name="T9" fmla="*/ 1365838230 h 52"/>
                    <a:gd name="T10" fmla="*/ 512187401 w 130"/>
                    <a:gd name="T11" fmla="*/ 2147483646 h 52"/>
                    <a:gd name="T12" fmla="*/ 896331219 w 130"/>
                    <a:gd name="T13" fmla="*/ 1920707152 h 52"/>
                    <a:gd name="T14" fmla="*/ 2147483646 w 130"/>
                    <a:gd name="T15" fmla="*/ 1920707152 h 52"/>
                    <a:gd name="T16" fmla="*/ 2147483646 w 130"/>
                    <a:gd name="T17" fmla="*/ 768281554 h 52"/>
                    <a:gd name="T18" fmla="*/ 2147483646 w 130"/>
                    <a:gd name="T19" fmla="*/ 853643994 h 52"/>
                    <a:gd name="T20" fmla="*/ 2147483646 w 130"/>
                    <a:gd name="T21" fmla="*/ 0 h 5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30" h="52">
                      <a:moveTo>
                        <a:pt x="118" y="0"/>
                      </a:moveTo>
                      <a:cubicBezTo>
                        <a:pt x="110" y="0"/>
                        <a:pt x="107" y="8"/>
                        <a:pt x="109" y="13"/>
                      </a:cubicBezTo>
                      <a:cubicBezTo>
                        <a:pt x="77" y="39"/>
                        <a:pt x="77" y="39"/>
                        <a:pt x="77" y="39"/>
                      </a:cubicBezTo>
                      <a:cubicBezTo>
                        <a:pt x="21" y="39"/>
                        <a:pt x="21" y="39"/>
                        <a:pt x="21" y="39"/>
                      </a:cubicBezTo>
                      <a:cubicBezTo>
                        <a:pt x="20" y="36"/>
                        <a:pt x="17" y="32"/>
                        <a:pt x="12" y="32"/>
                      </a:cubicBezTo>
                      <a:cubicBezTo>
                        <a:pt x="0" y="32"/>
                        <a:pt x="0" y="52"/>
                        <a:pt x="12" y="52"/>
                      </a:cubicBezTo>
                      <a:cubicBezTo>
                        <a:pt x="17" y="52"/>
                        <a:pt x="20" y="49"/>
                        <a:pt x="21" y="45"/>
                      </a:cubicBezTo>
                      <a:cubicBezTo>
                        <a:pt x="79" y="45"/>
                        <a:pt x="79" y="45"/>
                        <a:pt x="79" y="45"/>
                      </a:cubicBezTo>
                      <a:cubicBezTo>
                        <a:pt x="112" y="18"/>
                        <a:pt x="112" y="18"/>
                        <a:pt x="112" y="18"/>
                      </a:cubicBezTo>
                      <a:cubicBezTo>
                        <a:pt x="114" y="19"/>
                        <a:pt x="115" y="20"/>
                        <a:pt x="118" y="20"/>
                      </a:cubicBezTo>
                      <a:cubicBezTo>
                        <a:pt x="130" y="20"/>
                        <a:pt x="130" y="0"/>
                        <a:pt x="118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" name="Freeform 25">
                  <a:extLst>
                    <a:ext uri="{FF2B5EF4-FFF2-40B4-BE49-F238E27FC236}">
                      <a16:creationId xmlns:a16="http://schemas.microsoft.com/office/drawing/2014/main" id="{91A6E523-CB63-479D-AFF7-9EF4CFF4C56A}"/>
                    </a:ext>
                  </a:extLst>
                </p:cNvPr>
                <p:cNvSpPr/>
                <p:nvPr/>
              </p:nvSpPr>
              <p:spPr bwMode="auto">
                <a:xfrm>
                  <a:off x="6078537" y="2073069"/>
                  <a:ext cx="854075" cy="339725"/>
                </a:xfrm>
                <a:custGeom>
                  <a:avLst/>
                  <a:gdLst>
                    <a:gd name="T0" fmla="*/ 2147483646 w 131"/>
                    <a:gd name="T1" fmla="*/ 0 h 52"/>
                    <a:gd name="T2" fmla="*/ 2147483646 w 131"/>
                    <a:gd name="T3" fmla="*/ 554868923 h 52"/>
                    <a:gd name="T4" fmla="*/ 2147483646 w 131"/>
                    <a:gd name="T5" fmla="*/ 1664613301 h 52"/>
                    <a:gd name="T6" fmla="*/ 935127369 w 131"/>
                    <a:gd name="T7" fmla="*/ 1664613301 h 52"/>
                    <a:gd name="T8" fmla="*/ 552580005 w 131"/>
                    <a:gd name="T9" fmla="*/ 1365838230 h 52"/>
                    <a:gd name="T10" fmla="*/ 552580005 w 131"/>
                    <a:gd name="T11" fmla="*/ 2147483646 h 52"/>
                    <a:gd name="T12" fmla="*/ 935127369 w 131"/>
                    <a:gd name="T13" fmla="*/ 1920707152 h 52"/>
                    <a:gd name="T14" fmla="*/ 2147483646 w 131"/>
                    <a:gd name="T15" fmla="*/ 1920707152 h 52"/>
                    <a:gd name="T16" fmla="*/ 2147483646 w 131"/>
                    <a:gd name="T17" fmla="*/ 768281554 h 52"/>
                    <a:gd name="T18" fmla="*/ 2147483646 w 131"/>
                    <a:gd name="T19" fmla="*/ 853643994 h 52"/>
                    <a:gd name="T20" fmla="*/ 2147483646 w 131"/>
                    <a:gd name="T21" fmla="*/ 0 h 5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31" h="52">
                      <a:moveTo>
                        <a:pt x="118" y="0"/>
                      </a:moveTo>
                      <a:cubicBezTo>
                        <a:pt x="111" y="0"/>
                        <a:pt x="108" y="8"/>
                        <a:pt x="109" y="13"/>
                      </a:cubicBezTo>
                      <a:cubicBezTo>
                        <a:pt x="78" y="39"/>
                        <a:pt x="78" y="39"/>
                        <a:pt x="78" y="39"/>
                      </a:cubicBezTo>
                      <a:cubicBezTo>
                        <a:pt x="22" y="39"/>
                        <a:pt x="22" y="39"/>
                        <a:pt x="22" y="39"/>
                      </a:cubicBezTo>
                      <a:cubicBezTo>
                        <a:pt x="21" y="36"/>
                        <a:pt x="18" y="32"/>
                        <a:pt x="13" y="32"/>
                      </a:cubicBezTo>
                      <a:cubicBezTo>
                        <a:pt x="0" y="32"/>
                        <a:pt x="0" y="52"/>
                        <a:pt x="13" y="52"/>
                      </a:cubicBezTo>
                      <a:cubicBezTo>
                        <a:pt x="18" y="52"/>
                        <a:pt x="21" y="49"/>
                        <a:pt x="22" y="45"/>
                      </a:cubicBezTo>
                      <a:cubicBezTo>
                        <a:pt x="80" y="45"/>
                        <a:pt x="80" y="45"/>
                        <a:pt x="80" y="45"/>
                      </a:cubicBezTo>
                      <a:cubicBezTo>
                        <a:pt x="113" y="18"/>
                        <a:pt x="113" y="18"/>
                        <a:pt x="113" y="18"/>
                      </a:cubicBezTo>
                      <a:cubicBezTo>
                        <a:pt x="114" y="19"/>
                        <a:pt x="116" y="20"/>
                        <a:pt x="118" y="20"/>
                      </a:cubicBezTo>
                      <a:cubicBezTo>
                        <a:pt x="131" y="20"/>
                        <a:pt x="131" y="0"/>
                        <a:pt x="11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9" name="文本框 28"/>
              <p:cNvSpPr txBox="1"/>
              <p:nvPr/>
            </p:nvSpPr>
            <p:spPr>
              <a:xfrm>
                <a:off x="4946641" y="3277078"/>
                <a:ext cx="2498669" cy="1215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2800" b="1" dirty="0" smtClean="0"/>
                  <a:t>快离子分布</a:t>
                </a:r>
                <a:endParaRPr lang="en-US" altLang="zh-CN" sz="2800" b="1" dirty="0" smtClean="0"/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2800" b="1" dirty="0"/>
                  <a:t>研究意义</a:t>
                </a:r>
              </a:p>
            </p:txBody>
          </p:sp>
        </p:grpSp>
        <p:sp>
          <p:nvSpPr>
            <p:cNvPr id="22" name="矩形 21"/>
            <p:cNvSpPr/>
            <p:nvPr/>
          </p:nvSpPr>
          <p:spPr>
            <a:xfrm>
              <a:off x="2281201" y="1937527"/>
              <a:ext cx="1856992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ü"/>
              </a:pPr>
              <a:r>
                <a:rPr lang="zh-CN" altLang="en-US" dirty="0"/>
                <a:t>决定加热效率和电流驱动性能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699876" y="1830855"/>
              <a:ext cx="255897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ü"/>
              </a:pPr>
              <a:r>
                <a:rPr lang="zh-CN" altLang="en-US" dirty="0" smtClean="0">
                  <a:sym typeface="Arial" panose="020B0604020202020204" pitchFamily="34" charset="0"/>
                </a:rPr>
                <a:t>驱动</a:t>
              </a:r>
              <a:r>
                <a:rPr lang="zh-CN" altLang="en-US" dirty="0">
                  <a:sym typeface="Arial" panose="020B0604020202020204" pitchFamily="34" charset="0"/>
                </a:rPr>
                <a:t>等离子体的不稳定性</a:t>
              </a:r>
              <a:r>
                <a:rPr lang="zh-CN" altLang="en-US" dirty="0" smtClean="0">
                  <a:sym typeface="Arial" panose="020B0604020202020204" pitchFamily="34" charset="0"/>
                </a:rPr>
                <a:t>，</a:t>
              </a:r>
              <a:r>
                <a:rPr lang="zh-CN" altLang="en-US" dirty="0">
                  <a:sym typeface="Arial" panose="020B0604020202020204" pitchFamily="34" charset="0"/>
                </a:rPr>
                <a:t>致使等离子体的约束性能</a:t>
              </a:r>
              <a:r>
                <a:rPr lang="zh-CN" altLang="en-US" dirty="0" smtClean="0">
                  <a:sym typeface="Arial" panose="020B0604020202020204" pitchFamily="34" charset="0"/>
                </a:rPr>
                <a:t>变差</a:t>
              </a:r>
              <a:endParaRPr lang="zh-CN" altLang="en-US" dirty="0">
                <a:sym typeface="Arial" panose="020B0604020202020204" pitchFamily="34" charset="0"/>
              </a:endParaRPr>
            </a:p>
          </p:txBody>
        </p:sp>
        <p:sp>
          <p:nvSpPr>
            <p:cNvPr id="24" name="下箭头 23"/>
            <p:cNvSpPr/>
            <p:nvPr/>
          </p:nvSpPr>
          <p:spPr>
            <a:xfrm rot="20141366">
              <a:off x="7684604" y="3366954"/>
              <a:ext cx="222670" cy="147728"/>
            </a:xfrm>
            <a:prstGeom prst="downArrow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下箭头 24"/>
            <p:cNvSpPr/>
            <p:nvPr/>
          </p:nvSpPr>
          <p:spPr>
            <a:xfrm rot="3712427">
              <a:off x="6975959" y="5228877"/>
              <a:ext cx="229376" cy="166524"/>
            </a:xfrm>
            <a:prstGeom prst="downArrow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823686" y="4923703"/>
              <a:ext cx="28923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ü"/>
              </a:pPr>
              <a:r>
                <a:rPr lang="zh-CN" altLang="en-US" dirty="0" smtClean="0"/>
                <a:t>与不稳定性相互作用，导致快</a:t>
              </a:r>
              <a:r>
                <a:rPr lang="zh-CN" altLang="en-US" dirty="0"/>
                <a:t>离子</a:t>
              </a:r>
              <a:r>
                <a:rPr lang="zh-CN" altLang="en-US" dirty="0" smtClean="0"/>
                <a:t>重新分布与损失，进而损坏第一壁</a:t>
              </a:r>
              <a:endParaRPr lang="zh-CN" altLang="en-US" dirty="0"/>
            </a:p>
          </p:txBody>
        </p:sp>
        <p:sp>
          <p:nvSpPr>
            <p:cNvPr id="27" name="矩形 26"/>
            <p:cNvSpPr/>
            <p:nvPr/>
          </p:nvSpPr>
          <p:spPr>
            <a:xfrm>
              <a:off x="1700933" y="5299606"/>
              <a:ext cx="2664783" cy="11060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ü"/>
              </a:pPr>
              <a:r>
                <a:rPr lang="zh-CN" altLang="en-US" dirty="0">
                  <a:solidFill>
                    <a:srgbClr val="0432FF"/>
                  </a:solidFill>
                </a:rPr>
                <a:t>快离子</a:t>
              </a:r>
              <a:r>
                <a:rPr lang="zh-CN" altLang="en-US" dirty="0" smtClean="0">
                  <a:solidFill>
                    <a:srgbClr val="0432FF"/>
                  </a:solidFill>
                </a:rPr>
                <a:t>分布是理解输运机制的关键，降低不稳定性，</a:t>
              </a:r>
              <a:r>
                <a:rPr lang="zh-CN" altLang="en-US" dirty="0">
                  <a:solidFill>
                    <a:srgbClr val="0432FF"/>
                  </a:solidFill>
                </a:rPr>
                <a:t>实现控制</a:t>
              </a:r>
              <a:r>
                <a:rPr lang="zh-CN" altLang="en-US" dirty="0" smtClean="0">
                  <a:solidFill>
                    <a:srgbClr val="0432FF"/>
                  </a:solidFill>
                </a:rPr>
                <a:t>和提高约束的有效手段</a:t>
              </a:r>
              <a:endParaRPr lang="zh-CN" altLang="en-US" dirty="0">
                <a:solidFill>
                  <a:srgbClr val="0432FF"/>
                </a:solidFill>
              </a:endParaRPr>
            </a:p>
          </p:txBody>
        </p:sp>
      </p:grpSp>
      <p:sp>
        <p:nvSpPr>
          <p:cNvPr id="47" name="下箭头 46"/>
          <p:cNvSpPr/>
          <p:nvPr/>
        </p:nvSpPr>
        <p:spPr>
          <a:xfrm rot="8923823">
            <a:off x="3846549" y="4730299"/>
            <a:ext cx="222670" cy="160718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840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56626" y="159309"/>
            <a:ext cx="5016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报告纲要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73802" y="1184884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选题依据及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</a:p>
          <a:p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国内外研究现状和发展趋势</a:t>
            </a:r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思路及研究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研究方法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工作基础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工作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进度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安排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722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14628"/>
            <a:ext cx="121805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zh-CN" alt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快离子分布测量方法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F5EEFA4-32DB-4451-8062-DC0A93968105}"/>
              </a:ext>
            </a:extLst>
          </p:cNvPr>
          <p:cNvSpPr txBox="1"/>
          <p:nvPr/>
        </p:nvSpPr>
        <p:spPr>
          <a:xfrm>
            <a:off x="11421061" y="6304020"/>
            <a:ext cx="437708" cy="232562"/>
          </a:xfrm>
          <a:custGeom>
            <a:avLst/>
            <a:gdLst/>
            <a:ahLst/>
            <a:cxnLst/>
            <a:rect l="l" t="t" r="r" b="b"/>
            <a:pathLst>
              <a:path w="437708" h="232562">
                <a:moveTo>
                  <a:pt x="326040" y="124566"/>
                </a:moveTo>
                <a:cubicBezTo>
                  <a:pt x="328915" y="125040"/>
                  <a:pt x="331040" y="126775"/>
                  <a:pt x="332414" y="129769"/>
                </a:cubicBezTo>
                <a:lnTo>
                  <a:pt x="366747" y="212865"/>
                </a:lnTo>
                <a:cubicBezTo>
                  <a:pt x="367728" y="215338"/>
                  <a:pt x="367453" y="218134"/>
                  <a:pt x="365921" y="221254"/>
                </a:cubicBezTo>
                <a:cubicBezTo>
                  <a:pt x="364389" y="224373"/>
                  <a:pt x="362020" y="227025"/>
                  <a:pt x="358813" y="229210"/>
                </a:cubicBezTo>
                <a:cubicBezTo>
                  <a:pt x="356101" y="230632"/>
                  <a:pt x="353557" y="231343"/>
                  <a:pt x="351179" y="231343"/>
                </a:cubicBezTo>
                <a:cubicBezTo>
                  <a:pt x="346778" y="231343"/>
                  <a:pt x="344186" y="229695"/>
                  <a:pt x="343401" y="226400"/>
                </a:cubicBezTo>
                <a:lnTo>
                  <a:pt x="308792" y="142651"/>
                </a:lnTo>
                <a:cubicBezTo>
                  <a:pt x="307681" y="140349"/>
                  <a:pt x="307895" y="137605"/>
                  <a:pt x="309435" y="134419"/>
                </a:cubicBezTo>
                <a:cubicBezTo>
                  <a:pt x="310975" y="131233"/>
                  <a:pt x="313441" y="128683"/>
                  <a:pt x="316831" y="126768"/>
                </a:cubicBezTo>
                <a:cubicBezTo>
                  <a:pt x="320095" y="124825"/>
                  <a:pt x="323165" y="124091"/>
                  <a:pt x="326040" y="124566"/>
                </a:cubicBezTo>
                <a:close/>
                <a:moveTo>
                  <a:pt x="427888" y="1100"/>
                </a:moveTo>
                <a:cubicBezTo>
                  <a:pt x="431073" y="627"/>
                  <a:pt x="433719" y="1440"/>
                  <a:pt x="435827" y="3539"/>
                </a:cubicBezTo>
                <a:cubicBezTo>
                  <a:pt x="437545" y="5345"/>
                  <a:pt x="438086" y="7865"/>
                  <a:pt x="437451" y="11099"/>
                </a:cubicBezTo>
                <a:cubicBezTo>
                  <a:pt x="436816" y="14333"/>
                  <a:pt x="435322" y="17048"/>
                  <a:pt x="432970" y="19245"/>
                </a:cubicBezTo>
                <a:lnTo>
                  <a:pt x="340939" y="103375"/>
                </a:lnTo>
                <a:cubicBezTo>
                  <a:pt x="337466" y="106559"/>
                  <a:pt x="333822" y="108152"/>
                  <a:pt x="330009" y="108152"/>
                </a:cubicBezTo>
                <a:cubicBezTo>
                  <a:pt x="327593" y="108152"/>
                  <a:pt x="325590" y="107518"/>
                  <a:pt x="323999" y="106251"/>
                </a:cubicBezTo>
                <a:cubicBezTo>
                  <a:pt x="321916" y="103965"/>
                  <a:pt x="321211" y="101167"/>
                  <a:pt x="321882" y="97855"/>
                </a:cubicBezTo>
                <a:cubicBezTo>
                  <a:pt x="322554" y="94544"/>
                  <a:pt x="324256" y="91813"/>
                  <a:pt x="326990" y="89664"/>
                </a:cubicBezTo>
                <a:lnTo>
                  <a:pt x="417615" y="6953"/>
                </a:lnTo>
                <a:cubicBezTo>
                  <a:pt x="421279" y="3524"/>
                  <a:pt x="424704" y="1573"/>
                  <a:pt x="427888" y="1100"/>
                </a:cubicBezTo>
                <a:close/>
                <a:moveTo>
                  <a:pt x="276164" y="1079"/>
                </a:moveTo>
                <a:cubicBezTo>
                  <a:pt x="279181" y="1557"/>
                  <a:pt x="281114" y="2977"/>
                  <a:pt x="281965" y="5339"/>
                </a:cubicBezTo>
                <a:lnTo>
                  <a:pt x="323280" y="108009"/>
                </a:lnTo>
                <a:cubicBezTo>
                  <a:pt x="325093" y="113730"/>
                  <a:pt x="324253" y="117916"/>
                  <a:pt x="320760" y="120567"/>
                </a:cubicBezTo>
                <a:lnTo>
                  <a:pt x="206970" y="226505"/>
                </a:lnTo>
                <a:cubicBezTo>
                  <a:pt x="203738" y="229730"/>
                  <a:pt x="200179" y="231343"/>
                  <a:pt x="196293" y="231343"/>
                </a:cubicBezTo>
                <a:cubicBezTo>
                  <a:pt x="194118" y="231343"/>
                  <a:pt x="192000" y="230708"/>
                  <a:pt x="189939" y="229438"/>
                </a:cubicBezTo>
                <a:cubicBezTo>
                  <a:pt x="188104" y="227098"/>
                  <a:pt x="187472" y="224420"/>
                  <a:pt x="188042" y="221404"/>
                </a:cubicBezTo>
                <a:cubicBezTo>
                  <a:pt x="188611" y="218388"/>
                  <a:pt x="190155" y="215717"/>
                  <a:pt x="192673" y="213393"/>
                </a:cubicBezTo>
                <a:lnTo>
                  <a:pt x="298791" y="116253"/>
                </a:lnTo>
                <a:lnTo>
                  <a:pt x="258858" y="19288"/>
                </a:lnTo>
                <a:cubicBezTo>
                  <a:pt x="257876" y="16847"/>
                  <a:pt x="258146" y="14058"/>
                  <a:pt x="259665" y="10923"/>
                </a:cubicBezTo>
                <a:cubicBezTo>
                  <a:pt x="261184" y="7788"/>
                  <a:pt x="263418" y="5313"/>
                  <a:pt x="266368" y="3500"/>
                </a:cubicBezTo>
                <a:cubicBezTo>
                  <a:pt x="269883" y="1408"/>
                  <a:pt x="273148" y="601"/>
                  <a:pt x="276164" y="1079"/>
                </a:cubicBezTo>
                <a:close/>
                <a:moveTo>
                  <a:pt x="141433" y="0"/>
                </a:moveTo>
                <a:cubicBezTo>
                  <a:pt x="169030" y="0"/>
                  <a:pt x="188042" y="7917"/>
                  <a:pt x="198469" y="23751"/>
                </a:cubicBezTo>
                <a:cubicBezTo>
                  <a:pt x="202041" y="29475"/>
                  <a:pt x="204286" y="35540"/>
                  <a:pt x="205206" y="41946"/>
                </a:cubicBezTo>
                <a:cubicBezTo>
                  <a:pt x="206125" y="48351"/>
                  <a:pt x="206360" y="54325"/>
                  <a:pt x="205910" y="59867"/>
                </a:cubicBezTo>
                <a:cubicBezTo>
                  <a:pt x="205461" y="65409"/>
                  <a:pt x="204750" y="70069"/>
                  <a:pt x="203777" y="73847"/>
                </a:cubicBezTo>
                <a:cubicBezTo>
                  <a:pt x="202804" y="77626"/>
                  <a:pt x="202211" y="79850"/>
                  <a:pt x="201998" y="80520"/>
                </a:cubicBezTo>
                <a:lnTo>
                  <a:pt x="201898" y="80815"/>
                </a:lnTo>
                <a:cubicBezTo>
                  <a:pt x="200793" y="84066"/>
                  <a:pt x="198778" y="86782"/>
                  <a:pt x="195852" y="88964"/>
                </a:cubicBezTo>
                <a:cubicBezTo>
                  <a:pt x="192926" y="91145"/>
                  <a:pt x="189839" y="92235"/>
                  <a:pt x="186591" y="92235"/>
                </a:cubicBezTo>
                <a:cubicBezTo>
                  <a:pt x="183404" y="92235"/>
                  <a:pt x="180968" y="91163"/>
                  <a:pt x="179286" y="89018"/>
                </a:cubicBezTo>
                <a:cubicBezTo>
                  <a:pt x="177603" y="86874"/>
                  <a:pt x="177360" y="84041"/>
                  <a:pt x="178557" y="80520"/>
                </a:cubicBezTo>
                <a:cubicBezTo>
                  <a:pt x="178881" y="79577"/>
                  <a:pt x="179171" y="78508"/>
                  <a:pt x="179429" y="77314"/>
                </a:cubicBezTo>
                <a:cubicBezTo>
                  <a:pt x="179914" y="74724"/>
                  <a:pt x="180556" y="71041"/>
                  <a:pt x="181353" y="66265"/>
                </a:cubicBezTo>
                <a:cubicBezTo>
                  <a:pt x="182375" y="55470"/>
                  <a:pt x="180557" y="46684"/>
                  <a:pt x="175900" y="39905"/>
                </a:cubicBezTo>
                <a:cubicBezTo>
                  <a:pt x="168727" y="28745"/>
                  <a:pt x="154611" y="23165"/>
                  <a:pt x="133551" y="23165"/>
                </a:cubicBezTo>
                <a:cubicBezTo>
                  <a:pt x="118388" y="23165"/>
                  <a:pt x="105614" y="25807"/>
                  <a:pt x="95230" y="31092"/>
                </a:cubicBezTo>
                <a:cubicBezTo>
                  <a:pt x="84846" y="36377"/>
                  <a:pt x="75972" y="43402"/>
                  <a:pt x="68608" y="52168"/>
                </a:cubicBezTo>
                <a:cubicBezTo>
                  <a:pt x="61243" y="60935"/>
                  <a:pt x="55091" y="70872"/>
                  <a:pt x="50150" y="81979"/>
                </a:cubicBezTo>
                <a:cubicBezTo>
                  <a:pt x="45210" y="93087"/>
                  <a:pt x="40756" y="104470"/>
                  <a:pt x="36787" y="116129"/>
                </a:cubicBezTo>
                <a:cubicBezTo>
                  <a:pt x="34901" y="121669"/>
                  <a:pt x="33301" y="126492"/>
                  <a:pt x="31986" y="130597"/>
                </a:cubicBezTo>
                <a:cubicBezTo>
                  <a:pt x="30672" y="134703"/>
                  <a:pt x="29384" y="139479"/>
                  <a:pt x="28124" y="144925"/>
                </a:cubicBezTo>
                <a:cubicBezTo>
                  <a:pt x="26863" y="150372"/>
                  <a:pt x="25886" y="155858"/>
                  <a:pt x="25190" y="161382"/>
                </a:cubicBezTo>
                <a:cubicBezTo>
                  <a:pt x="24495" y="166907"/>
                  <a:pt x="24314" y="171685"/>
                  <a:pt x="24647" y="175717"/>
                </a:cubicBezTo>
                <a:cubicBezTo>
                  <a:pt x="26848" y="198171"/>
                  <a:pt x="42022" y="209398"/>
                  <a:pt x="70172" y="209398"/>
                </a:cubicBezTo>
                <a:cubicBezTo>
                  <a:pt x="97598" y="209398"/>
                  <a:pt x="119716" y="199731"/>
                  <a:pt x="136528" y="180399"/>
                </a:cubicBezTo>
                <a:cubicBezTo>
                  <a:pt x="139528" y="176941"/>
                  <a:pt x="142256" y="173338"/>
                  <a:pt x="144712" y="169590"/>
                </a:cubicBezTo>
                <a:cubicBezTo>
                  <a:pt x="147168" y="165842"/>
                  <a:pt x="149133" y="162531"/>
                  <a:pt x="150606" y="159658"/>
                </a:cubicBezTo>
                <a:cubicBezTo>
                  <a:pt x="152079" y="156785"/>
                  <a:pt x="153144" y="154519"/>
                  <a:pt x="153802" y="152860"/>
                </a:cubicBezTo>
                <a:cubicBezTo>
                  <a:pt x="154459" y="151201"/>
                  <a:pt x="154787" y="150371"/>
                  <a:pt x="154787" y="150371"/>
                </a:cubicBezTo>
                <a:cubicBezTo>
                  <a:pt x="155816" y="147345"/>
                  <a:pt x="157895" y="144765"/>
                  <a:pt x="161024" y="142630"/>
                </a:cubicBezTo>
                <a:cubicBezTo>
                  <a:pt x="164153" y="140495"/>
                  <a:pt x="167322" y="139427"/>
                  <a:pt x="170532" y="139427"/>
                </a:cubicBezTo>
                <a:cubicBezTo>
                  <a:pt x="173809" y="139427"/>
                  <a:pt x="176162" y="140511"/>
                  <a:pt x="177593" y="142680"/>
                </a:cubicBezTo>
                <a:cubicBezTo>
                  <a:pt x="179023" y="144848"/>
                  <a:pt x="179216" y="147469"/>
                  <a:pt x="178171" y="150543"/>
                </a:cubicBezTo>
                <a:cubicBezTo>
                  <a:pt x="178317" y="150111"/>
                  <a:pt x="177866" y="151262"/>
                  <a:pt x="176816" y="153995"/>
                </a:cubicBezTo>
                <a:cubicBezTo>
                  <a:pt x="175767" y="156729"/>
                  <a:pt x="174207" y="160050"/>
                  <a:pt x="172137" y="163959"/>
                </a:cubicBezTo>
                <a:cubicBezTo>
                  <a:pt x="170067" y="167867"/>
                  <a:pt x="167519" y="172191"/>
                  <a:pt x="164493" y="176932"/>
                </a:cubicBezTo>
                <a:cubicBezTo>
                  <a:pt x="161468" y="181672"/>
                  <a:pt x="157429" y="186904"/>
                  <a:pt x="152378" y="192629"/>
                </a:cubicBezTo>
                <a:cubicBezTo>
                  <a:pt x="148847" y="196728"/>
                  <a:pt x="144232" y="201132"/>
                  <a:pt x="138533" y="205840"/>
                </a:cubicBezTo>
                <a:cubicBezTo>
                  <a:pt x="132834" y="210549"/>
                  <a:pt x="126143" y="214949"/>
                  <a:pt x="118461" y="219042"/>
                </a:cubicBezTo>
                <a:cubicBezTo>
                  <a:pt x="110779" y="223134"/>
                  <a:pt x="102327" y="226411"/>
                  <a:pt x="93103" y="228872"/>
                </a:cubicBezTo>
                <a:cubicBezTo>
                  <a:pt x="83880" y="231332"/>
                  <a:pt x="73609" y="232562"/>
                  <a:pt x="62290" y="232562"/>
                </a:cubicBezTo>
                <a:cubicBezTo>
                  <a:pt x="41894" y="232562"/>
                  <a:pt x="26460" y="228136"/>
                  <a:pt x="15989" y="219285"/>
                </a:cubicBezTo>
                <a:cubicBezTo>
                  <a:pt x="7518" y="211360"/>
                  <a:pt x="2297" y="200323"/>
                  <a:pt x="325" y="186176"/>
                </a:cubicBezTo>
                <a:cubicBezTo>
                  <a:pt x="-208" y="179981"/>
                  <a:pt x="-85" y="173675"/>
                  <a:pt x="694" y="167257"/>
                </a:cubicBezTo>
                <a:cubicBezTo>
                  <a:pt x="1474" y="160838"/>
                  <a:pt x="2558" y="154576"/>
                  <a:pt x="3947" y="148471"/>
                </a:cubicBezTo>
                <a:cubicBezTo>
                  <a:pt x="5336" y="142365"/>
                  <a:pt x="6940" y="136496"/>
                  <a:pt x="8757" y="130862"/>
                </a:cubicBezTo>
                <a:cubicBezTo>
                  <a:pt x="10575" y="125228"/>
                  <a:pt x="12197" y="120317"/>
                  <a:pt x="13622" y="116129"/>
                </a:cubicBezTo>
                <a:cubicBezTo>
                  <a:pt x="15194" y="111512"/>
                  <a:pt x="16995" y="106367"/>
                  <a:pt x="19025" y="100691"/>
                </a:cubicBezTo>
                <a:cubicBezTo>
                  <a:pt x="21056" y="95016"/>
                  <a:pt x="23391" y="89171"/>
                  <a:pt x="26031" y="83158"/>
                </a:cubicBezTo>
                <a:cubicBezTo>
                  <a:pt x="28671" y="77145"/>
                  <a:pt x="31759" y="70994"/>
                  <a:pt x="35296" y="64706"/>
                </a:cubicBezTo>
                <a:cubicBezTo>
                  <a:pt x="38833" y="58418"/>
                  <a:pt x="43489" y="51606"/>
                  <a:pt x="49265" y="44272"/>
                </a:cubicBezTo>
                <a:cubicBezTo>
                  <a:pt x="53802" y="38465"/>
                  <a:pt x="59279" y="32851"/>
                  <a:pt x="65695" y="27430"/>
                </a:cubicBezTo>
                <a:cubicBezTo>
                  <a:pt x="72112" y="22008"/>
                  <a:pt x="78797" y="17299"/>
                  <a:pt x="85750" y="13302"/>
                </a:cubicBezTo>
                <a:cubicBezTo>
                  <a:pt x="102273" y="4434"/>
                  <a:pt x="120834" y="0"/>
                  <a:pt x="141433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b="1" i="1" dirty="0">
              <a:solidFill>
                <a:srgbClr val="265766">
                  <a:alpha val="75000"/>
                </a:srgbClr>
              </a:solidFill>
              <a:latin typeface="ONE DAY" pitchFamily="2" charset="0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107763" y="3999409"/>
            <a:ext cx="4174247" cy="2858983"/>
            <a:chOff x="4373014" y="1310528"/>
            <a:chExt cx="4174247" cy="2858983"/>
          </a:xfrm>
        </p:grpSpPr>
        <p:grpSp>
          <p:nvGrpSpPr>
            <p:cNvPr id="18" name="组合 17"/>
            <p:cNvGrpSpPr/>
            <p:nvPr/>
          </p:nvGrpSpPr>
          <p:grpSpPr>
            <a:xfrm>
              <a:off x="4373014" y="1693771"/>
              <a:ext cx="4174247" cy="2475740"/>
              <a:chOff x="6448924" y="2701263"/>
              <a:chExt cx="6073193" cy="3042797"/>
            </a:xfrm>
          </p:grpSpPr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48924" y="2701263"/>
                <a:ext cx="5526826" cy="2959246"/>
              </a:xfrm>
              <a:prstGeom prst="rect">
                <a:avLst/>
              </a:prstGeom>
            </p:spPr>
          </p:pic>
          <p:sp>
            <p:nvSpPr>
              <p:cNvPr id="17" name="矩形 16"/>
              <p:cNvSpPr/>
              <p:nvPr/>
            </p:nvSpPr>
            <p:spPr>
              <a:xfrm>
                <a:off x="7219909" y="5327962"/>
                <a:ext cx="5302208" cy="4160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【</a:t>
                </a:r>
                <a:r>
                  <a:rPr lang="zh-CN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 Hellesen et al 2013 NF 53 113009</a:t>
                </a:r>
                <a:r>
                  <a:rPr lang="en-US" altLang="zh-C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】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" name="组合 1"/>
            <p:cNvGrpSpPr/>
            <p:nvPr/>
          </p:nvGrpSpPr>
          <p:grpSpPr>
            <a:xfrm>
              <a:off x="4373014" y="1310528"/>
              <a:ext cx="3737580" cy="400110"/>
              <a:chOff x="501801" y="3354268"/>
              <a:chExt cx="3737580" cy="400110"/>
            </a:xfrm>
          </p:grpSpPr>
          <p:sp>
            <p:nvSpPr>
              <p:cNvPr id="51" name="TextBox 60">
                <a:extLst>
                  <a:ext uri="{FF2B5EF4-FFF2-40B4-BE49-F238E27FC236}">
                    <a16:creationId xmlns:a16="http://schemas.microsoft.com/office/drawing/2014/main" id="{F1AB61F4-3C7F-4ADA-A406-FB5834EF4996}"/>
                  </a:ext>
                </a:extLst>
              </p:cNvPr>
              <p:cNvSpPr txBox="1"/>
              <p:nvPr/>
            </p:nvSpPr>
            <p:spPr>
              <a:xfrm>
                <a:off x="501801" y="3369657"/>
                <a:ext cx="588624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342900" indent="-342900" algn="r"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u"/>
                  <a:defRPr/>
                </a:pPr>
                <a:r>
                  <a:rPr lang="en-US" altLang="zh-CN" dirty="0" smtClean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id-ID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669173" y="3354268"/>
                <a:ext cx="35702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>
                  <a:buClr>
                    <a:schemeClr val="accent1">
                      <a:lumMod val="75000"/>
                    </a:schemeClr>
                  </a:buClr>
                  <a:defRPr/>
                </a:pPr>
                <a:r>
                  <a:rPr lang="en-US" altLang="zh-CN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Neutron Emission </a:t>
                </a:r>
                <a:r>
                  <a:rPr lang="en-US" altLang="zh-CN" sz="2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Spectroscopy</a:t>
                </a:r>
                <a:endParaRPr lang="id-ID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9" name="组合 38"/>
          <p:cNvGrpSpPr/>
          <p:nvPr/>
        </p:nvGrpSpPr>
        <p:grpSpPr>
          <a:xfrm>
            <a:off x="3684109" y="3997931"/>
            <a:ext cx="4772469" cy="2869482"/>
            <a:chOff x="7971162" y="1309050"/>
            <a:chExt cx="4772469" cy="2869482"/>
          </a:xfrm>
        </p:grpSpPr>
        <p:grpSp>
          <p:nvGrpSpPr>
            <p:cNvPr id="14" name="组合 13"/>
            <p:cNvGrpSpPr/>
            <p:nvPr/>
          </p:nvGrpSpPr>
          <p:grpSpPr>
            <a:xfrm>
              <a:off x="8277966" y="1309050"/>
              <a:ext cx="3728292" cy="400110"/>
              <a:chOff x="3596164" y="4005657"/>
              <a:chExt cx="3728292" cy="400110"/>
            </a:xfrm>
          </p:grpSpPr>
          <p:sp>
            <p:nvSpPr>
              <p:cNvPr id="49" name="TextBox 60">
                <a:extLst>
                  <a:ext uri="{FF2B5EF4-FFF2-40B4-BE49-F238E27FC236}">
                    <a16:creationId xmlns:a16="http://schemas.microsoft.com/office/drawing/2014/main" id="{CE5CDB1E-4A30-4E1B-9A98-393E59678136}"/>
                  </a:ext>
                </a:extLst>
              </p:cNvPr>
              <p:cNvSpPr txBox="1"/>
              <p:nvPr/>
            </p:nvSpPr>
            <p:spPr>
              <a:xfrm>
                <a:off x="3596164" y="4017192"/>
                <a:ext cx="646331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342900" indent="-342900"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u"/>
                  <a:defRPr/>
                </a:pPr>
                <a:r>
                  <a:rPr lang="en-US" dirty="0" smtClean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id-ID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3959239" y="4005657"/>
                <a:ext cx="33652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buClr>
                    <a:schemeClr val="accent1">
                      <a:lumMod val="75000"/>
                    </a:schemeClr>
                  </a:buClr>
                  <a:defRPr/>
                </a:pPr>
                <a:r>
                  <a:rPr lang="en-US" altLang="zh-CN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Collective Thomson </a:t>
                </a:r>
                <a:r>
                  <a:rPr lang="en-US" altLang="zh-CN" sz="2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Scattering</a:t>
                </a:r>
                <a:endParaRPr lang="id-ID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7971162" y="1764919"/>
              <a:ext cx="4772469" cy="2413613"/>
              <a:chOff x="6647584" y="2402816"/>
              <a:chExt cx="5874016" cy="4212498"/>
            </a:xfrm>
          </p:grpSpPr>
          <p:pic>
            <p:nvPicPr>
              <p:cNvPr id="29" name="图片 28"/>
              <p:cNvPicPr>
                <a:picLocks noChangeAspect="1"/>
              </p:cNvPicPr>
              <p:nvPr/>
            </p:nvPicPr>
            <p:blipFill rotWithShape="1">
              <a:blip r:embed="rId4"/>
              <a:srcRect l="-172" t="2571" r="172" b="23801"/>
              <a:stretch/>
            </p:blipFill>
            <p:spPr>
              <a:xfrm>
                <a:off x="6647584" y="2402816"/>
                <a:ext cx="4927141" cy="3636570"/>
              </a:xfrm>
              <a:prstGeom prst="rect">
                <a:avLst/>
              </a:prstGeom>
            </p:spPr>
          </p:pic>
          <p:sp>
            <p:nvSpPr>
              <p:cNvPr id="25" name="矩形 24"/>
              <p:cNvSpPr/>
              <p:nvPr/>
            </p:nvSpPr>
            <p:spPr>
              <a:xfrm>
                <a:off x="7161869" y="6024433"/>
                <a:ext cx="5359731" cy="5908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【</a:t>
                </a:r>
                <a:r>
                  <a:rPr lang="zh-CN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Nielsen et al 2015 </a:t>
                </a:r>
                <a:r>
                  <a:rPr lang="en-US" altLang="zh-C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PPCF </a:t>
                </a:r>
                <a:r>
                  <a:rPr lang="zh-CN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57 035009</a:t>
                </a:r>
                <a:r>
                  <a:rPr lang="en-US" altLang="zh-C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】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0" y="828915"/>
            <a:ext cx="5895831" cy="3011238"/>
            <a:chOff x="-629448" y="547330"/>
            <a:chExt cx="5895831" cy="3236273"/>
          </a:xfrm>
        </p:grpSpPr>
        <p:sp>
          <p:nvSpPr>
            <p:cNvPr id="6" name="矩形 5"/>
            <p:cNvSpPr/>
            <p:nvPr/>
          </p:nvSpPr>
          <p:spPr>
            <a:xfrm>
              <a:off x="-629448" y="547330"/>
              <a:ext cx="1204176" cy="4300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b="1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keV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能段</a:t>
              </a:r>
              <a:endPara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565" y="835902"/>
              <a:ext cx="4385375" cy="419404"/>
              <a:chOff x="346295" y="1469027"/>
              <a:chExt cx="4385375" cy="419404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747887" y="1469027"/>
                <a:ext cx="398378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zh-CN" altLang="en-US" sz="2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ast</a:t>
                </a:r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-ion D-alpha </a:t>
                </a:r>
                <a:r>
                  <a:rPr lang="en-US" altLang="zh-CN" sz="2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zh-CN" altLang="en-US" sz="2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iagnostic </a:t>
                </a:r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(FIDA) </a:t>
                </a:r>
              </a:p>
            </p:txBody>
          </p:sp>
          <p:sp>
            <p:nvSpPr>
              <p:cNvPr id="31" name="TextBox 60">
                <a:extLst>
                  <a:ext uri="{FF2B5EF4-FFF2-40B4-BE49-F238E27FC236}">
                    <a16:creationId xmlns:a16="http://schemas.microsoft.com/office/drawing/2014/main" id="{F1AB61F4-3C7F-4ADA-A406-FB5834EF4996}"/>
                  </a:ext>
                </a:extLst>
              </p:cNvPr>
              <p:cNvSpPr txBox="1"/>
              <p:nvPr/>
            </p:nvSpPr>
            <p:spPr>
              <a:xfrm>
                <a:off x="346295" y="1491498"/>
                <a:ext cx="588623" cy="39693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342900" indent="-342900" algn="r">
                  <a:buClr>
                    <a:srgbClr val="FF0000"/>
                  </a:buClr>
                  <a:buFont typeface="Wingdings" panose="05000000000000000000" pitchFamily="2" charset="2"/>
                  <a:buChar char="u"/>
                  <a:defRPr/>
                </a:pPr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id-ID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51629" y="1298081"/>
              <a:ext cx="5114754" cy="2485522"/>
              <a:chOff x="5640833" y="2050005"/>
              <a:chExt cx="5114754" cy="2485522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 rotWithShape="1">
              <a:blip r:embed="rId5"/>
              <a:srcRect b="7752"/>
              <a:stretch/>
            </p:blipFill>
            <p:spPr>
              <a:xfrm>
                <a:off x="5640833" y="2050005"/>
                <a:ext cx="3387450" cy="2485522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>
                <a:off x="9234055" y="2378550"/>
                <a:ext cx="1521532" cy="11577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【</a:t>
                </a:r>
                <a:r>
                  <a:rPr lang="zh-CN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M. Salewski et al 2018 Nucl. Fusion 58 036017</a:t>
                </a:r>
                <a:r>
                  <a:rPr lang="en-US" altLang="zh-C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】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0" name="矩形 19"/>
          <p:cNvSpPr/>
          <p:nvPr/>
        </p:nvSpPr>
        <p:spPr>
          <a:xfrm>
            <a:off x="-7902" y="3671868"/>
            <a:ext cx="12394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MeV</a:t>
            </a:r>
            <a:r>
              <a:rPr lang="zh-CN" alt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能段</a:t>
            </a:r>
            <a:endParaRPr lang="zh-CN" alt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7546573" y="3997930"/>
            <a:ext cx="4698681" cy="2838361"/>
            <a:chOff x="4221160" y="4169868"/>
            <a:chExt cx="4377806" cy="2643208"/>
          </a:xfrm>
        </p:grpSpPr>
        <p:grpSp>
          <p:nvGrpSpPr>
            <p:cNvPr id="15" name="组合 14"/>
            <p:cNvGrpSpPr/>
            <p:nvPr/>
          </p:nvGrpSpPr>
          <p:grpSpPr>
            <a:xfrm>
              <a:off x="4221160" y="4169868"/>
              <a:ext cx="3629245" cy="405240"/>
              <a:chOff x="425757" y="5059784"/>
              <a:chExt cx="3629245" cy="405240"/>
            </a:xfrm>
          </p:grpSpPr>
          <p:sp>
            <p:nvSpPr>
              <p:cNvPr id="50" name="TextBox 60">
                <a:extLst>
                  <a:ext uri="{FF2B5EF4-FFF2-40B4-BE49-F238E27FC236}">
                    <a16:creationId xmlns:a16="http://schemas.microsoft.com/office/drawing/2014/main" id="{38D2A448-F3E4-43B5-9289-CECED2664CC8}"/>
                  </a:ext>
                </a:extLst>
              </p:cNvPr>
              <p:cNvSpPr txBox="1"/>
              <p:nvPr/>
            </p:nvSpPr>
            <p:spPr>
              <a:xfrm>
                <a:off x="425757" y="5095692"/>
                <a:ext cx="1050289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800100" lvl="1" indent="-342900" algn="r"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u"/>
                  <a:defRPr/>
                </a:pPr>
                <a:r>
                  <a:rPr 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id-ID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1202939" y="5059784"/>
                <a:ext cx="285206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>
                  <a:buClr>
                    <a:schemeClr val="accent1">
                      <a:lumMod val="75000"/>
                    </a:schemeClr>
                  </a:buClr>
                  <a:defRPr/>
                </a:pPr>
                <a:r>
                  <a:rPr lang="en-US" altLang="zh-CN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Gamma-ray </a:t>
                </a:r>
                <a:r>
                  <a:rPr lang="en-US" altLang="zh-CN" sz="2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Spectroscopy</a:t>
                </a:r>
                <a:endParaRPr lang="id-ID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4552030" y="4523673"/>
              <a:ext cx="4046936" cy="2289403"/>
              <a:chOff x="8643535" y="4830904"/>
              <a:chExt cx="4046936" cy="2289403"/>
            </a:xfrm>
          </p:grpSpPr>
          <p:pic>
            <p:nvPicPr>
              <p:cNvPr id="22" name="图片 2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43535" y="4830904"/>
                <a:ext cx="3629624" cy="2032226"/>
              </a:xfrm>
              <a:prstGeom prst="rect">
                <a:avLst/>
              </a:prstGeom>
            </p:spPr>
          </p:pic>
          <p:sp>
            <p:nvSpPr>
              <p:cNvPr id="33" name="矩形 32"/>
              <p:cNvSpPr/>
              <p:nvPr/>
            </p:nvSpPr>
            <p:spPr>
              <a:xfrm>
                <a:off x="8945785" y="6805031"/>
                <a:ext cx="3744686" cy="3152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【</a:t>
                </a:r>
                <a:r>
                  <a:rPr lang="zh-CN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</a:t>
                </a:r>
                <a:r>
                  <a: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Nocente et al 2020 </a:t>
                </a:r>
                <a:r>
                  <a:rPr lang="en-US" altLang="zh-C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PPCF </a:t>
                </a:r>
                <a:r>
                  <a:rPr lang="zh-CN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62 014015</a:t>
                </a:r>
                <a:r>
                  <a:rPr lang="en-US" altLang="zh-C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】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4" name="组合 43"/>
          <p:cNvGrpSpPr/>
          <p:nvPr/>
        </p:nvGrpSpPr>
        <p:grpSpPr>
          <a:xfrm>
            <a:off x="6342508" y="1087197"/>
            <a:ext cx="5516260" cy="2784726"/>
            <a:chOff x="6217359" y="1053354"/>
            <a:chExt cx="5516260" cy="2784726"/>
          </a:xfrm>
        </p:grpSpPr>
        <p:grpSp>
          <p:nvGrpSpPr>
            <p:cNvPr id="37" name="组合 36"/>
            <p:cNvGrpSpPr/>
            <p:nvPr/>
          </p:nvGrpSpPr>
          <p:grpSpPr>
            <a:xfrm>
              <a:off x="6357855" y="1053354"/>
              <a:ext cx="3040057" cy="379556"/>
              <a:chOff x="4373015" y="4378771"/>
              <a:chExt cx="3040057" cy="379556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4668410" y="4378771"/>
                <a:ext cx="27446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eutral </a:t>
                </a:r>
                <a:r>
                  <a:rPr lang="en-US" altLang="zh-CN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article </a:t>
                </a:r>
                <a:r>
                  <a:rPr lang="en-US" altLang="zh-CN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nalyzers 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4373015" y="4388995"/>
                <a:ext cx="5886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 algn="r">
                  <a:buClr>
                    <a:srgbClr val="FF0000"/>
                  </a:buClr>
                  <a:buFont typeface="Wingdings" panose="05000000000000000000" pitchFamily="2" charset="2"/>
                  <a:buChar char="u"/>
                  <a:defRPr/>
                </a:pPr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id-ID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6217359" y="1456528"/>
              <a:ext cx="5516260" cy="2381552"/>
              <a:chOff x="6217359" y="1467538"/>
              <a:chExt cx="5516260" cy="2622399"/>
            </a:xfrm>
          </p:grpSpPr>
          <p:pic>
            <p:nvPicPr>
              <p:cNvPr id="41" name="图片 4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17359" y="1467538"/>
                <a:ext cx="3591767" cy="2622399"/>
              </a:xfrm>
              <a:prstGeom prst="rect">
                <a:avLst/>
              </a:prstGeom>
            </p:spPr>
          </p:pic>
          <p:sp>
            <p:nvSpPr>
              <p:cNvPr id="42" name="矩形 41"/>
              <p:cNvSpPr/>
              <p:nvPr/>
            </p:nvSpPr>
            <p:spPr>
              <a:xfrm>
                <a:off x="9911272" y="1778706"/>
                <a:ext cx="1822347" cy="11861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【</a:t>
                </a:r>
                <a:r>
                  <a:rPr lang="zh-CN" altLang="en-US" sz="16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A.N. Karpushov, Rev. Sci. Instrum. 77(3), 033504 (2006)</a:t>
                </a:r>
                <a:r>
                  <a:rPr lang="en-US" altLang="zh-CN" sz="16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】</a:t>
                </a:r>
                <a:endPara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4703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63107"/>
            <a:ext cx="12418827" cy="687498"/>
          </a:xfrm>
        </p:spPr>
        <p:txBody>
          <a:bodyPr/>
          <a:lstStyle/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不稳定性对快离子分布影响的研究验证发展了理论模型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41154" y="5678166"/>
            <a:ext cx="4586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【B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Geiger et al 2015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Nucl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Fusion 55 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083001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535" y="2031420"/>
            <a:ext cx="3553342" cy="3190034"/>
          </a:xfrm>
          <a:prstGeom prst="rect">
            <a:avLst/>
          </a:prstGeom>
          <a:ln w="41275">
            <a:solidFill>
              <a:srgbClr val="FF0000"/>
            </a:solidFill>
            <a:prstDash val="sysDash"/>
          </a:ln>
        </p:spPr>
      </p:pic>
      <p:sp>
        <p:nvSpPr>
          <p:cNvPr id="24" name="文本框 23"/>
          <p:cNvSpPr txBox="1"/>
          <p:nvPr/>
        </p:nvSpPr>
        <p:spPr>
          <a:xfrm>
            <a:off x="4055285" y="1604888"/>
            <a:ext cx="4371960" cy="32045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pre-</a:t>
            </a:r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sawtooth</a:t>
            </a:r>
            <a:r>
              <a:rPr lang="zh-CN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crash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post-</a:t>
            </a:r>
            <a:r>
              <a:rPr lang="en-US" altLang="zh-C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sawtooch</a:t>
            </a:r>
            <a:r>
              <a:rPr lang="zh-CN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crash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65050" y="1272337"/>
            <a:ext cx="4070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u"/>
            </a:pPr>
            <a:r>
              <a:rPr lang="en-US" altLang="zh-CN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MHD(NTM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Sawtooh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TM…)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935051" y="1298752"/>
            <a:ext cx="3861101" cy="400110"/>
          </a:xfrm>
          <a:prstGeom prst="rect">
            <a:avLst/>
          </a:prstGeom>
          <a:noFill/>
          <a:ln w="41275">
            <a:noFill/>
            <a:prstDash val="sysDash"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AEs(TAE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RSAE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EAE…)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535245" y="5609343"/>
            <a:ext cx="26712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it-IT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W.W. Heidbrink et al 2016 Nucl. Fusion 56 112011 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it-IT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26619" y="5570444"/>
            <a:ext cx="28530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en-US" altLang="zh-CN" sz="1600" dirty="0" err="1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Heidbrink</a:t>
            </a:r>
            <a:r>
              <a:rPr lang="en-US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W. </a:t>
            </a:r>
            <a:r>
              <a:rPr lang="en-US" altLang="zh-CN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1600" dirty="0" err="1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.,et</a:t>
            </a:r>
            <a:r>
              <a:rPr lang="en-US" altLang="zh-CN" sz="1600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 2009  Phys. Rev. Lett.</a:t>
            </a:r>
            <a:r>
              <a:rPr lang="en-US" altLang="zh-CN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103.17 </a:t>
            </a:r>
            <a:r>
              <a:rPr lang="en-US" altLang="zh-CN" sz="1600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175001】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21346" y="1272337"/>
            <a:ext cx="3229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湍流（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ITG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ETG…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2581" y="2031420"/>
            <a:ext cx="3347203" cy="3146582"/>
            <a:chOff x="74428" y="2031420"/>
            <a:chExt cx="3980857" cy="3847417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 rotWithShape="1">
            <a:blip r:embed="rId4"/>
            <a:srcRect l="4608" r="4264"/>
            <a:stretch/>
          </p:blipFill>
          <p:spPr>
            <a:xfrm>
              <a:off x="74428" y="2031420"/>
              <a:ext cx="3980857" cy="3847417"/>
            </a:xfrm>
            <a:prstGeom prst="rect">
              <a:avLst/>
            </a:prstGeom>
            <a:ln w="41275" cmpd="sng">
              <a:solidFill>
                <a:srgbClr val="FF0000"/>
              </a:solidFill>
              <a:prstDash val="sysDash"/>
            </a:ln>
          </p:spPr>
        </p:pic>
        <p:sp>
          <p:nvSpPr>
            <p:cNvPr id="5" name="矩形 4"/>
            <p:cNvSpPr/>
            <p:nvPr/>
          </p:nvSpPr>
          <p:spPr>
            <a:xfrm>
              <a:off x="113515" y="5401982"/>
              <a:ext cx="312012" cy="476854"/>
            </a:xfrm>
            <a:prstGeom prst="rect">
              <a:avLst/>
            </a:prstGeom>
            <a:solidFill>
              <a:schemeClr val="bg1"/>
            </a:solidFill>
            <a:ln w="41275" cmpd="sng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5051" y="2031420"/>
            <a:ext cx="3803579" cy="3212386"/>
          </a:xfrm>
          <a:prstGeom prst="rect">
            <a:avLst/>
          </a:prstGeom>
          <a:ln w="41275">
            <a:solidFill>
              <a:srgbClr val="FF0000"/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3597802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59489"/>
            <a:ext cx="12192000" cy="595423"/>
          </a:xfrm>
        </p:spPr>
        <p:txBody>
          <a:bodyPr/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36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AEs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引发的快离子输</a:t>
            </a:r>
            <a:r>
              <a:rPr lang="zh-CN" alt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运的研究发展</a:t>
            </a:r>
            <a:r>
              <a:rPr lang="en-US" altLang="zh-CN" sz="36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Kick model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b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27050"/>
            <a:ext cx="5363755" cy="479504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096000" y="6374318"/>
            <a:ext cx="56883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【W.W.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Heidbrink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et al..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 Phys. Plasmas 24, 056109】</a:t>
            </a:r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457200" y="957716"/>
            <a:ext cx="5178055" cy="2493543"/>
            <a:chOff x="201448" y="1503649"/>
            <a:chExt cx="5577783" cy="3008651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1448" y="1503649"/>
              <a:ext cx="5577783" cy="264008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7453" y="4199853"/>
              <a:ext cx="1790855" cy="312447"/>
            </a:xfrm>
            <a:prstGeom prst="rect">
              <a:avLst/>
            </a:prstGeom>
          </p:spPr>
        </p:pic>
      </p:grpSp>
      <p:sp>
        <p:nvSpPr>
          <p:cNvPr id="17" name="Rectangle 3"/>
          <p:cNvSpPr>
            <a:spLocks noChangeArrowheads="1"/>
          </p:cNvSpPr>
          <p:nvPr/>
        </p:nvSpPr>
        <p:spPr bwMode="auto">
          <a:xfrm rot="10800000" flipV="1">
            <a:off x="6096000" y="5963541"/>
            <a:ext cx="55839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C.S. Collins, </a:t>
            </a: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.al., 2016 Phys. Rev. Lett. 116, 095001</a:t>
            </a: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076" name="Picture 4" descr="C:\Users\18516\AppData\Roaming\Tencent\QQTempSys\%W@GJ$ACOF(TYDYECOKVDYB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-136525"/>
            <a:ext cx="190500" cy="14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630" y="3756722"/>
            <a:ext cx="4755915" cy="306572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76375" y="3451259"/>
            <a:ext cx="375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高于阈值，</a:t>
            </a:r>
            <a:r>
              <a:rPr lang="en-US" altLang="zh-CN" dirty="0" smtClean="0"/>
              <a:t>FIDA</a:t>
            </a:r>
            <a:r>
              <a:rPr lang="zh-CN" altLang="en-US" dirty="0" smtClean="0"/>
              <a:t>密度曲线功率饱和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774502" y="911030"/>
            <a:ext cx="539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根据实验</a:t>
            </a:r>
            <a:r>
              <a:rPr lang="zh-CN" altLang="en-US" dirty="0"/>
              <a:t>测量</a:t>
            </a:r>
            <a:r>
              <a:rPr lang="zh-CN" altLang="en-US" dirty="0" smtClean="0"/>
              <a:t>发展</a:t>
            </a:r>
            <a:r>
              <a:rPr lang="en-US" altLang="zh-CN" dirty="0" smtClean="0">
                <a:solidFill>
                  <a:srgbClr val="FF0000"/>
                </a:solidFill>
              </a:rPr>
              <a:t>TRANSP kick model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603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59489"/>
            <a:ext cx="12106940" cy="765544"/>
          </a:xfrm>
        </p:spPr>
        <p:txBody>
          <a:bodyPr/>
          <a:lstStyle/>
          <a:p>
            <a:pPr algn="ctr"/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通过调节电流密度分布</a:t>
            </a:r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抑制</a:t>
            </a:r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改善快离子分布，提高快离子约束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37" y="1058396"/>
            <a:ext cx="4490726" cy="529690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209685" y="5680249"/>
            <a:ext cx="5803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M.A. Van Zeeland et al 2009 Nucl. Fusion 49 065003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973" y="1058396"/>
            <a:ext cx="6564904" cy="419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05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56626" y="159309"/>
            <a:ext cx="5016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报告纲要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73802" y="1184884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选题依据及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国内外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现状和发展趋势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研究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思路及研究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en-US" altLang="zh-CN" sz="28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研究方法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工作基础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工作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进度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安排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248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884" y="152474"/>
            <a:ext cx="12121116" cy="581173"/>
          </a:xfrm>
        </p:spPr>
        <p:txBody>
          <a:bodyPr/>
          <a:lstStyle/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515139" y="897708"/>
            <a:ext cx="8973879" cy="1116420"/>
            <a:chOff x="297006" y="1003726"/>
            <a:chExt cx="11430000" cy="1116420"/>
          </a:xfrm>
        </p:grpSpPr>
        <p:sp>
          <p:nvSpPr>
            <p:cNvPr id="4" name="文本框 3"/>
            <p:cNvSpPr txBox="1"/>
            <p:nvPr/>
          </p:nvSpPr>
          <p:spPr>
            <a:xfrm>
              <a:off x="974550" y="1073438"/>
              <a:ext cx="106580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/>
                <a:t>面向</a:t>
              </a:r>
              <a:r>
                <a:rPr lang="en-US" altLang="zh-CN" b="1" dirty="0" smtClean="0">
                  <a:solidFill>
                    <a:srgbClr val="FF0000"/>
                  </a:solidFill>
                </a:rPr>
                <a:t>EAST</a:t>
              </a:r>
              <a:r>
                <a:rPr lang="zh-CN" altLang="en-US" b="1" dirty="0" smtClean="0">
                  <a:solidFill>
                    <a:srgbClr val="FF0000"/>
                  </a:solidFill>
                </a:rPr>
                <a:t>高比压稳态运行</a:t>
              </a:r>
              <a:r>
                <a:rPr lang="zh-CN" altLang="en-US" dirty="0" smtClean="0"/>
                <a:t>下，通过</a:t>
              </a:r>
              <a:r>
                <a:rPr lang="zh-CN" altLang="en-US" b="1" dirty="0" smtClean="0">
                  <a:solidFill>
                    <a:srgbClr val="0432FF"/>
                  </a:solidFill>
                </a:rPr>
                <a:t>改善</a:t>
              </a:r>
              <a:r>
                <a:rPr lang="en-US" altLang="zh-CN" b="1" dirty="0" smtClean="0">
                  <a:solidFill>
                    <a:srgbClr val="0432FF"/>
                  </a:solidFill>
                </a:rPr>
                <a:t>NBI</a:t>
              </a:r>
              <a:r>
                <a:rPr lang="zh-CN" altLang="en-US" b="1" dirty="0" smtClean="0">
                  <a:solidFill>
                    <a:srgbClr val="0432FF"/>
                  </a:solidFill>
                </a:rPr>
                <a:t>束压</a:t>
              </a:r>
              <a:r>
                <a:rPr lang="zh-CN" altLang="en-US" dirty="0" smtClean="0"/>
                <a:t>和</a:t>
              </a:r>
              <a:r>
                <a:rPr lang="zh-CN" altLang="en-US" b="1" dirty="0" smtClean="0">
                  <a:solidFill>
                    <a:srgbClr val="0432FF"/>
                  </a:solidFill>
                </a:rPr>
                <a:t>电子密度</a:t>
              </a:r>
              <a:r>
                <a:rPr lang="zh-CN" altLang="en-US" dirty="0" smtClean="0"/>
                <a:t>，</a:t>
              </a:r>
              <a:r>
                <a:rPr lang="en-US" altLang="zh-CN" dirty="0"/>
                <a:t> </a:t>
              </a:r>
              <a:r>
                <a:rPr lang="zh-CN" altLang="en-US" dirty="0" smtClean="0"/>
                <a:t>实现</a:t>
              </a:r>
              <a:r>
                <a:rPr lang="en-US" altLang="zh-CN" dirty="0" smtClean="0"/>
                <a:t>β</a:t>
              </a:r>
              <a:r>
                <a:rPr lang="en-US" altLang="zh-CN" sz="1400" dirty="0" smtClean="0"/>
                <a:t>P</a:t>
              </a:r>
              <a:r>
                <a:rPr lang="en-US" altLang="zh-CN" dirty="0" smtClean="0"/>
                <a:t> </a:t>
              </a:r>
              <a:r>
                <a:rPr lang="zh-CN" altLang="en-US" dirty="0" smtClean="0"/>
                <a:t>达到</a:t>
              </a:r>
              <a:r>
                <a:rPr lang="en-US" altLang="zh-CN" dirty="0" smtClean="0"/>
                <a:t>2.5</a:t>
              </a:r>
              <a:r>
                <a:rPr lang="en-US" altLang="zh-CN" dirty="0"/>
                <a:t>, </a:t>
              </a:r>
              <a:r>
                <a:rPr lang="en-US" altLang="zh-CN" dirty="0" smtClean="0"/>
                <a:t>β</a:t>
              </a:r>
              <a:r>
                <a:rPr lang="en-US" altLang="zh-CN" sz="1200" dirty="0" smtClean="0"/>
                <a:t>N</a:t>
              </a:r>
              <a:r>
                <a:rPr lang="zh-CN" altLang="en-US" dirty="0" smtClean="0"/>
                <a:t>达到</a:t>
              </a:r>
              <a:r>
                <a:rPr lang="en-US" altLang="zh-CN" dirty="0" smtClean="0"/>
                <a:t>2.0</a:t>
              </a:r>
              <a:r>
                <a:rPr lang="en-US" altLang="zh-CN" dirty="0"/>
                <a:t>, </a:t>
              </a:r>
              <a:r>
                <a:rPr lang="en-US" altLang="zh-CN" dirty="0" smtClean="0"/>
                <a:t>H</a:t>
              </a:r>
              <a:r>
                <a:rPr lang="en-US" altLang="zh-CN" sz="1200" dirty="0" smtClean="0"/>
                <a:t>98y2</a:t>
              </a:r>
              <a:r>
                <a:rPr lang="en-US" altLang="zh-CN" dirty="0" smtClean="0"/>
                <a:t> </a:t>
              </a:r>
              <a:r>
                <a:rPr lang="en-US" altLang="zh-CN" dirty="0"/>
                <a:t>&gt; 1.1, </a:t>
              </a:r>
              <a:r>
                <a:rPr lang="zh-CN" altLang="en-US" dirty="0" smtClean="0"/>
                <a:t>自举电流高达</a:t>
              </a:r>
              <a:r>
                <a:rPr lang="en-US" altLang="zh-CN" dirty="0" smtClean="0"/>
                <a:t>50%</a:t>
              </a:r>
              <a:r>
                <a:rPr lang="zh-CN" altLang="en-US" dirty="0" smtClean="0"/>
                <a:t>的高参数稳态运行</a:t>
              </a:r>
              <a:endParaRPr lang="en-US" altLang="zh-CN" dirty="0" smtClean="0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297006" y="1003726"/>
              <a:ext cx="11430000" cy="1116420"/>
            </a:xfrm>
            <a:prstGeom prst="round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185532" y="2010687"/>
            <a:ext cx="6057156" cy="1192903"/>
            <a:chOff x="3185532" y="2010687"/>
            <a:chExt cx="6057156" cy="1192903"/>
          </a:xfrm>
        </p:grpSpPr>
        <p:grpSp>
          <p:nvGrpSpPr>
            <p:cNvPr id="14" name="组合 13"/>
            <p:cNvGrpSpPr/>
            <p:nvPr/>
          </p:nvGrpSpPr>
          <p:grpSpPr>
            <a:xfrm>
              <a:off x="3185532" y="2010687"/>
              <a:ext cx="2349974" cy="1192903"/>
              <a:chOff x="4486478" y="2141335"/>
              <a:chExt cx="2083983" cy="1192903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4753538" y="2643143"/>
                <a:ext cx="1669021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 smtClean="0"/>
                  <a:t>不同等离子体参数，束压，密度</a:t>
                </a:r>
                <a:endParaRPr lang="en-US" altLang="zh-CN" dirty="0"/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4486478" y="2534574"/>
                <a:ext cx="2083983" cy="799664"/>
              </a:xfrm>
              <a:prstGeom prst="roundRect">
                <a:avLst/>
              </a:prstGeom>
              <a:noFill/>
              <a:ln w="285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" name="直接箭头连接符 12"/>
              <p:cNvCxnSpPr>
                <a:endCxn id="11" idx="0"/>
              </p:cNvCxnSpPr>
              <p:nvPr/>
            </p:nvCxnSpPr>
            <p:spPr>
              <a:xfrm>
                <a:off x="5528468" y="2141335"/>
                <a:ext cx="1" cy="393239"/>
              </a:xfrm>
              <a:prstGeom prst="straightConnector1">
                <a:avLst/>
              </a:prstGeom>
              <a:ln w="38100">
                <a:solidFill>
                  <a:schemeClr val="tx2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组合 32"/>
            <p:cNvGrpSpPr/>
            <p:nvPr/>
          </p:nvGrpSpPr>
          <p:grpSpPr>
            <a:xfrm>
              <a:off x="6710491" y="2010687"/>
              <a:ext cx="2532197" cy="1192903"/>
              <a:chOff x="4486478" y="2141335"/>
              <a:chExt cx="2083983" cy="1192903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4590300" y="2643143"/>
                <a:ext cx="183225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 smtClean="0"/>
                  <a:t>NBI</a:t>
                </a:r>
                <a:r>
                  <a:rPr lang="zh-CN" altLang="en-US" dirty="0" smtClean="0"/>
                  <a:t>反向束快离子损失大，加热效率低</a:t>
                </a:r>
                <a:endParaRPr lang="en-US" altLang="zh-CN" dirty="0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>
                <a:off x="4486478" y="2534574"/>
                <a:ext cx="2083983" cy="799664"/>
              </a:xfrm>
              <a:prstGeom prst="roundRect">
                <a:avLst/>
              </a:prstGeom>
              <a:noFill/>
              <a:ln w="285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" name="直接箭头连接符 36"/>
              <p:cNvCxnSpPr>
                <a:endCxn id="36" idx="0"/>
              </p:cNvCxnSpPr>
              <p:nvPr/>
            </p:nvCxnSpPr>
            <p:spPr>
              <a:xfrm>
                <a:off x="5528468" y="2141335"/>
                <a:ext cx="1" cy="393239"/>
              </a:xfrm>
              <a:prstGeom prst="straightConnector1">
                <a:avLst/>
              </a:prstGeom>
              <a:ln w="38100">
                <a:solidFill>
                  <a:schemeClr val="tx2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6" name="组合 65"/>
          <p:cNvGrpSpPr/>
          <p:nvPr/>
        </p:nvGrpSpPr>
        <p:grpSpPr>
          <a:xfrm>
            <a:off x="2699192" y="3203590"/>
            <a:ext cx="6917926" cy="1558426"/>
            <a:chOff x="2699192" y="3203590"/>
            <a:chExt cx="6917926" cy="1558426"/>
          </a:xfrm>
        </p:grpSpPr>
        <p:grpSp>
          <p:nvGrpSpPr>
            <p:cNvPr id="45" name="组合 44"/>
            <p:cNvGrpSpPr/>
            <p:nvPr/>
          </p:nvGrpSpPr>
          <p:grpSpPr>
            <a:xfrm>
              <a:off x="3481197" y="3203590"/>
              <a:ext cx="5443868" cy="348475"/>
              <a:chOff x="4360518" y="3203590"/>
              <a:chExt cx="3616072" cy="731771"/>
            </a:xfrm>
          </p:grpSpPr>
          <p:cxnSp>
            <p:nvCxnSpPr>
              <p:cNvPr id="31" name="肘形连接符 30"/>
              <p:cNvCxnSpPr>
                <a:stCxn id="11" idx="2"/>
              </p:cNvCxnSpPr>
              <p:nvPr/>
            </p:nvCxnSpPr>
            <p:spPr>
              <a:xfrm rot="16200000" flipH="1">
                <a:off x="5806751" y="1757357"/>
                <a:ext cx="723606" cy="3616071"/>
              </a:xfrm>
              <a:prstGeom prst="bentConnector2">
                <a:avLst/>
              </a:prstGeom>
              <a:ln w="285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>
                <a:stCxn id="36" idx="2"/>
              </p:cNvCxnSpPr>
              <p:nvPr/>
            </p:nvCxnSpPr>
            <p:spPr>
              <a:xfrm flipH="1">
                <a:off x="7976588" y="3203590"/>
                <a:ext cx="2" cy="731771"/>
              </a:xfrm>
              <a:prstGeom prst="line">
                <a:avLst/>
              </a:prstGeom>
              <a:ln w="285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组合 45"/>
            <p:cNvGrpSpPr/>
            <p:nvPr/>
          </p:nvGrpSpPr>
          <p:grpSpPr>
            <a:xfrm>
              <a:off x="2699192" y="3568646"/>
              <a:ext cx="6917926" cy="1193370"/>
              <a:chOff x="2699192" y="3568646"/>
              <a:chExt cx="6917926" cy="1193370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2699192" y="3569113"/>
                <a:ext cx="1922335" cy="1192903"/>
                <a:chOff x="4431415" y="2087006"/>
                <a:chExt cx="2083983" cy="1192903"/>
              </a:xfrm>
            </p:grpSpPr>
            <p:sp>
              <p:nvSpPr>
                <p:cNvPr id="18" name="矩形 17"/>
                <p:cNvSpPr/>
                <p:nvPr/>
              </p:nvSpPr>
              <p:spPr>
                <a:xfrm>
                  <a:off x="4564644" y="2606630"/>
                  <a:ext cx="1934475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dirty="0" smtClean="0"/>
                    <a:t>快离子分布函数</a:t>
                  </a:r>
                  <a:endParaRPr lang="en-US" altLang="zh-CN" dirty="0"/>
                </a:p>
              </p:txBody>
            </p:sp>
            <p:sp>
              <p:nvSpPr>
                <p:cNvPr id="19" name="圆角矩形 18"/>
                <p:cNvSpPr/>
                <p:nvPr/>
              </p:nvSpPr>
              <p:spPr>
                <a:xfrm>
                  <a:off x="4431415" y="2480245"/>
                  <a:ext cx="2083983" cy="799664"/>
                </a:xfrm>
                <a:prstGeom prst="roundRect">
                  <a:avLst/>
                </a:prstGeom>
                <a:noFill/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0" name="直接箭头连接符 19"/>
                <p:cNvCxnSpPr>
                  <a:endCxn id="19" idx="0"/>
                </p:cNvCxnSpPr>
                <p:nvPr/>
              </p:nvCxnSpPr>
              <p:spPr>
                <a:xfrm>
                  <a:off x="5473406" y="2087006"/>
                  <a:ext cx="1" cy="393239"/>
                </a:xfrm>
                <a:prstGeom prst="straightConnector1">
                  <a:avLst/>
                </a:prstGeom>
                <a:ln w="38100">
                  <a:solidFill>
                    <a:schemeClr val="accent2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组合 50"/>
              <p:cNvGrpSpPr/>
              <p:nvPr/>
            </p:nvGrpSpPr>
            <p:grpSpPr>
              <a:xfrm>
                <a:off x="5164408" y="3568646"/>
                <a:ext cx="2077445" cy="1192903"/>
                <a:chOff x="4431415" y="2087006"/>
                <a:chExt cx="2083983" cy="1192903"/>
              </a:xfrm>
            </p:grpSpPr>
            <p:sp>
              <p:nvSpPr>
                <p:cNvPr id="52" name="矩形 51"/>
                <p:cNvSpPr/>
                <p:nvPr/>
              </p:nvSpPr>
              <p:spPr>
                <a:xfrm>
                  <a:off x="4564644" y="2606630"/>
                  <a:ext cx="1934475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dirty="0" smtClean="0"/>
                    <a:t>快离子密度分布</a:t>
                  </a:r>
                  <a:endParaRPr lang="en-US" altLang="zh-CN" dirty="0"/>
                </a:p>
              </p:txBody>
            </p:sp>
            <p:sp>
              <p:nvSpPr>
                <p:cNvPr id="53" name="圆角矩形 52"/>
                <p:cNvSpPr/>
                <p:nvPr/>
              </p:nvSpPr>
              <p:spPr>
                <a:xfrm>
                  <a:off x="4431415" y="2480245"/>
                  <a:ext cx="2083983" cy="799664"/>
                </a:xfrm>
                <a:prstGeom prst="roundRect">
                  <a:avLst/>
                </a:prstGeom>
                <a:noFill/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4" name="直接箭头连接符 53"/>
                <p:cNvCxnSpPr>
                  <a:endCxn id="53" idx="0"/>
                </p:cNvCxnSpPr>
                <p:nvPr/>
              </p:nvCxnSpPr>
              <p:spPr>
                <a:xfrm>
                  <a:off x="5473406" y="2087006"/>
                  <a:ext cx="1" cy="393239"/>
                </a:xfrm>
                <a:prstGeom prst="straightConnector1">
                  <a:avLst/>
                </a:prstGeom>
                <a:ln w="38100">
                  <a:solidFill>
                    <a:schemeClr val="accent2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组合 54"/>
              <p:cNvGrpSpPr/>
              <p:nvPr/>
            </p:nvGrpSpPr>
            <p:grpSpPr>
              <a:xfrm>
                <a:off x="7703020" y="3568646"/>
                <a:ext cx="1914098" cy="1192903"/>
                <a:chOff x="4415136" y="2130937"/>
                <a:chExt cx="2083983" cy="1192903"/>
              </a:xfrm>
            </p:grpSpPr>
            <p:sp>
              <p:nvSpPr>
                <p:cNvPr id="56" name="矩形 55"/>
                <p:cNvSpPr/>
                <p:nvPr/>
              </p:nvSpPr>
              <p:spPr>
                <a:xfrm>
                  <a:off x="4564644" y="2606630"/>
                  <a:ext cx="1934475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dirty="0" smtClean="0"/>
                    <a:t>快离子的输运</a:t>
                  </a:r>
                  <a:endParaRPr lang="en-US" altLang="zh-CN" dirty="0"/>
                </a:p>
              </p:txBody>
            </p:sp>
            <p:sp>
              <p:nvSpPr>
                <p:cNvPr id="57" name="圆角矩形 56"/>
                <p:cNvSpPr/>
                <p:nvPr/>
              </p:nvSpPr>
              <p:spPr>
                <a:xfrm>
                  <a:off x="4415136" y="2524176"/>
                  <a:ext cx="2083983" cy="799664"/>
                </a:xfrm>
                <a:prstGeom prst="roundRect">
                  <a:avLst/>
                </a:prstGeom>
                <a:noFill/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8" name="直接箭头连接符 57"/>
                <p:cNvCxnSpPr>
                  <a:endCxn id="57" idx="0"/>
                </p:cNvCxnSpPr>
                <p:nvPr/>
              </p:nvCxnSpPr>
              <p:spPr>
                <a:xfrm>
                  <a:off x="5457126" y="2130937"/>
                  <a:ext cx="1" cy="393239"/>
                </a:xfrm>
                <a:prstGeom prst="straightConnector1">
                  <a:avLst/>
                </a:prstGeom>
                <a:ln w="38100">
                  <a:solidFill>
                    <a:schemeClr val="accent2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65" name="组合 64"/>
          <p:cNvGrpSpPr/>
          <p:nvPr/>
        </p:nvGrpSpPr>
        <p:grpSpPr>
          <a:xfrm>
            <a:off x="1515139" y="1455919"/>
            <a:ext cx="7858942" cy="4861819"/>
            <a:chOff x="1515139" y="1455919"/>
            <a:chExt cx="7858942" cy="4861819"/>
          </a:xfrm>
        </p:grpSpPr>
        <p:grpSp>
          <p:nvGrpSpPr>
            <p:cNvPr id="64" name="组合 63"/>
            <p:cNvGrpSpPr/>
            <p:nvPr/>
          </p:nvGrpSpPr>
          <p:grpSpPr>
            <a:xfrm>
              <a:off x="1515139" y="1455919"/>
              <a:ext cx="7858942" cy="4861819"/>
              <a:chOff x="1515139" y="1455919"/>
              <a:chExt cx="7858942" cy="4861819"/>
            </a:xfrm>
          </p:grpSpPr>
          <p:grpSp>
            <p:nvGrpSpPr>
              <p:cNvPr id="34" name="组合 33"/>
              <p:cNvGrpSpPr/>
              <p:nvPr/>
            </p:nvGrpSpPr>
            <p:grpSpPr>
              <a:xfrm>
                <a:off x="3148761" y="5106582"/>
                <a:ext cx="6225320" cy="1211156"/>
                <a:chOff x="2960202" y="5603238"/>
                <a:chExt cx="5964863" cy="1211318"/>
              </a:xfrm>
            </p:grpSpPr>
            <p:sp>
              <p:nvSpPr>
                <p:cNvPr id="28" name="矩形 27"/>
                <p:cNvSpPr/>
                <p:nvPr/>
              </p:nvSpPr>
              <p:spPr>
                <a:xfrm>
                  <a:off x="3665775" y="6083196"/>
                  <a:ext cx="4553716" cy="64641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b="1" dirty="0" smtClean="0">
                      <a:solidFill>
                        <a:srgbClr val="FF0000"/>
                      </a:solidFill>
                    </a:rPr>
                    <a:t>探索优化快离子分布</a:t>
                  </a:r>
                  <a:r>
                    <a:rPr lang="zh-CN" altLang="en-US" b="1" dirty="0">
                      <a:solidFill>
                        <a:srgbClr val="FF0000"/>
                      </a:solidFill>
                    </a:rPr>
                    <a:t>的方法</a:t>
                  </a:r>
                  <a:r>
                    <a:rPr lang="zh-CN" altLang="en-US" dirty="0"/>
                    <a:t>，提高约束性能，</a:t>
                  </a:r>
                  <a:r>
                    <a:rPr lang="zh-CN" altLang="en-US" dirty="0" smtClean="0"/>
                    <a:t>进一步提高运行参数</a:t>
                  </a:r>
                  <a:endParaRPr lang="en-US" altLang="zh-CN" dirty="0"/>
                </a:p>
              </p:txBody>
            </p:sp>
            <p:sp>
              <p:nvSpPr>
                <p:cNvPr id="29" name="圆角矩形 28"/>
                <p:cNvSpPr/>
                <p:nvPr/>
              </p:nvSpPr>
              <p:spPr>
                <a:xfrm>
                  <a:off x="2960202" y="6014892"/>
                  <a:ext cx="5964863" cy="799664"/>
                </a:xfrm>
                <a:prstGeom prst="roundRect">
                  <a:avLst/>
                </a:prstGeom>
                <a:noFill/>
                <a:ln w="285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0" name="直接箭头连接符 29"/>
                <p:cNvCxnSpPr/>
                <p:nvPr/>
              </p:nvCxnSpPr>
              <p:spPr>
                <a:xfrm>
                  <a:off x="5865847" y="5603238"/>
                  <a:ext cx="3" cy="393239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0" name="肘形连接符 39"/>
              <p:cNvCxnSpPr>
                <a:stCxn id="29" idx="1"/>
                <a:endCxn id="10" idx="1"/>
              </p:cNvCxnSpPr>
              <p:nvPr/>
            </p:nvCxnSpPr>
            <p:spPr>
              <a:xfrm rot="10800000">
                <a:off x="1515139" y="1455919"/>
                <a:ext cx="1633622" cy="4462043"/>
              </a:xfrm>
              <a:prstGeom prst="bentConnector3">
                <a:avLst>
                  <a:gd name="adj1" fmla="val 113993"/>
                </a:avLst>
              </a:prstGeom>
              <a:ln w="38100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组合 58"/>
            <p:cNvGrpSpPr/>
            <p:nvPr/>
          </p:nvGrpSpPr>
          <p:grpSpPr>
            <a:xfrm>
              <a:off x="3202422" y="4736031"/>
              <a:ext cx="6057156" cy="348475"/>
              <a:chOff x="4360518" y="3203590"/>
              <a:chExt cx="3616072" cy="731771"/>
            </a:xfrm>
          </p:grpSpPr>
          <p:cxnSp>
            <p:nvCxnSpPr>
              <p:cNvPr id="60" name="肘形连接符 59"/>
              <p:cNvCxnSpPr/>
              <p:nvPr/>
            </p:nvCxnSpPr>
            <p:spPr>
              <a:xfrm rot="16200000" flipH="1">
                <a:off x="5806751" y="1757357"/>
                <a:ext cx="723606" cy="3616071"/>
              </a:xfrm>
              <a:prstGeom prst="bentConnector2">
                <a:avLst/>
              </a:prstGeom>
              <a:ln w="2857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flipH="1">
                <a:off x="7976588" y="3203590"/>
                <a:ext cx="2" cy="731771"/>
              </a:xfrm>
              <a:prstGeom prst="line">
                <a:avLst/>
              </a:prstGeom>
              <a:ln w="285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组合 8"/>
          <p:cNvGrpSpPr/>
          <p:nvPr/>
        </p:nvGrpSpPr>
        <p:grpSpPr>
          <a:xfrm>
            <a:off x="554525" y="2074979"/>
            <a:ext cx="11637475" cy="4166145"/>
            <a:chOff x="554525" y="2074979"/>
            <a:chExt cx="11637475" cy="4166145"/>
          </a:xfrm>
        </p:grpSpPr>
        <p:sp>
          <p:nvSpPr>
            <p:cNvPr id="44" name="矩形 43"/>
            <p:cNvSpPr/>
            <p:nvPr/>
          </p:nvSpPr>
          <p:spPr>
            <a:xfrm>
              <a:off x="9674336" y="5594793"/>
              <a:ext cx="251766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【</a:t>
              </a:r>
              <a:r>
                <a:rPr lang="zh-CN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J. Huang et al 2020 Nucl. Fusion 60 016002</a:t>
              </a:r>
              <a:r>
                <a:rPr lang="en-US" altLang="zh-CN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】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554525" y="2074979"/>
              <a:ext cx="11364913" cy="3190570"/>
              <a:chOff x="554525" y="2074979"/>
              <a:chExt cx="11364913" cy="3190570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4525" y="2206433"/>
                <a:ext cx="5875529" cy="2301439"/>
              </a:xfrm>
              <a:prstGeom prst="rect">
                <a:avLst/>
              </a:prstGeom>
            </p:spPr>
          </p:pic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17342" y="2074979"/>
                <a:ext cx="5002096" cy="319057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7698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604" y="170031"/>
            <a:ext cx="12014790" cy="634335"/>
          </a:xfrm>
        </p:spPr>
        <p:txBody>
          <a:bodyPr/>
          <a:lstStyle/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zh-CN" altLang="en-US" sz="36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4670793" y="1151791"/>
            <a:ext cx="4380173" cy="4972494"/>
            <a:chOff x="4670793" y="1151791"/>
            <a:chExt cx="4380173" cy="4972494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7188937" y="3604159"/>
              <a:ext cx="809846" cy="0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圆角矩形 3"/>
            <p:cNvSpPr/>
            <p:nvPr/>
          </p:nvSpPr>
          <p:spPr>
            <a:xfrm>
              <a:off x="4670793" y="1151791"/>
              <a:ext cx="2518144" cy="1392866"/>
            </a:xfrm>
            <a:prstGeom prst="roundRect">
              <a:avLst/>
            </a:prstGeom>
            <a:noFill/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4670793" y="2941605"/>
              <a:ext cx="2518144" cy="1392866"/>
            </a:xfrm>
            <a:prstGeom prst="roundRect">
              <a:avLst/>
            </a:prstGeom>
            <a:noFill/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670793" y="4731419"/>
              <a:ext cx="2518144" cy="1392866"/>
            </a:xfrm>
            <a:prstGeom prst="roundRect">
              <a:avLst/>
            </a:prstGeom>
            <a:noFill/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692499" y="5157934"/>
              <a:ext cx="26670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buClr>
                  <a:schemeClr val="accent1">
                    <a:lumMod val="75000"/>
                  </a:schemeClr>
                </a:buClr>
              </a:pPr>
              <a:r>
                <a:rPr lang="zh-CN" altLang="en-US" b="1" dirty="0" smtClean="0">
                  <a:solidFill>
                    <a:srgbClr val="0432FF"/>
                  </a:solidFill>
                </a:rPr>
                <a:t>下一步建立</a:t>
              </a:r>
              <a:r>
                <a:rPr lang="en-US" altLang="zh-CN" b="1" dirty="0" smtClean="0">
                  <a:solidFill>
                    <a:srgbClr val="0432FF"/>
                  </a:solidFill>
                </a:rPr>
                <a:t>EAST</a:t>
              </a:r>
              <a:r>
                <a:rPr lang="zh-CN" altLang="en-US" b="1" dirty="0" smtClean="0">
                  <a:solidFill>
                    <a:srgbClr val="0432FF"/>
                  </a:solidFill>
                </a:rPr>
                <a:t>升级</a:t>
              </a:r>
              <a:r>
                <a:rPr lang="zh-CN" altLang="en-US" b="1" dirty="0" smtClean="0"/>
                <a:t>后快离子分布的基本图像</a:t>
              </a:r>
              <a:endParaRPr lang="zh-CN" altLang="en-US" b="1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752527" y="3072551"/>
              <a:ext cx="2518145" cy="12003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buClr>
                  <a:schemeClr val="accent1">
                    <a:lumMod val="75000"/>
                  </a:schemeClr>
                </a:buClr>
              </a:pPr>
              <a:r>
                <a:rPr lang="zh-CN" altLang="en-US" b="1" dirty="0" smtClean="0">
                  <a:solidFill>
                    <a:srgbClr val="0432FF"/>
                  </a:solidFill>
                </a:rPr>
                <a:t>进一步验证反向束损失情况</a:t>
              </a:r>
              <a:r>
                <a:rPr lang="zh-CN" altLang="en-US" dirty="0" smtClean="0"/>
                <a:t>，分析高比压下正反</a:t>
              </a:r>
              <a:r>
                <a:rPr lang="zh-CN" altLang="en-US" dirty="0"/>
                <a:t>电流实验</a:t>
              </a:r>
              <a:r>
                <a:rPr lang="zh-CN" altLang="en-US" dirty="0" smtClean="0"/>
                <a:t>条件下快</a:t>
              </a:r>
              <a:r>
                <a:rPr lang="zh-CN" altLang="en-US" dirty="0"/>
                <a:t>离子</a:t>
              </a:r>
              <a:r>
                <a:rPr lang="zh-CN" altLang="en-US" dirty="0" smtClean="0"/>
                <a:t>分布</a:t>
              </a:r>
              <a:endParaRPr lang="zh-CN" altLang="en-US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760725" y="1240328"/>
              <a:ext cx="2338277" cy="1477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0432FF"/>
                  </a:solidFill>
                </a:rPr>
                <a:t>高比压条件下</a:t>
              </a:r>
              <a:r>
                <a:rPr lang="zh-CN" altLang="en-US" dirty="0" smtClean="0"/>
                <a:t>，不同</a:t>
              </a:r>
              <a:r>
                <a:rPr lang="en-US" altLang="zh-CN" dirty="0"/>
                <a:t>NBI</a:t>
              </a:r>
              <a:r>
                <a:rPr lang="zh-CN" altLang="en-US" dirty="0"/>
                <a:t>束压和电子密度对快离子分布以及性能的影响</a:t>
              </a:r>
            </a:p>
            <a:p>
              <a:endParaRPr lang="zh-CN" altLang="en-US" dirty="0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7188937" y="1848224"/>
              <a:ext cx="809846" cy="3559093"/>
              <a:chOff x="3304954" y="1738424"/>
              <a:chExt cx="809846" cy="3559093"/>
            </a:xfrm>
          </p:grpSpPr>
          <p:cxnSp>
            <p:nvCxnSpPr>
              <p:cNvPr id="18" name="肘形连接符 17"/>
              <p:cNvCxnSpPr>
                <a:stCxn id="4" idx="3"/>
              </p:cNvCxnSpPr>
              <p:nvPr/>
            </p:nvCxnSpPr>
            <p:spPr>
              <a:xfrm>
                <a:off x="3304954" y="1738424"/>
                <a:ext cx="809846" cy="1584677"/>
              </a:xfrm>
              <a:prstGeom prst="bentConnector2">
                <a:avLst/>
              </a:prstGeom>
              <a:ln w="285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肘形连接符 19"/>
              <p:cNvCxnSpPr/>
              <p:nvPr/>
            </p:nvCxnSpPr>
            <p:spPr>
              <a:xfrm flipV="1">
                <a:off x="3304954" y="3303889"/>
                <a:ext cx="809846" cy="1993628"/>
              </a:xfrm>
              <a:prstGeom prst="bentConnector2">
                <a:avLst/>
              </a:prstGeom>
              <a:ln w="285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下箭头 31"/>
            <p:cNvSpPr/>
            <p:nvPr/>
          </p:nvSpPr>
          <p:spPr>
            <a:xfrm rot="5400000" flipV="1">
              <a:off x="8205899" y="3051982"/>
              <a:ext cx="637953" cy="1052181"/>
            </a:xfrm>
            <a:prstGeom prst="downArrow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69607" y="1926338"/>
            <a:ext cx="4095749" cy="3372592"/>
            <a:chOff x="469607" y="1926338"/>
            <a:chExt cx="4095749" cy="3372592"/>
          </a:xfrm>
        </p:grpSpPr>
        <p:sp>
          <p:nvSpPr>
            <p:cNvPr id="33" name="下箭头 32"/>
            <p:cNvSpPr/>
            <p:nvPr/>
          </p:nvSpPr>
          <p:spPr>
            <a:xfrm rot="5400000" flipV="1">
              <a:off x="3698139" y="2960902"/>
              <a:ext cx="637953" cy="109648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469607" y="1926338"/>
              <a:ext cx="2999267" cy="3372592"/>
              <a:chOff x="179868" y="1777481"/>
              <a:chExt cx="2999267" cy="3372592"/>
            </a:xfrm>
          </p:grpSpPr>
          <p:sp>
            <p:nvSpPr>
              <p:cNvPr id="12" name="圆角矩形 11"/>
              <p:cNvSpPr/>
              <p:nvPr/>
            </p:nvSpPr>
            <p:spPr>
              <a:xfrm>
                <a:off x="179868" y="1777481"/>
                <a:ext cx="2518144" cy="1392866"/>
              </a:xfrm>
              <a:prstGeom prst="roundRect">
                <a:avLst/>
              </a:prstGeom>
              <a:noFill/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圆角矩形 12"/>
              <p:cNvSpPr/>
              <p:nvPr/>
            </p:nvSpPr>
            <p:spPr>
              <a:xfrm>
                <a:off x="179868" y="3757207"/>
                <a:ext cx="2518144" cy="1392866"/>
              </a:xfrm>
              <a:prstGeom prst="roundRect">
                <a:avLst/>
              </a:prstGeom>
              <a:noFill/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2" name="组合 41"/>
              <p:cNvGrpSpPr/>
              <p:nvPr/>
            </p:nvGrpSpPr>
            <p:grpSpPr>
              <a:xfrm>
                <a:off x="2698012" y="2473914"/>
                <a:ext cx="481123" cy="1979726"/>
                <a:chOff x="2698012" y="2473914"/>
                <a:chExt cx="481123" cy="1979726"/>
              </a:xfrm>
            </p:grpSpPr>
            <p:cxnSp>
              <p:nvCxnSpPr>
                <p:cNvPr id="38" name="肘形连接符 37"/>
                <p:cNvCxnSpPr>
                  <a:stCxn id="12" idx="3"/>
                </p:cNvCxnSpPr>
                <p:nvPr/>
              </p:nvCxnSpPr>
              <p:spPr>
                <a:xfrm>
                  <a:off x="2698012" y="2473914"/>
                  <a:ext cx="481123" cy="976212"/>
                </a:xfrm>
                <a:prstGeom prst="bentConnector2">
                  <a:avLst/>
                </a:prstGeom>
                <a:ln w="28575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肘形连接符 40"/>
                <p:cNvCxnSpPr>
                  <a:stCxn id="13" idx="3"/>
                </p:cNvCxnSpPr>
                <p:nvPr/>
              </p:nvCxnSpPr>
              <p:spPr>
                <a:xfrm flipV="1">
                  <a:off x="2698012" y="3450126"/>
                  <a:ext cx="481123" cy="1003514"/>
                </a:xfrm>
                <a:prstGeom prst="bentConnector2">
                  <a:avLst/>
                </a:prstGeom>
                <a:ln w="28575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" name="文本框 43"/>
              <p:cNvSpPr txBox="1"/>
              <p:nvPr/>
            </p:nvSpPr>
            <p:spPr>
              <a:xfrm>
                <a:off x="348214" y="2000364"/>
                <a:ext cx="231789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数值模拟工具：</a:t>
                </a:r>
                <a:endParaRPr lang="en-US" altLang="zh-CN" dirty="0" smtClean="0"/>
              </a:p>
              <a:p>
                <a:r>
                  <a:rPr lang="en-US" altLang="zh-CN" dirty="0" smtClean="0"/>
                  <a:t>FIDASIM</a:t>
                </a:r>
                <a:r>
                  <a:rPr lang="zh-CN" altLang="en-US" dirty="0" smtClean="0"/>
                  <a:t>、</a:t>
                </a:r>
                <a:r>
                  <a:rPr lang="en-US" altLang="zh-CN" dirty="0" smtClean="0"/>
                  <a:t>TRANSP</a:t>
                </a:r>
                <a:r>
                  <a:rPr lang="zh-CN" altLang="en-US" dirty="0" smtClean="0"/>
                  <a:t>、</a:t>
                </a:r>
                <a:r>
                  <a:rPr lang="en-US" altLang="zh-CN" dirty="0" smtClean="0"/>
                  <a:t>SOS</a:t>
                </a:r>
                <a:endParaRPr lang="zh-CN" altLang="en-US" dirty="0"/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348214" y="3991975"/>
                <a:ext cx="231789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/>
                  <a:t>FIDA</a:t>
                </a:r>
                <a:r>
                  <a:rPr lang="zh-CN" altLang="en-US" dirty="0" smtClean="0"/>
                  <a:t>等相关快离子诊断；</a:t>
                </a:r>
                <a:r>
                  <a:rPr lang="en-US" altLang="zh-CN" dirty="0" smtClean="0"/>
                  <a:t>Tomography</a:t>
                </a:r>
                <a:r>
                  <a:rPr lang="zh-CN" altLang="en-US" dirty="0" smtClean="0"/>
                  <a:t>方法</a:t>
                </a:r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9150199" y="2902549"/>
            <a:ext cx="2617377" cy="1392866"/>
            <a:chOff x="9150199" y="2902549"/>
            <a:chExt cx="2617377" cy="1392866"/>
          </a:xfrm>
        </p:grpSpPr>
        <p:sp>
          <p:nvSpPr>
            <p:cNvPr id="14" name="圆角矩形 13"/>
            <p:cNvSpPr/>
            <p:nvPr/>
          </p:nvSpPr>
          <p:spPr>
            <a:xfrm>
              <a:off x="9150199" y="2902549"/>
              <a:ext cx="2518144" cy="1392866"/>
            </a:xfrm>
            <a:prstGeom prst="roundRect">
              <a:avLst/>
            </a:prstGeom>
            <a:noFill/>
            <a:ln w="2857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9202032" y="2982733"/>
              <a:ext cx="256554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研究快离子分布、输运基本图像，优化快离子约束性能，进一步提升</a:t>
              </a:r>
              <a:r>
                <a:rPr lang="en-US" altLang="zh-CN" dirty="0" smtClean="0"/>
                <a:t>EAST</a:t>
              </a:r>
              <a:r>
                <a:rPr lang="zh-CN" altLang="en-US" dirty="0" smtClean="0"/>
                <a:t>运行参数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464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56626" y="159309"/>
            <a:ext cx="5016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报告纲要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73802" y="1184884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选题依据及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国内外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现状和发展趋势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思路及研究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研究方法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工作基础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工作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进度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安排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181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14670" y="98606"/>
            <a:ext cx="120443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</a:t>
            </a: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1885299" y="3110873"/>
            <a:ext cx="4029882" cy="18884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178"/>
          <p:cNvGrpSpPr/>
          <p:nvPr/>
        </p:nvGrpSpPr>
        <p:grpSpPr>
          <a:xfrm>
            <a:off x="-57354" y="1021874"/>
            <a:ext cx="12159542" cy="4980866"/>
            <a:chOff x="-11752" y="2026372"/>
            <a:chExt cx="9087632" cy="2621354"/>
          </a:xfrm>
        </p:grpSpPr>
        <p:sp>
          <p:nvSpPr>
            <p:cNvPr id="39" name="MMConnector"/>
            <p:cNvSpPr/>
            <p:nvPr/>
          </p:nvSpPr>
          <p:spPr>
            <a:xfrm>
              <a:off x="1578548" y="2554922"/>
              <a:ext cx="390600" cy="759500"/>
            </a:xfrm>
            <a:custGeom>
              <a:avLst/>
              <a:gdLst/>
              <a:ahLst/>
              <a:cxnLst/>
              <a:rect l="0" t="0" r="0" b="0"/>
              <a:pathLst>
                <a:path w="390600" h="759500" fill="none">
                  <a:moveTo>
                    <a:pt x="218532" y="379750"/>
                  </a:moveTo>
                  <a:lnTo>
                    <a:pt x="358280" y="379750"/>
                  </a:lnTo>
                  <a:lnTo>
                    <a:pt x="358280" y="-379750"/>
                  </a:lnTo>
                  <a:lnTo>
                    <a:pt x="609132" y="-379750"/>
                  </a:lnTo>
                </a:path>
              </a:pathLst>
            </a:custGeom>
            <a:noFill/>
            <a:ln w="6200" cap="rnd">
              <a:solidFill>
                <a:srgbClr val="696969"/>
              </a:solidFill>
              <a:round/>
            </a:ln>
          </p:spPr>
        </p:sp>
        <p:sp>
          <p:nvSpPr>
            <p:cNvPr id="40" name="MMConnector"/>
            <p:cNvSpPr/>
            <p:nvPr/>
          </p:nvSpPr>
          <p:spPr>
            <a:xfrm>
              <a:off x="1578548" y="3060222"/>
              <a:ext cx="390600" cy="251100"/>
            </a:xfrm>
            <a:custGeom>
              <a:avLst/>
              <a:gdLst/>
              <a:ahLst/>
              <a:cxnLst/>
              <a:rect l="0" t="0" r="0" b="0"/>
              <a:pathLst>
                <a:path w="390600" h="251100" fill="none">
                  <a:moveTo>
                    <a:pt x="218532" y="-125550"/>
                  </a:moveTo>
                  <a:lnTo>
                    <a:pt x="358280" y="-125550"/>
                  </a:lnTo>
                  <a:lnTo>
                    <a:pt x="358280" y="125550"/>
                  </a:lnTo>
                  <a:lnTo>
                    <a:pt x="609132" y="125550"/>
                  </a:lnTo>
                </a:path>
              </a:pathLst>
            </a:custGeom>
            <a:noFill/>
            <a:ln w="6200" cap="rnd">
              <a:solidFill>
                <a:srgbClr val="696969"/>
              </a:solidFill>
              <a:round/>
            </a:ln>
          </p:spPr>
        </p:sp>
        <p:sp>
          <p:nvSpPr>
            <p:cNvPr id="41" name="MMConnector"/>
            <p:cNvSpPr/>
            <p:nvPr/>
          </p:nvSpPr>
          <p:spPr>
            <a:xfrm>
              <a:off x="3475420" y="2914832"/>
              <a:ext cx="167400" cy="541880"/>
            </a:xfrm>
            <a:custGeom>
              <a:avLst/>
              <a:gdLst/>
              <a:ahLst/>
              <a:cxnLst/>
              <a:rect l="0" t="0" r="0" b="0"/>
              <a:pathLst>
                <a:path w="167400" h="541880" fill="none">
                  <a:moveTo>
                    <a:pt x="-83700" y="270940"/>
                  </a:moveTo>
                  <a:lnTo>
                    <a:pt x="-10912" y="270940"/>
                  </a:lnTo>
                  <a:lnTo>
                    <a:pt x="-10912" y="-270940"/>
                  </a:lnTo>
                  <a:lnTo>
                    <a:pt x="83700" y="-270940"/>
                  </a:lnTo>
                </a:path>
              </a:pathLst>
            </a:custGeom>
            <a:noFill/>
            <a:ln w="6200" cap="rnd">
              <a:solidFill>
                <a:srgbClr val="696969"/>
              </a:solidFill>
              <a:round/>
            </a:ln>
          </p:spPr>
        </p:sp>
        <p:sp>
          <p:nvSpPr>
            <p:cNvPr id="42" name="MMConnector"/>
            <p:cNvSpPr/>
            <p:nvPr/>
          </p:nvSpPr>
          <p:spPr>
            <a:xfrm>
              <a:off x="4412860" y="3456712"/>
              <a:ext cx="167400" cy="6200"/>
            </a:xfrm>
            <a:custGeom>
              <a:avLst/>
              <a:gdLst/>
              <a:ahLst/>
              <a:cxnLst/>
              <a:rect l="0" t="0" r="0" b="0"/>
              <a:pathLst>
                <a:path w="167400" h="6200" fill="none">
                  <a:moveTo>
                    <a:pt x="-83700" y="0"/>
                  </a:moveTo>
                  <a:lnTo>
                    <a:pt x="-10912" y="0"/>
                  </a:lnTo>
                  <a:lnTo>
                    <a:pt x="83700" y="0"/>
                  </a:lnTo>
                </a:path>
              </a:pathLst>
            </a:custGeom>
            <a:noFill/>
            <a:ln w="6200" cap="rnd">
              <a:solidFill>
                <a:srgbClr val="696969"/>
              </a:solidFill>
              <a:round/>
            </a:ln>
          </p:spPr>
        </p:sp>
        <p:sp>
          <p:nvSpPr>
            <p:cNvPr id="43" name="MMConnector"/>
            <p:cNvSpPr/>
            <p:nvPr/>
          </p:nvSpPr>
          <p:spPr>
            <a:xfrm>
              <a:off x="4368220" y="2643892"/>
              <a:ext cx="167400" cy="6200"/>
            </a:xfrm>
            <a:custGeom>
              <a:avLst/>
              <a:gdLst/>
              <a:ahLst/>
              <a:cxnLst/>
              <a:rect l="0" t="0" r="0" b="0"/>
              <a:pathLst>
                <a:path w="167400" h="6200" fill="none">
                  <a:moveTo>
                    <a:pt x="-83700" y="0"/>
                  </a:moveTo>
                  <a:cubicBezTo>
                    <a:pt x="-16740" y="0"/>
                    <a:pt x="33480" y="0"/>
                    <a:pt x="83700" y="0"/>
                  </a:cubicBezTo>
                </a:path>
              </a:pathLst>
            </a:custGeom>
            <a:noFill/>
            <a:ln w="6200" cap="rnd">
              <a:solidFill>
                <a:srgbClr val="696969"/>
              </a:solidFill>
              <a:round/>
            </a:ln>
          </p:spPr>
        </p:sp>
        <p:sp>
          <p:nvSpPr>
            <p:cNvPr id="44" name="MMConnector"/>
            <p:cNvSpPr/>
            <p:nvPr/>
          </p:nvSpPr>
          <p:spPr>
            <a:xfrm>
              <a:off x="1627523" y="4220701"/>
              <a:ext cx="167400" cy="6200"/>
            </a:xfrm>
            <a:custGeom>
              <a:avLst/>
              <a:gdLst/>
              <a:ahLst/>
              <a:cxnLst/>
              <a:rect l="0" t="0" r="0" b="0"/>
              <a:pathLst>
                <a:path w="167400" h="6200" fill="none">
                  <a:moveTo>
                    <a:pt x="-83700" y="0"/>
                  </a:moveTo>
                  <a:lnTo>
                    <a:pt x="-10912" y="0"/>
                  </a:lnTo>
                  <a:lnTo>
                    <a:pt x="83700" y="0"/>
                  </a:lnTo>
                </a:path>
              </a:pathLst>
            </a:custGeom>
            <a:noFill/>
            <a:ln w="6200" cap="rnd">
              <a:solidFill>
                <a:srgbClr val="696969"/>
              </a:solidFill>
              <a:round/>
            </a:ln>
          </p:spPr>
        </p:sp>
        <p:sp>
          <p:nvSpPr>
            <p:cNvPr id="45" name="MMConnector"/>
            <p:cNvSpPr/>
            <p:nvPr/>
          </p:nvSpPr>
          <p:spPr>
            <a:xfrm>
              <a:off x="3810321" y="4213544"/>
              <a:ext cx="170607" cy="24061"/>
            </a:xfrm>
            <a:custGeom>
              <a:avLst/>
              <a:gdLst/>
              <a:ahLst/>
              <a:cxnLst/>
              <a:rect l="0" t="0" r="0" b="0"/>
              <a:pathLst>
                <a:path w="167400" h="6200" fill="none">
                  <a:moveTo>
                    <a:pt x="-83700" y="0"/>
                  </a:moveTo>
                  <a:lnTo>
                    <a:pt x="-10912" y="0"/>
                  </a:lnTo>
                  <a:lnTo>
                    <a:pt x="83700" y="0"/>
                  </a:lnTo>
                </a:path>
              </a:pathLst>
            </a:custGeom>
            <a:noFill/>
            <a:ln w="6200" cap="rnd">
              <a:solidFill>
                <a:srgbClr val="696969"/>
              </a:solidFill>
              <a:round/>
            </a:ln>
          </p:spPr>
        </p:sp>
        <p:sp>
          <p:nvSpPr>
            <p:cNvPr id="46" name="MMConnector"/>
            <p:cNvSpPr/>
            <p:nvPr/>
          </p:nvSpPr>
          <p:spPr>
            <a:xfrm>
              <a:off x="5697500" y="3321242"/>
              <a:ext cx="167400" cy="270940"/>
            </a:xfrm>
            <a:custGeom>
              <a:avLst/>
              <a:gdLst/>
              <a:ahLst/>
              <a:cxnLst/>
              <a:rect l="0" t="0" r="0" b="0"/>
              <a:pathLst>
                <a:path w="167400" h="270940" fill="none">
                  <a:moveTo>
                    <a:pt x="-83700" y="135470"/>
                  </a:moveTo>
                  <a:cubicBezTo>
                    <a:pt x="13073" y="135470"/>
                    <a:pt x="-36084" y="-135470"/>
                    <a:pt x="83700" y="-135470"/>
                  </a:cubicBezTo>
                </a:path>
              </a:pathLst>
            </a:custGeom>
            <a:noFill/>
            <a:ln w="6200" cap="rnd">
              <a:solidFill>
                <a:srgbClr val="696969"/>
              </a:solidFill>
              <a:round/>
            </a:ln>
          </p:spPr>
        </p:sp>
        <p:sp>
          <p:nvSpPr>
            <p:cNvPr id="47" name="MMConnector"/>
            <p:cNvSpPr/>
            <p:nvPr/>
          </p:nvSpPr>
          <p:spPr>
            <a:xfrm>
              <a:off x="5697500" y="3524447"/>
              <a:ext cx="167400" cy="135470"/>
            </a:xfrm>
            <a:custGeom>
              <a:avLst/>
              <a:gdLst/>
              <a:ahLst/>
              <a:cxnLst/>
              <a:rect l="0" t="0" r="0" b="0"/>
              <a:pathLst>
                <a:path w="167400" h="135470" fill="none">
                  <a:moveTo>
                    <a:pt x="-83700" y="-67735"/>
                  </a:moveTo>
                  <a:cubicBezTo>
                    <a:pt x="-1048" y="-67735"/>
                    <a:pt x="-3136" y="67735"/>
                    <a:pt x="83700" y="67735"/>
                  </a:cubicBezTo>
                </a:path>
              </a:pathLst>
            </a:custGeom>
            <a:noFill/>
            <a:ln w="6200" cap="rnd">
              <a:solidFill>
                <a:srgbClr val="696969"/>
              </a:solidFill>
              <a:round/>
            </a:ln>
          </p:spPr>
        </p:sp>
        <p:sp>
          <p:nvSpPr>
            <p:cNvPr id="48" name="MMConnector"/>
            <p:cNvSpPr/>
            <p:nvPr/>
          </p:nvSpPr>
          <p:spPr>
            <a:xfrm>
              <a:off x="3475420" y="3050302"/>
              <a:ext cx="94612" cy="270940"/>
            </a:xfrm>
            <a:custGeom>
              <a:avLst/>
              <a:gdLst/>
              <a:ahLst/>
              <a:cxnLst/>
              <a:rect l="0" t="0" r="0" b="0"/>
              <a:pathLst>
                <a:path w="94612" h="270940" fill="none">
                  <a:moveTo>
                    <a:pt x="-10912" y="135470"/>
                  </a:moveTo>
                  <a:lnTo>
                    <a:pt x="-10912" y="-135470"/>
                  </a:lnTo>
                  <a:lnTo>
                    <a:pt x="83700" y="-135470"/>
                  </a:lnTo>
                </a:path>
              </a:pathLst>
            </a:custGeom>
            <a:noFill/>
            <a:ln w="6200" cap="rnd">
              <a:solidFill>
                <a:srgbClr val="696969"/>
              </a:solidFill>
              <a:round/>
            </a:ln>
          </p:spPr>
        </p:sp>
        <p:sp>
          <p:nvSpPr>
            <p:cNvPr id="49" name="MMConnector"/>
            <p:cNvSpPr/>
            <p:nvPr/>
          </p:nvSpPr>
          <p:spPr>
            <a:xfrm>
              <a:off x="3475420" y="3321242"/>
              <a:ext cx="94612" cy="270940"/>
            </a:xfrm>
            <a:custGeom>
              <a:avLst/>
              <a:gdLst/>
              <a:ahLst/>
              <a:cxnLst/>
              <a:rect l="0" t="0" r="0" b="0"/>
              <a:pathLst>
                <a:path w="94612" h="270940" fill="none">
                  <a:moveTo>
                    <a:pt x="-10912" y="-135470"/>
                  </a:moveTo>
                  <a:lnTo>
                    <a:pt x="-10912" y="135470"/>
                  </a:lnTo>
                  <a:lnTo>
                    <a:pt x="83700" y="135470"/>
                  </a:lnTo>
                </a:path>
              </a:pathLst>
            </a:custGeom>
            <a:noFill/>
            <a:ln w="6200" cap="rnd">
              <a:solidFill>
                <a:srgbClr val="696969"/>
              </a:solidFill>
              <a:round/>
            </a:ln>
          </p:spPr>
        </p:sp>
        <p:sp>
          <p:nvSpPr>
            <p:cNvPr id="50" name="MMConnector"/>
            <p:cNvSpPr/>
            <p:nvPr/>
          </p:nvSpPr>
          <p:spPr>
            <a:xfrm>
              <a:off x="6773820" y="3185772"/>
              <a:ext cx="167400" cy="6200"/>
            </a:xfrm>
            <a:custGeom>
              <a:avLst/>
              <a:gdLst/>
              <a:ahLst/>
              <a:cxnLst/>
              <a:rect l="0" t="0" r="0" b="0"/>
              <a:pathLst>
                <a:path w="167400" h="6200" fill="none">
                  <a:moveTo>
                    <a:pt x="-83700" y="0"/>
                  </a:moveTo>
                  <a:cubicBezTo>
                    <a:pt x="-16740" y="0"/>
                    <a:pt x="33480" y="0"/>
                    <a:pt x="83700" y="0"/>
                  </a:cubicBezTo>
                </a:path>
              </a:pathLst>
            </a:custGeom>
            <a:noFill/>
            <a:ln w="6200" cap="rnd">
              <a:solidFill>
                <a:srgbClr val="696969"/>
              </a:solidFill>
              <a:round/>
            </a:ln>
          </p:spPr>
        </p:sp>
        <p:sp>
          <p:nvSpPr>
            <p:cNvPr id="51" name="MMConnector"/>
            <p:cNvSpPr/>
            <p:nvPr/>
          </p:nvSpPr>
          <p:spPr>
            <a:xfrm>
              <a:off x="6853180" y="3592182"/>
              <a:ext cx="167400" cy="6200"/>
            </a:xfrm>
            <a:custGeom>
              <a:avLst/>
              <a:gdLst/>
              <a:ahLst/>
              <a:cxnLst/>
              <a:rect l="0" t="0" r="0" b="0"/>
              <a:pathLst>
                <a:path w="167400" h="6200" fill="none">
                  <a:moveTo>
                    <a:pt x="-83700" y="0"/>
                  </a:moveTo>
                  <a:cubicBezTo>
                    <a:pt x="-16740" y="0"/>
                    <a:pt x="33480" y="0"/>
                    <a:pt x="83700" y="0"/>
                  </a:cubicBezTo>
                </a:path>
              </a:pathLst>
            </a:custGeom>
            <a:noFill/>
            <a:ln w="6200" cap="rnd">
              <a:solidFill>
                <a:srgbClr val="696969"/>
              </a:solidFill>
              <a:round/>
            </a:ln>
          </p:spPr>
        </p:sp>
        <p:sp>
          <p:nvSpPr>
            <p:cNvPr id="52" name="MMConnector"/>
            <p:cNvSpPr/>
            <p:nvPr/>
          </p:nvSpPr>
          <p:spPr>
            <a:xfrm>
              <a:off x="8117980" y="3524447"/>
              <a:ext cx="167400" cy="135470"/>
            </a:xfrm>
            <a:custGeom>
              <a:avLst/>
              <a:gdLst/>
              <a:ahLst/>
              <a:cxnLst/>
              <a:rect l="0" t="0" r="0" b="0"/>
              <a:pathLst>
                <a:path w="167400" h="135470" fill="none">
                  <a:moveTo>
                    <a:pt x="-83700" y="67735"/>
                  </a:moveTo>
                  <a:cubicBezTo>
                    <a:pt x="-1048" y="67735"/>
                    <a:pt x="-3136" y="-67735"/>
                    <a:pt x="83700" y="-67735"/>
                  </a:cubicBezTo>
                </a:path>
              </a:pathLst>
            </a:custGeom>
            <a:noFill/>
            <a:ln w="6200" cap="rnd">
              <a:solidFill>
                <a:srgbClr val="696969"/>
              </a:solidFill>
              <a:round/>
            </a:ln>
          </p:spPr>
        </p:sp>
        <p:sp>
          <p:nvSpPr>
            <p:cNvPr id="53" name="MMConnector"/>
            <p:cNvSpPr/>
            <p:nvPr/>
          </p:nvSpPr>
          <p:spPr>
            <a:xfrm>
              <a:off x="8117980" y="3659917"/>
              <a:ext cx="167400" cy="135470"/>
            </a:xfrm>
            <a:custGeom>
              <a:avLst/>
              <a:gdLst/>
              <a:ahLst/>
              <a:cxnLst/>
              <a:rect l="0" t="0" r="0" b="0"/>
              <a:pathLst>
                <a:path w="167400" h="135470" fill="none">
                  <a:moveTo>
                    <a:pt x="-83700" y="-67735"/>
                  </a:moveTo>
                  <a:cubicBezTo>
                    <a:pt x="-1048" y="-67735"/>
                    <a:pt x="-3136" y="67735"/>
                    <a:pt x="83700" y="67735"/>
                  </a:cubicBezTo>
                </a:path>
              </a:pathLst>
            </a:custGeom>
            <a:noFill/>
            <a:ln w="6200" cap="rnd">
              <a:solidFill>
                <a:srgbClr val="696969"/>
              </a:solidFill>
              <a:round/>
            </a:ln>
          </p:spPr>
        </p:sp>
        <p:sp>
          <p:nvSpPr>
            <p:cNvPr id="54" name="MainIdea"/>
            <p:cNvSpPr/>
            <p:nvPr/>
          </p:nvSpPr>
          <p:spPr>
            <a:xfrm>
              <a:off x="5397" y="2427030"/>
              <a:ext cx="1808503" cy="1015283"/>
            </a:xfrm>
            <a:custGeom>
              <a:avLst/>
              <a:gdLst>
                <a:gd name="rtl" fmla="*/ 293224 w 1655327"/>
                <a:gd name="rtt" fmla="*/ 371825 h 943910"/>
                <a:gd name="rtr" fmla="*/ 1359624 w 1655327"/>
                <a:gd name="rtb" fmla="*/ 565265 h 943910"/>
              </a:gdLst>
              <a:ahLst/>
              <a:cxnLst/>
              <a:rect l="rtl" t="rtt" r="rtr" b="rtb"/>
              <a:pathLst>
                <a:path w="1655327" h="943910">
                  <a:moveTo>
                    <a:pt x="827664" y="0"/>
                  </a:moveTo>
                  <a:lnTo>
                    <a:pt x="1655327" y="471955"/>
                  </a:lnTo>
                  <a:lnTo>
                    <a:pt x="827664" y="943910"/>
                  </a:lnTo>
                  <a:lnTo>
                    <a:pt x="0" y="471955"/>
                  </a:lnTo>
                  <a:lnTo>
                    <a:pt x="827664" y="0"/>
                  </a:lnTo>
                  <a:close/>
                </a:path>
              </a:pathLst>
            </a:custGeom>
            <a:solidFill>
              <a:srgbClr val="435FBC"/>
            </a:solidFill>
            <a:ln w="18600" cap="flat">
              <a:solidFill>
                <a:srgbClr val="435FBC"/>
              </a:solidFill>
              <a:round/>
            </a:ln>
          </p:spPr>
          <p:txBody>
            <a:bodyPr wrap="none" lIns="0" tIns="0" rIns="0" bIns="22500" rtlCol="0" anchor="ctr"/>
            <a:lstStyle/>
            <a:p>
              <a:pPr algn="ctr"/>
              <a:r>
                <a:rPr dirty="0" err="1" smtClean="0">
                  <a:solidFill>
                    <a:srgbClr val="FFFFFF"/>
                  </a:solidFill>
                  <a:latin typeface="微软雅黑"/>
                </a:rPr>
                <a:t>快离子分布函数</a:t>
              </a:r>
              <a:r>
                <a:rPr lang="zh-CN" altLang="en-US" b="1" dirty="0" smtClean="0">
                  <a:solidFill>
                    <a:srgbClr val="FFFFFF"/>
                  </a:solidFill>
                  <a:latin typeface="微软雅黑"/>
                </a:rPr>
                <a:t>的</a:t>
              </a:r>
              <a:endParaRPr lang="en-US" altLang="zh-CN" b="1" dirty="0" smtClean="0">
                <a:solidFill>
                  <a:srgbClr val="FFFFFF"/>
                </a:solidFill>
                <a:latin typeface="微软雅黑"/>
              </a:endParaRPr>
            </a:p>
            <a:p>
              <a:pPr algn="ctr"/>
              <a:r>
                <a:rPr lang="zh-CN" altLang="en-US" b="1" dirty="0" smtClean="0">
                  <a:solidFill>
                    <a:srgbClr val="FFFFFF"/>
                  </a:solidFill>
                  <a:latin typeface="微软雅黑"/>
                </a:rPr>
                <a:t>验证与应用</a:t>
              </a:r>
              <a:endParaRPr b="1" dirty="0">
                <a:solidFill>
                  <a:srgbClr val="FFFFFF"/>
                </a:solidFill>
                <a:latin typeface="微软雅黑"/>
              </a:endParaRPr>
            </a:p>
          </p:txBody>
        </p:sp>
        <p:sp>
          <p:nvSpPr>
            <p:cNvPr id="55" name="MainTopic"/>
            <p:cNvSpPr/>
            <p:nvPr/>
          </p:nvSpPr>
          <p:spPr>
            <a:xfrm>
              <a:off x="2187680" y="2026372"/>
              <a:ext cx="1630600" cy="297600"/>
            </a:xfrm>
            <a:custGeom>
              <a:avLst/>
              <a:gdLst>
                <a:gd name="rtl" fmla="*/ 107260 w 1630600"/>
                <a:gd name="rtt" fmla="*/ 46190 h 297600"/>
                <a:gd name="rtr" fmla="*/ 1520860 w 1630600"/>
                <a:gd name="rtb" fmla="*/ 244590 h 297600"/>
              </a:gdLst>
              <a:ahLst/>
              <a:cxnLst/>
              <a:rect l="rtl" t="rtt" r="rtr" b="rtb"/>
              <a:pathLst>
                <a:path w="1630600" h="297600">
                  <a:moveTo>
                    <a:pt x="0" y="0"/>
                  </a:moveTo>
                  <a:lnTo>
                    <a:pt x="1630600" y="0"/>
                  </a:lnTo>
                  <a:lnTo>
                    <a:pt x="1630600" y="297600"/>
                  </a:lnTo>
                  <a:lnTo>
                    <a:pt x="0" y="297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CF3"/>
            </a:solidFill>
            <a:ln w="6200" cap="flat">
              <a:solidFill>
                <a:srgbClr val="EBECF3"/>
              </a:solidFill>
              <a:round/>
            </a:ln>
          </p:spPr>
          <p:txBody>
            <a:bodyPr wrap="none" lIns="0" tIns="0" rIns="0" bIns="22500" rtlCol="0" anchor="ctr"/>
            <a:lstStyle/>
            <a:p>
              <a:pPr algn="ctr"/>
              <a:r>
                <a:rPr b="1" dirty="0">
                  <a:solidFill>
                    <a:srgbClr val="303030"/>
                  </a:solidFill>
                  <a:latin typeface="微软雅黑"/>
                </a:rPr>
                <a:t>TRANSP/NUBEAM</a:t>
              </a:r>
            </a:p>
          </p:txBody>
        </p:sp>
        <p:sp>
          <p:nvSpPr>
            <p:cNvPr id="56" name="MainTopic"/>
            <p:cNvSpPr/>
            <p:nvPr/>
          </p:nvSpPr>
          <p:spPr>
            <a:xfrm>
              <a:off x="2187680" y="3036972"/>
              <a:ext cx="1204040" cy="297600"/>
            </a:xfrm>
            <a:custGeom>
              <a:avLst/>
              <a:gdLst>
                <a:gd name="rtl" fmla="*/ 107260 w 1204040"/>
                <a:gd name="rtt" fmla="*/ 46190 h 297600"/>
                <a:gd name="rtr" fmla="*/ 1094300 w 1204040"/>
                <a:gd name="rtb" fmla="*/ 244590 h 297600"/>
              </a:gdLst>
              <a:ahLst/>
              <a:cxnLst/>
              <a:rect l="rtl" t="rtt" r="rtr" b="rtb"/>
              <a:pathLst>
                <a:path w="1204040" h="297600">
                  <a:moveTo>
                    <a:pt x="0" y="0"/>
                  </a:moveTo>
                  <a:lnTo>
                    <a:pt x="1204040" y="0"/>
                  </a:lnTo>
                  <a:lnTo>
                    <a:pt x="1204040" y="297600"/>
                  </a:lnTo>
                  <a:lnTo>
                    <a:pt x="0" y="297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CF3"/>
            </a:solidFill>
            <a:ln w="6200" cap="flat">
              <a:solidFill>
                <a:srgbClr val="EBECF3"/>
              </a:solidFill>
              <a:round/>
            </a:ln>
          </p:spPr>
          <p:txBody>
            <a:bodyPr wrap="none" lIns="0" tIns="0" rIns="0" bIns="22500" rtlCol="0" anchor="ctr"/>
            <a:lstStyle/>
            <a:p>
              <a:pPr algn="ctr"/>
              <a:r>
                <a:rPr b="1" dirty="0">
                  <a:solidFill>
                    <a:srgbClr val="303030"/>
                  </a:solidFill>
                  <a:latin typeface="微软雅黑"/>
                </a:rPr>
                <a:t>Tomography</a:t>
              </a:r>
            </a:p>
          </p:txBody>
        </p:sp>
        <p:sp>
          <p:nvSpPr>
            <p:cNvPr id="57" name="SubTopic"/>
            <p:cNvSpPr/>
            <p:nvPr/>
          </p:nvSpPr>
          <p:spPr>
            <a:xfrm>
              <a:off x="3559120" y="2528572"/>
              <a:ext cx="725400" cy="230640"/>
            </a:xfrm>
            <a:custGeom>
              <a:avLst/>
              <a:gdLst>
                <a:gd name="rtl" fmla="*/ 51460 w 725400"/>
                <a:gd name="rtt" fmla="*/ 15190 h 230640"/>
                <a:gd name="rtr" fmla="*/ 671460 w 725400"/>
                <a:gd name="rtb" fmla="*/ 208630 h 230640"/>
              </a:gdLst>
              <a:ahLst/>
              <a:cxnLst/>
              <a:rect l="rtl" t="rtt" r="rtr" b="rtb"/>
              <a:pathLst>
                <a:path w="725400" h="230640">
                  <a:moveTo>
                    <a:pt x="0" y="0"/>
                  </a:moveTo>
                  <a:lnTo>
                    <a:pt x="725400" y="0"/>
                  </a:lnTo>
                  <a:lnTo>
                    <a:pt x="725400" y="230640"/>
                  </a:lnTo>
                  <a:lnTo>
                    <a:pt x="0" y="2306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200" cap="flat">
              <a:solidFill>
                <a:srgbClr val="696969"/>
              </a:solidFill>
              <a:round/>
            </a:ln>
          </p:spPr>
          <p:txBody>
            <a:bodyPr wrap="none" lIns="0" tIns="0" rIns="0" bIns="22500" rtlCol="0" anchor="ctr"/>
            <a:lstStyle/>
            <a:p>
              <a:pPr algn="ctr"/>
              <a:r>
                <a:rPr dirty="0" err="1">
                  <a:solidFill>
                    <a:srgbClr val="454545"/>
                  </a:solidFill>
                  <a:latin typeface="微软雅黑"/>
                </a:rPr>
                <a:t>权重函数</a:t>
              </a:r>
              <a:endParaRPr dirty="0">
                <a:solidFill>
                  <a:srgbClr val="454545"/>
                </a:solidFill>
                <a:latin typeface="微软雅黑"/>
              </a:endParaRPr>
            </a:p>
          </p:txBody>
        </p:sp>
        <p:sp>
          <p:nvSpPr>
            <p:cNvPr id="58" name="SubTopic"/>
            <p:cNvSpPr/>
            <p:nvPr/>
          </p:nvSpPr>
          <p:spPr>
            <a:xfrm>
              <a:off x="3559120" y="3341392"/>
              <a:ext cx="770040" cy="230640"/>
            </a:xfrm>
            <a:custGeom>
              <a:avLst/>
              <a:gdLst>
                <a:gd name="rtl" fmla="*/ 51460 w 770040"/>
                <a:gd name="rtt" fmla="*/ 15190 h 230640"/>
                <a:gd name="rtr" fmla="*/ 716100 w 770040"/>
                <a:gd name="rtb" fmla="*/ 208630 h 230640"/>
              </a:gdLst>
              <a:ahLst/>
              <a:cxnLst/>
              <a:rect l="rtl" t="rtt" r="rtr" b="rtb"/>
              <a:pathLst>
                <a:path w="770040" h="230640">
                  <a:moveTo>
                    <a:pt x="0" y="0"/>
                  </a:moveTo>
                  <a:lnTo>
                    <a:pt x="770040" y="0"/>
                  </a:lnTo>
                  <a:lnTo>
                    <a:pt x="770040" y="230640"/>
                  </a:lnTo>
                  <a:lnTo>
                    <a:pt x="0" y="2306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200" cap="flat">
              <a:solidFill>
                <a:srgbClr val="696969"/>
              </a:solidFill>
              <a:round/>
            </a:ln>
          </p:spPr>
          <p:txBody>
            <a:bodyPr wrap="none" lIns="0" tIns="0" rIns="0" bIns="22500" rtlCol="0" anchor="ctr"/>
            <a:lstStyle/>
            <a:p>
              <a:pPr algn="ctr"/>
              <a:r>
                <a:rPr>
                  <a:solidFill>
                    <a:srgbClr val="454545"/>
                  </a:solidFill>
                  <a:latin typeface="微软雅黑"/>
                </a:rPr>
                <a:t>FIDA诊断</a:t>
              </a:r>
            </a:p>
          </p:txBody>
        </p:sp>
        <p:sp>
          <p:nvSpPr>
            <p:cNvPr id="59" name="SubTopic"/>
            <p:cNvSpPr/>
            <p:nvPr/>
          </p:nvSpPr>
          <p:spPr>
            <a:xfrm>
              <a:off x="4496560" y="3341392"/>
              <a:ext cx="1117240" cy="230640"/>
            </a:xfrm>
            <a:custGeom>
              <a:avLst/>
              <a:gdLst>
                <a:gd name="rtl" fmla="*/ 51460 w 1117240"/>
                <a:gd name="rtt" fmla="*/ 15190 h 230640"/>
                <a:gd name="rtr" fmla="*/ 1063300 w 1117240"/>
                <a:gd name="rtb" fmla="*/ 208630 h 230640"/>
              </a:gdLst>
              <a:ahLst/>
              <a:cxnLst/>
              <a:rect l="rtl" t="rtt" r="rtr" b="rtb"/>
              <a:pathLst>
                <a:path w="1117240" h="230640">
                  <a:moveTo>
                    <a:pt x="0" y="0"/>
                  </a:moveTo>
                  <a:lnTo>
                    <a:pt x="1117240" y="0"/>
                  </a:lnTo>
                  <a:lnTo>
                    <a:pt x="1117240" y="230640"/>
                  </a:lnTo>
                  <a:lnTo>
                    <a:pt x="0" y="2306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200" cap="flat">
              <a:solidFill>
                <a:srgbClr val="696969"/>
              </a:solidFill>
              <a:round/>
            </a:ln>
          </p:spPr>
          <p:txBody>
            <a:bodyPr wrap="none" lIns="0" tIns="0" rIns="0" bIns="22500" rtlCol="0" anchor="ctr"/>
            <a:lstStyle/>
            <a:p>
              <a:pPr algn="ctr"/>
              <a:r>
                <a:rPr>
                  <a:solidFill>
                    <a:srgbClr val="454545"/>
                  </a:solidFill>
                  <a:latin typeface="微软雅黑"/>
                </a:rPr>
                <a:t>O&amp;A&amp;B ports</a:t>
              </a:r>
            </a:p>
          </p:txBody>
        </p:sp>
        <p:sp>
          <p:nvSpPr>
            <p:cNvPr id="60" name="SubTopic"/>
            <p:cNvSpPr/>
            <p:nvPr/>
          </p:nvSpPr>
          <p:spPr>
            <a:xfrm>
              <a:off x="4451920" y="2528572"/>
              <a:ext cx="775432" cy="230640"/>
            </a:xfrm>
            <a:custGeom>
              <a:avLst/>
              <a:gdLst>
                <a:gd name="rtl" fmla="*/ 51460 w 745240"/>
                <a:gd name="rtt" fmla="*/ 15190 h 230640"/>
                <a:gd name="rtr" fmla="*/ 691300 w 745240"/>
                <a:gd name="rtb" fmla="*/ 208630 h 230640"/>
              </a:gdLst>
              <a:ahLst/>
              <a:cxnLst/>
              <a:rect l="rtl" t="rtt" r="rtr" b="rtb"/>
              <a:pathLst>
                <a:path w="745240" h="230640">
                  <a:moveTo>
                    <a:pt x="0" y="0"/>
                  </a:moveTo>
                  <a:lnTo>
                    <a:pt x="745240" y="0"/>
                  </a:lnTo>
                  <a:lnTo>
                    <a:pt x="745240" y="230640"/>
                  </a:lnTo>
                  <a:lnTo>
                    <a:pt x="0" y="2306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200" cap="flat">
              <a:solidFill>
                <a:srgbClr val="696969"/>
              </a:solidFill>
              <a:round/>
            </a:ln>
          </p:spPr>
          <p:txBody>
            <a:bodyPr wrap="none" lIns="0" tIns="0" rIns="0" bIns="22500" rtlCol="0" anchor="ctr"/>
            <a:lstStyle/>
            <a:p>
              <a:pPr algn="ctr"/>
              <a:r>
                <a:rPr dirty="0">
                  <a:solidFill>
                    <a:srgbClr val="454545"/>
                  </a:solidFill>
                  <a:latin typeface="微软雅黑"/>
                </a:rPr>
                <a:t>FIDASIM</a:t>
              </a:r>
            </a:p>
          </p:txBody>
        </p:sp>
        <p:sp>
          <p:nvSpPr>
            <p:cNvPr id="61" name="SubTopic"/>
            <p:cNvSpPr/>
            <p:nvPr/>
          </p:nvSpPr>
          <p:spPr>
            <a:xfrm>
              <a:off x="3559119" y="2799512"/>
              <a:ext cx="2376250" cy="230640"/>
            </a:xfrm>
            <a:custGeom>
              <a:avLst/>
              <a:gdLst>
                <a:gd name="rtl" fmla="*/ 51460 w 2044760"/>
                <a:gd name="rtt" fmla="*/ 15190 h 230640"/>
                <a:gd name="rtr" fmla="*/ 1990820 w 2044760"/>
                <a:gd name="rtb" fmla="*/ 208630 h 230640"/>
              </a:gdLst>
              <a:ahLst/>
              <a:cxnLst/>
              <a:rect l="rtl" t="rtt" r="rtr" b="rtb"/>
              <a:pathLst>
                <a:path w="2044760" h="230640">
                  <a:moveTo>
                    <a:pt x="0" y="0"/>
                  </a:moveTo>
                  <a:lnTo>
                    <a:pt x="2044760" y="0"/>
                  </a:lnTo>
                  <a:lnTo>
                    <a:pt x="2044760" y="230640"/>
                  </a:lnTo>
                  <a:lnTo>
                    <a:pt x="0" y="2306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200" cap="flat">
              <a:solidFill>
                <a:srgbClr val="696969"/>
              </a:solidFill>
              <a:round/>
            </a:ln>
          </p:spPr>
          <p:txBody>
            <a:bodyPr wrap="none" lIns="0" tIns="0" rIns="0" bIns="22500" rtlCol="0" anchor="ctr"/>
            <a:lstStyle/>
            <a:p>
              <a:pPr algn="ctr"/>
              <a:r>
                <a:rPr>
                  <a:solidFill>
                    <a:srgbClr val="454545"/>
                  </a:solidFill>
                  <a:latin typeface="微软雅黑"/>
                </a:rPr>
                <a:t>其他诊断：NPA、CTS、GRS</a:t>
              </a:r>
            </a:p>
          </p:txBody>
        </p:sp>
        <p:sp>
          <p:nvSpPr>
            <p:cNvPr id="62" name="Floating"/>
            <p:cNvSpPr/>
            <p:nvPr/>
          </p:nvSpPr>
          <p:spPr>
            <a:xfrm>
              <a:off x="-11752" y="3795387"/>
              <a:ext cx="1555247" cy="852339"/>
            </a:xfrm>
            <a:custGeom>
              <a:avLst/>
              <a:gdLst>
                <a:gd name="rtl" fmla="*/ 215760 w 1202800"/>
                <a:gd name="rtt" fmla="*/ 239010 h 678280"/>
                <a:gd name="rtr" fmla="*/ 984560 w 1202800"/>
                <a:gd name="rtb" fmla="*/ 432450 h 678280"/>
              </a:gdLst>
              <a:ahLst/>
              <a:cxnLst/>
              <a:rect l="rtl" t="rtt" r="rtr" b="rtb"/>
              <a:pathLst>
                <a:path w="1202800" h="678280">
                  <a:moveTo>
                    <a:pt x="601400" y="0"/>
                  </a:moveTo>
                  <a:lnTo>
                    <a:pt x="1202800" y="339140"/>
                  </a:lnTo>
                  <a:lnTo>
                    <a:pt x="601400" y="678280"/>
                  </a:lnTo>
                  <a:lnTo>
                    <a:pt x="0" y="339140"/>
                  </a:lnTo>
                  <a:lnTo>
                    <a:pt x="601400" y="0"/>
                  </a:lnTo>
                  <a:close/>
                </a:path>
              </a:pathLst>
            </a:custGeom>
            <a:solidFill>
              <a:srgbClr val="F38590"/>
            </a:solidFill>
            <a:ln w="6200" cap="flat">
              <a:solidFill>
                <a:srgbClr val="F38590"/>
              </a:solidFill>
              <a:round/>
            </a:ln>
          </p:spPr>
          <p:txBody>
            <a:bodyPr wrap="none" lIns="0" tIns="0" rIns="0" bIns="22500" rtlCol="0" anchor="ctr"/>
            <a:lstStyle/>
            <a:p>
              <a:pPr algn="ctr"/>
              <a:r>
                <a:rPr b="1" dirty="0" err="1" smtClea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快离子输运</a:t>
              </a:r>
              <a:r>
                <a:rPr lang="zh-CN" altLang="en-US" b="1" dirty="0" smtClea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endParaRPr lang="en-US" altLang="zh-CN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 smtClea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实验研究</a:t>
              </a:r>
              <a:endParaRPr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SubTopic"/>
            <p:cNvSpPr/>
            <p:nvPr/>
          </p:nvSpPr>
          <p:spPr>
            <a:xfrm>
              <a:off x="1711223" y="4102901"/>
              <a:ext cx="2020056" cy="235600"/>
            </a:xfrm>
            <a:custGeom>
              <a:avLst/>
              <a:gdLst>
                <a:gd name="rtl" fmla="*/ 51460 w 1836440"/>
                <a:gd name="rtt" fmla="*/ 15190 h 235600"/>
                <a:gd name="rtr" fmla="*/ 1782500 w 1836440"/>
                <a:gd name="rtb" fmla="*/ 213590 h 235600"/>
              </a:gdLst>
              <a:ahLst/>
              <a:cxnLst/>
              <a:rect l="rtl" t="rtt" r="rtr" b="rtb"/>
              <a:pathLst>
                <a:path w="1836440" h="235600">
                  <a:moveTo>
                    <a:pt x="0" y="0"/>
                  </a:moveTo>
                  <a:lnTo>
                    <a:pt x="1836440" y="0"/>
                  </a:lnTo>
                  <a:lnTo>
                    <a:pt x="1836440" y="235600"/>
                  </a:lnTo>
                  <a:lnTo>
                    <a:pt x="0" y="23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 w="6200" cap="flat">
              <a:noFill/>
              <a:round/>
            </a:ln>
          </p:spPr>
          <p:txBody>
            <a:bodyPr wrap="none" lIns="0" tIns="0" rIns="0" bIns="22500" rtlCol="0" anchor="ctr"/>
            <a:lstStyle/>
            <a:p>
              <a:pPr algn="ctr"/>
              <a:r>
                <a:rPr b="1" dirty="0" err="1">
                  <a:solidFill>
                    <a:srgbClr val="454545"/>
                  </a:solidFill>
                  <a:latin typeface="微软雅黑"/>
                </a:rPr>
                <a:t>结合FIDA</a:t>
              </a:r>
              <a:r>
                <a:rPr b="1" dirty="0" err="1" smtClean="0">
                  <a:solidFill>
                    <a:srgbClr val="454545"/>
                  </a:solidFill>
                  <a:latin typeface="微软雅黑"/>
                </a:rPr>
                <a:t>诊断的</a:t>
              </a:r>
              <a:r>
                <a:rPr lang="zh-CN" altLang="en-US" b="1" dirty="0" smtClean="0">
                  <a:solidFill>
                    <a:srgbClr val="45454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相关实验</a:t>
              </a:r>
              <a:endParaRPr b="1" dirty="0">
                <a:solidFill>
                  <a:srgbClr val="45454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SubTopic"/>
            <p:cNvSpPr/>
            <p:nvPr/>
          </p:nvSpPr>
          <p:spPr>
            <a:xfrm>
              <a:off x="3901493" y="4110860"/>
              <a:ext cx="2595866" cy="230640"/>
            </a:xfrm>
            <a:custGeom>
              <a:avLst/>
              <a:gdLst>
                <a:gd name="rtl" fmla="*/ 51460 w 2362200"/>
                <a:gd name="rtt" fmla="*/ 15190 h 230640"/>
                <a:gd name="rtr" fmla="*/ 2308260 w 2362200"/>
                <a:gd name="rtb" fmla="*/ 208630 h 230640"/>
              </a:gdLst>
              <a:ahLst/>
              <a:cxnLst/>
              <a:rect l="rtl" t="rtt" r="rtr" b="rtb"/>
              <a:pathLst>
                <a:path w="2362200" h="230640">
                  <a:moveTo>
                    <a:pt x="0" y="0"/>
                  </a:moveTo>
                  <a:lnTo>
                    <a:pt x="2362200" y="0"/>
                  </a:lnTo>
                  <a:lnTo>
                    <a:pt x="2362200" y="230640"/>
                  </a:lnTo>
                  <a:lnTo>
                    <a:pt x="0" y="2306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200" cap="flat">
              <a:solidFill>
                <a:srgbClr val="696969"/>
              </a:solidFill>
              <a:round/>
            </a:ln>
          </p:spPr>
          <p:txBody>
            <a:bodyPr wrap="none" lIns="0" tIns="0" rIns="0" bIns="22500" rtlCol="0" anchor="ctr"/>
            <a:lstStyle/>
            <a:p>
              <a:pPr algn="ctr">
                <a:lnSpc>
                  <a:spcPct val="100000"/>
                </a:lnSpc>
              </a:pPr>
              <a:r>
                <a:rPr dirty="0" err="1">
                  <a:solidFill>
                    <a:srgbClr val="454545"/>
                  </a:solidFill>
                  <a:latin typeface="微软雅黑"/>
                </a:rPr>
                <a:t>快离子密度分布、压强、电流密度</a:t>
              </a:r>
              <a:endParaRPr dirty="0">
                <a:solidFill>
                  <a:srgbClr val="454545"/>
                </a:solidFill>
                <a:latin typeface="微软雅黑"/>
              </a:endParaRPr>
            </a:p>
          </p:txBody>
        </p:sp>
        <p:sp>
          <p:nvSpPr>
            <p:cNvPr id="65" name="SubTopic"/>
            <p:cNvSpPr/>
            <p:nvPr/>
          </p:nvSpPr>
          <p:spPr>
            <a:xfrm>
              <a:off x="5781200" y="3070452"/>
              <a:ext cx="908920" cy="230640"/>
            </a:xfrm>
            <a:custGeom>
              <a:avLst/>
              <a:gdLst>
                <a:gd name="rtl" fmla="*/ 51460 w 908920"/>
                <a:gd name="rtt" fmla="*/ 15190 h 230640"/>
                <a:gd name="rtr" fmla="*/ 854980 w 908920"/>
                <a:gd name="rtb" fmla="*/ 208630 h 230640"/>
              </a:gdLst>
              <a:ahLst/>
              <a:cxnLst/>
              <a:rect l="rtl" t="rtt" r="rtr" b="rtb"/>
              <a:pathLst>
                <a:path w="908920" h="230640">
                  <a:moveTo>
                    <a:pt x="0" y="0"/>
                  </a:moveTo>
                  <a:lnTo>
                    <a:pt x="908920" y="0"/>
                  </a:lnTo>
                  <a:lnTo>
                    <a:pt x="908920" y="230640"/>
                  </a:lnTo>
                  <a:lnTo>
                    <a:pt x="0" y="2306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200" cap="flat">
              <a:solidFill>
                <a:srgbClr val="696969"/>
              </a:solidFill>
              <a:round/>
            </a:ln>
          </p:spPr>
          <p:txBody>
            <a:bodyPr wrap="none" lIns="0" tIns="0" rIns="0" bIns="22500" rtlCol="0" anchor="ctr"/>
            <a:lstStyle/>
            <a:p>
              <a:pPr algn="ctr"/>
              <a:r>
                <a:rPr dirty="0">
                  <a:solidFill>
                    <a:srgbClr val="454545"/>
                  </a:solidFill>
                  <a:latin typeface="微软雅黑"/>
                </a:rPr>
                <a:t>Active </a:t>
              </a:r>
              <a:r>
                <a:rPr dirty="0" err="1">
                  <a:solidFill>
                    <a:srgbClr val="454545"/>
                  </a:solidFill>
                  <a:latin typeface="微软雅黑"/>
                </a:rPr>
                <a:t>Fida</a:t>
              </a:r>
              <a:endParaRPr dirty="0">
                <a:solidFill>
                  <a:srgbClr val="454545"/>
                </a:solidFill>
                <a:latin typeface="微软雅黑"/>
              </a:endParaRPr>
            </a:p>
          </p:txBody>
        </p:sp>
        <p:sp>
          <p:nvSpPr>
            <p:cNvPr id="66" name="SubTopic"/>
            <p:cNvSpPr/>
            <p:nvPr/>
          </p:nvSpPr>
          <p:spPr>
            <a:xfrm>
              <a:off x="5781200" y="3476862"/>
              <a:ext cx="988280" cy="230640"/>
            </a:xfrm>
            <a:custGeom>
              <a:avLst/>
              <a:gdLst>
                <a:gd name="rtl" fmla="*/ 51460 w 988280"/>
                <a:gd name="rtt" fmla="*/ 15190 h 230640"/>
                <a:gd name="rtr" fmla="*/ 934340 w 988280"/>
                <a:gd name="rtb" fmla="*/ 208630 h 230640"/>
              </a:gdLst>
              <a:ahLst/>
              <a:cxnLst/>
              <a:rect l="rtl" t="rtt" r="rtr" b="rtb"/>
              <a:pathLst>
                <a:path w="988280" h="230640">
                  <a:moveTo>
                    <a:pt x="0" y="0"/>
                  </a:moveTo>
                  <a:lnTo>
                    <a:pt x="988280" y="0"/>
                  </a:lnTo>
                  <a:lnTo>
                    <a:pt x="988280" y="230640"/>
                  </a:lnTo>
                  <a:lnTo>
                    <a:pt x="0" y="2306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200" cap="flat">
              <a:solidFill>
                <a:srgbClr val="696969"/>
              </a:solidFill>
              <a:round/>
            </a:ln>
          </p:spPr>
          <p:txBody>
            <a:bodyPr wrap="none" lIns="0" tIns="0" rIns="0" bIns="22500" rtlCol="0" anchor="ctr"/>
            <a:lstStyle/>
            <a:p>
              <a:pPr algn="ctr"/>
              <a:r>
                <a:rPr>
                  <a:solidFill>
                    <a:srgbClr val="454545"/>
                  </a:solidFill>
                  <a:latin typeface="微软雅黑"/>
                </a:rPr>
                <a:t>Passive Fida</a:t>
              </a:r>
            </a:p>
          </p:txBody>
        </p:sp>
        <p:sp>
          <p:nvSpPr>
            <p:cNvPr id="67" name="SubTopic"/>
            <p:cNvSpPr/>
            <p:nvPr/>
          </p:nvSpPr>
          <p:spPr>
            <a:xfrm>
              <a:off x="8201680" y="3341392"/>
              <a:ext cx="874200" cy="230640"/>
            </a:xfrm>
            <a:custGeom>
              <a:avLst/>
              <a:gdLst>
                <a:gd name="rtl" fmla="*/ 51460 w 725400"/>
                <a:gd name="rtt" fmla="*/ 15190 h 230640"/>
                <a:gd name="rtr" fmla="*/ 671460 w 725400"/>
                <a:gd name="rtb" fmla="*/ 208630 h 230640"/>
              </a:gdLst>
              <a:ahLst/>
              <a:cxnLst/>
              <a:rect l="rtl" t="rtt" r="rtr" b="rtb"/>
              <a:pathLst>
                <a:path w="725400" h="230640">
                  <a:moveTo>
                    <a:pt x="0" y="0"/>
                  </a:moveTo>
                  <a:lnTo>
                    <a:pt x="725400" y="0"/>
                  </a:lnTo>
                  <a:lnTo>
                    <a:pt x="725400" y="230640"/>
                  </a:lnTo>
                  <a:lnTo>
                    <a:pt x="0" y="2306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200" cap="flat">
              <a:solidFill>
                <a:srgbClr val="696969"/>
              </a:solidFill>
              <a:round/>
            </a:ln>
          </p:spPr>
          <p:txBody>
            <a:bodyPr wrap="none" lIns="0" tIns="0" rIns="0" bIns="22500" rtlCol="0" anchor="ctr"/>
            <a:lstStyle/>
            <a:p>
              <a:pPr algn="ctr"/>
              <a:r>
                <a:rPr dirty="0" err="1">
                  <a:latin typeface="微软雅黑"/>
                </a:rPr>
                <a:t>不稳定性</a:t>
              </a:r>
              <a:endParaRPr dirty="0">
                <a:latin typeface="微软雅黑"/>
              </a:endParaRPr>
            </a:p>
          </p:txBody>
        </p:sp>
        <p:sp>
          <p:nvSpPr>
            <p:cNvPr id="68" name="SubTopic"/>
            <p:cNvSpPr/>
            <p:nvPr/>
          </p:nvSpPr>
          <p:spPr>
            <a:xfrm>
              <a:off x="8201680" y="3612332"/>
              <a:ext cx="874200" cy="230640"/>
            </a:xfrm>
            <a:custGeom>
              <a:avLst/>
              <a:gdLst>
                <a:gd name="rtl" fmla="*/ 51460 w 874200"/>
                <a:gd name="rtt" fmla="*/ 15190 h 230640"/>
                <a:gd name="rtr" fmla="*/ 820260 w 874200"/>
                <a:gd name="rtb" fmla="*/ 208630 h 230640"/>
              </a:gdLst>
              <a:ahLst/>
              <a:cxnLst/>
              <a:rect l="rtl" t="rtt" r="rtr" b="rtb"/>
              <a:pathLst>
                <a:path w="874200" h="230640">
                  <a:moveTo>
                    <a:pt x="0" y="0"/>
                  </a:moveTo>
                  <a:lnTo>
                    <a:pt x="874200" y="0"/>
                  </a:lnTo>
                  <a:lnTo>
                    <a:pt x="874200" y="230640"/>
                  </a:lnTo>
                  <a:lnTo>
                    <a:pt x="0" y="2306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200" cap="flat">
              <a:solidFill>
                <a:srgbClr val="696969"/>
              </a:solidFill>
              <a:round/>
            </a:ln>
          </p:spPr>
          <p:txBody>
            <a:bodyPr wrap="none" lIns="0" tIns="0" rIns="0" bIns="22500" rtlCol="0" anchor="ctr"/>
            <a:lstStyle/>
            <a:p>
              <a:pPr algn="ctr"/>
              <a:r>
                <a:rPr>
                  <a:solidFill>
                    <a:srgbClr val="454545"/>
                  </a:solidFill>
                  <a:latin typeface="微软雅黑"/>
                </a:rPr>
                <a:t>快离子损失</a:t>
              </a:r>
            </a:p>
          </p:txBody>
        </p:sp>
        <p:sp>
          <p:nvSpPr>
            <p:cNvPr id="69" name="SubTopic"/>
            <p:cNvSpPr/>
            <p:nvPr/>
          </p:nvSpPr>
          <p:spPr>
            <a:xfrm>
              <a:off x="6857520" y="3077892"/>
              <a:ext cx="1161881" cy="215760"/>
            </a:xfrm>
            <a:custGeom>
              <a:avLst/>
              <a:gdLst>
                <a:gd name="rtl" fmla="*/ 51460 w 1032920"/>
                <a:gd name="rtt" fmla="*/ 15190 h 215760"/>
                <a:gd name="rtr" fmla="*/ 978980 w 1032920"/>
                <a:gd name="rtb" fmla="*/ 193750 h 215760"/>
              </a:gdLst>
              <a:ahLst/>
              <a:cxnLst/>
              <a:rect l="rtl" t="rtt" r="rtr" b="rtb"/>
              <a:pathLst>
                <a:path w="1032920" h="215760">
                  <a:moveTo>
                    <a:pt x="0" y="0"/>
                  </a:moveTo>
                  <a:lnTo>
                    <a:pt x="1032920" y="0"/>
                  </a:lnTo>
                  <a:lnTo>
                    <a:pt x="1032920" y="215760"/>
                  </a:lnTo>
                  <a:lnTo>
                    <a:pt x="0" y="21576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200" cap="flat">
              <a:solidFill>
                <a:srgbClr val="696969"/>
              </a:solidFill>
              <a:round/>
            </a:ln>
          </p:spPr>
          <p:txBody>
            <a:bodyPr wrap="none" lIns="0" tIns="0" rIns="0" bIns="22500" rtlCol="0" anchor="ctr"/>
            <a:lstStyle/>
            <a:p>
              <a:pPr algn="ctr"/>
              <a:r>
                <a:rPr dirty="0">
                  <a:solidFill>
                    <a:srgbClr val="454545"/>
                  </a:solidFill>
                  <a:latin typeface="微软雅黑"/>
                </a:rPr>
                <a:t>FIDASIM/SOS</a:t>
              </a:r>
            </a:p>
          </p:txBody>
        </p:sp>
        <p:sp>
          <p:nvSpPr>
            <p:cNvPr id="70" name="SubTopic"/>
            <p:cNvSpPr/>
            <p:nvPr/>
          </p:nvSpPr>
          <p:spPr>
            <a:xfrm>
              <a:off x="6859381" y="3476862"/>
              <a:ext cx="1174899" cy="230640"/>
            </a:xfrm>
            <a:custGeom>
              <a:avLst/>
              <a:gdLst>
                <a:gd name="rtl" fmla="*/ 51460 w 1097400"/>
                <a:gd name="rtt" fmla="*/ 15190 h 230640"/>
                <a:gd name="rtr" fmla="*/ 1043460 w 1097400"/>
                <a:gd name="rtb" fmla="*/ 208630 h 230640"/>
              </a:gdLst>
              <a:ahLst/>
              <a:cxnLst/>
              <a:rect l="rtl" t="rtt" r="rtr" b="rtb"/>
              <a:pathLst>
                <a:path w="1097400" h="230640">
                  <a:moveTo>
                    <a:pt x="0" y="0"/>
                  </a:moveTo>
                  <a:lnTo>
                    <a:pt x="1097400" y="0"/>
                  </a:lnTo>
                  <a:lnTo>
                    <a:pt x="1097400" y="230640"/>
                  </a:lnTo>
                  <a:lnTo>
                    <a:pt x="0" y="2306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200" cap="flat">
              <a:solidFill>
                <a:srgbClr val="696969"/>
              </a:solidFill>
              <a:round/>
            </a:ln>
          </p:spPr>
          <p:txBody>
            <a:bodyPr wrap="none" lIns="0" tIns="0" rIns="0" bIns="22500" rtlCol="0" anchor="ctr"/>
            <a:lstStyle/>
            <a:p>
              <a:pPr algn="ctr"/>
              <a:r>
                <a:rPr dirty="0">
                  <a:solidFill>
                    <a:srgbClr val="454545"/>
                  </a:solidFill>
                  <a:latin typeface="微软雅黑"/>
                </a:rPr>
                <a:t>FIDASIM/SOS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160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56626" y="159309"/>
            <a:ext cx="5016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报告纲要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73802" y="1184884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选题依据及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国内外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现状和发展趋势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思路及研究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研究方法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工作基础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工作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进度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安排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208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515727" y="1837008"/>
            <a:ext cx="4805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b="1" dirty="0" smtClean="0"/>
              <a:t>Velocity-space tomography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103006" y="1387419"/>
            <a:ext cx="836549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 smtClean="0"/>
              <a:t>基于FIDA诊断实验数据的</a:t>
            </a:r>
            <a:r>
              <a:rPr lang="en-US" altLang="zh-CN" sz="2000" b="1" dirty="0">
                <a:sym typeface="+mn-ea"/>
              </a:rPr>
              <a:t>tomography</a:t>
            </a:r>
            <a:r>
              <a:rPr lang="zh-CN" altLang="en-US" sz="2000" b="1" dirty="0">
                <a:sym typeface="+mn-ea"/>
              </a:rPr>
              <a:t>方法可行性的</a:t>
            </a:r>
            <a:r>
              <a:rPr lang="zh-CN" altLang="en-US" sz="2000" b="1" dirty="0" smtClean="0">
                <a:sym typeface="+mn-ea"/>
              </a:rPr>
              <a:t>验证</a:t>
            </a:r>
            <a:endParaRPr lang="zh-CN" altLang="en-US" sz="2000" b="1" dirty="0">
              <a:sym typeface="+mn-ea"/>
            </a:endParaRPr>
          </a:p>
        </p:txBody>
      </p:sp>
      <p:sp>
        <p:nvSpPr>
          <p:cNvPr id="11" name="标题 2"/>
          <p:cNvSpPr>
            <a:spLocks noGrp="1"/>
          </p:cNvSpPr>
          <p:nvPr>
            <p:ph type="title"/>
          </p:nvPr>
        </p:nvSpPr>
        <p:spPr>
          <a:xfrm>
            <a:off x="0" y="194391"/>
            <a:ext cx="11961628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pic>
        <p:nvPicPr>
          <p:cNvPr id="9" name="图片 8" descr="触发图"/>
          <p:cNvPicPr>
            <a:picLocks noChangeAspect="1"/>
          </p:cNvPicPr>
          <p:nvPr/>
        </p:nvPicPr>
        <p:blipFill>
          <a:blip r:embed="rId2"/>
          <a:srcRect r="26682" b="1168"/>
          <a:stretch>
            <a:fillRect/>
          </a:stretch>
        </p:blipFill>
        <p:spPr>
          <a:xfrm>
            <a:off x="142044" y="2364615"/>
            <a:ext cx="4859565" cy="37371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643" y="2206340"/>
            <a:ext cx="6870357" cy="207598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248" y="4282328"/>
            <a:ext cx="3346880" cy="2690211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8323733" y="4233170"/>
            <a:ext cx="3851277" cy="2589365"/>
            <a:chOff x="8202300" y="4171469"/>
            <a:chExt cx="3622273" cy="264222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52339" y="4202790"/>
              <a:ext cx="3072234" cy="2610908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8202300" y="4171469"/>
              <a:ext cx="1148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(A&amp;O)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412575" y="6200229"/>
            <a:ext cx="3873176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【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J. Zhang, </a:t>
            </a:r>
            <a:r>
              <a:rPr lang="it-IT" altLang="zh-CN" sz="1600" dirty="0" smtClean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+mn-ea"/>
              </a:rPr>
              <a:t>et al., RSI 8</a:t>
            </a:r>
            <a:r>
              <a:rPr lang="en-US" altLang="it-IT" sz="1600" dirty="0" smtClean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+mn-ea"/>
              </a:rPr>
              <a:t>9</a:t>
            </a:r>
            <a:r>
              <a:rPr lang="it-IT" altLang="zh-CN" sz="1600" dirty="0" smtClean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+mn-ea"/>
              </a:rPr>
              <a:t>, 10D121 (201</a:t>
            </a:r>
            <a:r>
              <a:rPr lang="en-US" altLang="it-IT" sz="1600" dirty="0" smtClean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+mn-ea"/>
              </a:rPr>
              <a:t>8</a:t>
            </a:r>
            <a:r>
              <a:rPr lang="it-IT" altLang="zh-CN" sz="1600" dirty="0" smtClean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en-US" altLang="zh-CN" sz="1600" dirty="0" smtClean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+mn-ea"/>
              </a:rPr>
              <a:t>】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9684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03006" y="868128"/>
            <a:ext cx="836549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n"/>
            </a:pPr>
            <a:r>
              <a:rPr lang="en-US" altLang="zh-CN" sz="2000" b="1" smtClean="0"/>
              <a:t>FIDA</a:t>
            </a:r>
            <a:r>
              <a:rPr lang="zh-CN" altLang="en-US" sz="2000" b="1" dirty="0"/>
              <a:t>诊断及相关升级改造</a:t>
            </a:r>
            <a:endParaRPr lang="zh-CN" altLang="en-US" sz="2000" b="1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270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76666" y="945361"/>
            <a:ext cx="836549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 smtClean="0"/>
              <a:t>基于</a:t>
            </a:r>
            <a:r>
              <a:rPr lang="zh-CN" altLang="en-US" sz="2000" b="1" dirty="0"/>
              <a:t>正反电流</a:t>
            </a:r>
            <a:r>
              <a:rPr lang="zh-CN" altLang="en-US" sz="2000" b="1" dirty="0" smtClean="0"/>
              <a:t>实验数据，重建快离子分布函数</a:t>
            </a:r>
            <a:endParaRPr lang="zh-CN" altLang="en-US" sz="2000" b="1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0504" y="1334189"/>
            <a:ext cx="255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Shot# 94758 </a:t>
            </a:r>
            <a:r>
              <a:rPr lang="en-US" altLang="zh-CN" b="1" dirty="0" err="1" smtClean="0"/>
              <a:t>ctr-Ip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711200" y="1703521"/>
            <a:ext cx="9691802" cy="4235960"/>
            <a:chOff x="519424" y="1704073"/>
            <a:chExt cx="9685859" cy="462855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424" y="1704073"/>
              <a:ext cx="9685859" cy="1973751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424" y="4153118"/>
              <a:ext cx="9655377" cy="2179509"/>
            </a:xfrm>
            <a:prstGeom prst="rect">
              <a:avLst/>
            </a:prstGeom>
          </p:spPr>
        </p:pic>
      </p:grpSp>
      <p:sp>
        <p:nvSpPr>
          <p:cNvPr id="9" name="标题 2"/>
          <p:cNvSpPr txBox="1">
            <a:spLocks/>
          </p:cNvSpPr>
          <p:nvPr/>
        </p:nvSpPr>
        <p:spPr>
          <a:xfrm>
            <a:off x="0" y="169764"/>
            <a:ext cx="12192000" cy="5909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chemeClr val="accent1">
                  <a:lumMod val="75000"/>
                </a:schemeClr>
              </a:buClr>
            </a:pP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工作基础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76576" y="6131113"/>
            <a:ext cx="7038848" cy="40011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下一步研究不同实验条件下以及</a:t>
            </a:r>
            <a:r>
              <a:rPr lang="en-US" altLang="zh-CN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EAST</a:t>
            </a:r>
            <a:r>
              <a:rPr lang="zh-CN" alt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升级后快离子分布行为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50504" y="3513197"/>
            <a:ext cx="255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Shot# 94820 co-</a:t>
            </a:r>
            <a:r>
              <a:rPr lang="en-US" altLang="zh-CN" b="1" dirty="0" err="1" smtClean="0"/>
              <a:t>Ip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10681715" y="2543701"/>
            <a:ext cx="12708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针对反向束，不同电流方向引起的快离子分布行为的差异，正在分析中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101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56626" y="159309"/>
            <a:ext cx="5016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报告纲要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73802" y="1184884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选题依据及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国内外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现状和发展趋势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思路及研究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研究方法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工作基础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工作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安排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24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546" y="192789"/>
            <a:ext cx="121975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工作进度安排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-2371" y="841009"/>
            <a:ext cx="5413856" cy="1990982"/>
            <a:chOff x="6350" y="1244010"/>
            <a:chExt cx="5413856" cy="1990982"/>
          </a:xfrm>
        </p:grpSpPr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CB7FCEBA-4A76-4244-AF63-9B657D04D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0" y="1244010"/>
              <a:ext cx="2168525" cy="1060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US" altLang="zh-CN" sz="3200"/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2F070C3D-5FA5-420C-9C23-F4892060512E}"/>
                </a:ext>
              </a:extLst>
            </p:cNvPr>
            <p:cNvSpPr/>
            <p:nvPr/>
          </p:nvSpPr>
          <p:spPr bwMode="auto">
            <a:xfrm>
              <a:off x="2178050" y="1244010"/>
              <a:ext cx="1339850" cy="1979612"/>
            </a:xfrm>
            <a:custGeom>
              <a:avLst/>
              <a:gdLst>
                <a:gd name="T0" fmla="*/ 0 w 633"/>
                <a:gd name="T1" fmla="*/ 0 h 1210"/>
                <a:gd name="T2" fmla="*/ 0 w 633"/>
                <a:gd name="T3" fmla="*/ 648 h 1210"/>
                <a:gd name="T4" fmla="*/ 628 w 633"/>
                <a:gd name="T5" fmla="*/ 1210 h 1210"/>
                <a:gd name="T6" fmla="*/ 633 w 633"/>
                <a:gd name="T7" fmla="*/ 1002 h 1210"/>
                <a:gd name="T8" fmla="*/ 0 w 633"/>
                <a:gd name="T9" fmla="*/ 0 h 1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3" h="1210">
                  <a:moveTo>
                    <a:pt x="0" y="0"/>
                  </a:moveTo>
                  <a:lnTo>
                    <a:pt x="0" y="648"/>
                  </a:lnTo>
                  <a:lnTo>
                    <a:pt x="628" y="1210"/>
                  </a:lnTo>
                  <a:lnTo>
                    <a:pt x="633" y="1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121920" tIns="60960" rIns="121920" bIns="6096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200">
                <a:latin typeface="+mn-lt"/>
              </a:endParaRPr>
            </a:p>
          </p:txBody>
        </p:sp>
        <p:sp>
          <p:nvSpPr>
            <p:cNvPr id="34" name="Rectangle 17">
              <a:extLst>
                <a:ext uri="{FF2B5EF4-FFF2-40B4-BE49-F238E27FC236}">
                  <a16:creationId xmlns:a16="http://schemas.microsoft.com/office/drawing/2014/main" id="{12799B79-6F86-40F1-B183-2789D18A1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6788" y="2874372"/>
              <a:ext cx="930275" cy="36036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US" altLang="zh-CN" sz="3200"/>
            </a:p>
          </p:txBody>
        </p:sp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E1F17B03-96E5-4E28-A8E6-58BED04EF781}"/>
                </a:ext>
              </a:extLst>
            </p:cNvPr>
            <p:cNvGrpSpPr/>
            <p:nvPr/>
          </p:nvGrpSpPr>
          <p:grpSpPr bwMode="auto">
            <a:xfrm>
              <a:off x="4421578" y="2874957"/>
              <a:ext cx="998628" cy="360035"/>
              <a:chOff x="4799915" y="2191690"/>
              <a:chExt cx="678068" cy="244397"/>
            </a:xfrm>
            <a:solidFill>
              <a:schemeClr val="accent1"/>
            </a:solidFill>
          </p:grpSpPr>
          <p:sp>
            <p:nvSpPr>
              <p:cNvPr id="17" name="公众号：陈西设计之家。微信搜索即可">
                <a:extLst>
                  <a:ext uri="{FF2B5EF4-FFF2-40B4-BE49-F238E27FC236}">
                    <a16:creationId xmlns:a16="http://schemas.microsoft.com/office/drawing/2014/main" id="{1C7A9122-A7F8-4B96-AB3C-D38B0FBFE515}"/>
                  </a:ext>
                </a:extLst>
              </p:cNvPr>
              <p:cNvSpPr/>
              <p:nvPr/>
            </p:nvSpPr>
            <p:spPr>
              <a:xfrm>
                <a:off x="5257800" y="2191690"/>
                <a:ext cx="220183" cy="244397"/>
              </a:xfrm>
              <a:prstGeom prst="flowChartDelay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Lato" pitchFamily="34" charset="0"/>
                </a:endParaRPr>
              </a:p>
            </p:txBody>
          </p:sp>
          <p:sp>
            <p:nvSpPr>
              <p:cNvPr id="18" name="Rectangle 21">
                <a:extLst>
                  <a:ext uri="{FF2B5EF4-FFF2-40B4-BE49-F238E27FC236}">
                    <a16:creationId xmlns:a16="http://schemas.microsoft.com/office/drawing/2014/main" id="{F2687150-5AA5-4F91-A0E0-E7EC331A4FD8}"/>
                  </a:ext>
                </a:extLst>
              </p:cNvPr>
              <p:cNvSpPr/>
              <p:nvPr/>
            </p:nvSpPr>
            <p:spPr>
              <a:xfrm>
                <a:off x="4799915" y="2191690"/>
                <a:ext cx="457885" cy="244397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Lato" pitchFamily="34" charset="0"/>
                </a:endParaRPr>
              </a:p>
            </p:txBody>
          </p:sp>
        </p:grpSp>
        <p:sp>
          <p:nvSpPr>
            <p:cNvPr id="3" name="矩形 2"/>
            <p:cNvSpPr/>
            <p:nvPr/>
          </p:nvSpPr>
          <p:spPr>
            <a:xfrm>
              <a:off x="124673" y="1589569"/>
              <a:ext cx="201208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2019.09-2020.06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-2371" y="2479748"/>
            <a:ext cx="6039693" cy="1102557"/>
            <a:chOff x="13445" y="2510219"/>
            <a:chExt cx="6039693" cy="1102557"/>
          </a:xfrm>
        </p:grpSpPr>
        <p:grpSp>
          <p:nvGrpSpPr>
            <p:cNvPr id="20" name="Group 23">
              <a:extLst>
                <a:ext uri="{FF2B5EF4-FFF2-40B4-BE49-F238E27FC236}">
                  <a16:creationId xmlns:a16="http://schemas.microsoft.com/office/drawing/2014/main" id="{38F91A72-10EC-4EF5-A0D9-D80F393FD733}"/>
                </a:ext>
              </a:extLst>
            </p:cNvPr>
            <p:cNvGrpSpPr/>
            <p:nvPr/>
          </p:nvGrpSpPr>
          <p:grpSpPr bwMode="auto">
            <a:xfrm>
              <a:off x="13445" y="2510219"/>
              <a:ext cx="4426825" cy="1102557"/>
              <a:chOff x="3481042" y="1813984"/>
              <a:chExt cx="4427613" cy="1494370"/>
            </a:xfrm>
          </p:grpSpPr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4052873E-D7FD-4BAF-A4D0-1B762471C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1042" y="1813984"/>
                <a:ext cx="2168343" cy="1371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zh-CN" sz="3200"/>
              </a:p>
            </p:txBody>
          </p:sp>
          <p:sp>
            <p:nvSpPr>
              <p:cNvPr id="30" name="Freeform 19">
                <a:extLst>
                  <a:ext uri="{FF2B5EF4-FFF2-40B4-BE49-F238E27FC236}">
                    <a16:creationId xmlns:a16="http://schemas.microsoft.com/office/drawing/2014/main" id="{C0581FAC-D952-4ED1-952A-D34B0F2CFD5F}"/>
                  </a:ext>
                </a:extLst>
              </p:cNvPr>
              <p:cNvSpPr/>
              <p:nvPr/>
            </p:nvSpPr>
            <p:spPr bwMode="auto">
              <a:xfrm>
                <a:off x="5646032" y="1814819"/>
                <a:ext cx="1328975" cy="1493242"/>
              </a:xfrm>
              <a:custGeom>
                <a:avLst/>
                <a:gdLst>
                  <a:gd name="T0" fmla="*/ 0 w 628"/>
                  <a:gd name="T1" fmla="*/ 648 h 706"/>
                  <a:gd name="T2" fmla="*/ 0 w 628"/>
                  <a:gd name="T3" fmla="*/ 0 h 706"/>
                  <a:gd name="T4" fmla="*/ 628 w 628"/>
                  <a:gd name="T5" fmla="*/ 504 h 706"/>
                  <a:gd name="T6" fmla="*/ 628 w 628"/>
                  <a:gd name="T7" fmla="*/ 706 h 706"/>
                  <a:gd name="T8" fmla="*/ 0 w 628"/>
                  <a:gd name="T9" fmla="*/ 648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8" h="706">
                    <a:moveTo>
                      <a:pt x="0" y="648"/>
                    </a:moveTo>
                    <a:lnTo>
                      <a:pt x="0" y="0"/>
                    </a:lnTo>
                    <a:lnTo>
                      <a:pt x="628" y="504"/>
                    </a:lnTo>
                    <a:lnTo>
                      <a:pt x="628" y="706"/>
                    </a:lnTo>
                    <a:lnTo>
                      <a:pt x="0" y="648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>
                  <a:latin typeface="+mn-lt"/>
                </a:endParaRPr>
              </a:p>
            </p:txBody>
          </p:sp>
          <p:sp>
            <p:nvSpPr>
              <p:cNvPr id="31" name="Rectangle 20">
                <a:extLst>
                  <a:ext uri="{FF2B5EF4-FFF2-40B4-BE49-F238E27FC236}">
                    <a16:creationId xmlns:a16="http://schemas.microsoft.com/office/drawing/2014/main" id="{2318B668-156E-49F8-93B6-40F57C8C2A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8067" y="2871947"/>
                <a:ext cx="940588" cy="436407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zh-CN" sz="3200"/>
              </a:p>
            </p:txBody>
          </p:sp>
        </p:grpSp>
        <p:grpSp>
          <p:nvGrpSpPr>
            <p:cNvPr id="8" name="Group 11">
              <a:extLst>
                <a:ext uri="{FF2B5EF4-FFF2-40B4-BE49-F238E27FC236}">
                  <a16:creationId xmlns:a16="http://schemas.microsoft.com/office/drawing/2014/main" id="{3B672134-0B0A-4884-ABB1-BF2321123374}"/>
                </a:ext>
              </a:extLst>
            </p:cNvPr>
            <p:cNvGrpSpPr/>
            <p:nvPr/>
          </p:nvGrpSpPr>
          <p:grpSpPr bwMode="auto">
            <a:xfrm>
              <a:off x="4421577" y="3290792"/>
              <a:ext cx="1631561" cy="321983"/>
              <a:chOff x="4346806" y="2217520"/>
              <a:chExt cx="1107829" cy="218567"/>
            </a:xfrm>
            <a:solidFill>
              <a:schemeClr val="accent2"/>
            </a:solidFill>
          </p:grpSpPr>
          <p:sp>
            <p:nvSpPr>
              <p:cNvPr id="15" name="Flowchart: Delay 18">
                <a:extLst>
                  <a:ext uri="{FF2B5EF4-FFF2-40B4-BE49-F238E27FC236}">
                    <a16:creationId xmlns:a16="http://schemas.microsoft.com/office/drawing/2014/main" id="{ADB5C0DA-29D0-4741-94A1-6359DD31E1A3}"/>
                  </a:ext>
                </a:extLst>
              </p:cNvPr>
              <p:cNvSpPr/>
              <p:nvPr/>
            </p:nvSpPr>
            <p:spPr>
              <a:xfrm>
                <a:off x="5257800" y="2217520"/>
                <a:ext cx="196835" cy="218567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Lato" pitchFamily="34" charset="0"/>
                </a:endParaRPr>
              </a:p>
            </p:txBody>
          </p:sp>
          <p:sp>
            <p:nvSpPr>
              <p:cNvPr id="16" name="Rectangle 19">
                <a:extLst>
                  <a:ext uri="{FF2B5EF4-FFF2-40B4-BE49-F238E27FC236}">
                    <a16:creationId xmlns:a16="http://schemas.microsoft.com/office/drawing/2014/main" id="{BC880BA0-ED57-44AC-9CAF-B6C58A7BA075}"/>
                  </a:ext>
                </a:extLst>
              </p:cNvPr>
              <p:cNvSpPr/>
              <p:nvPr/>
            </p:nvSpPr>
            <p:spPr>
              <a:xfrm>
                <a:off x="4346806" y="2217520"/>
                <a:ext cx="910995" cy="21856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Lato" pitchFamily="34" charset="0"/>
                </a:endParaRPr>
              </a:p>
            </p:txBody>
          </p:sp>
        </p:grpSp>
        <p:sp>
          <p:nvSpPr>
            <p:cNvPr id="35" name="矩形 34"/>
            <p:cNvSpPr/>
            <p:nvPr/>
          </p:nvSpPr>
          <p:spPr>
            <a:xfrm>
              <a:off x="217979" y="2877031"/>
              <a:ext cx="201208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2020.07-2020.12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8387" y="3961508"/>
            <a:ext cx="6025447" cy="1019175"/>
            <a:chOff x="13445" y="3664946"/>
            <a:chExt cx="6025447" cy="1019175"/>
          </a:xfrm>
        </p:grpSpPr>
        <p:grpSp>
          <p:nvGrpSpPr>
            <p:cNvPr id="21" name="Group 24">
              <a:extLst>
                <a:ext uri="{FF2B5EF4-FFF2-40B4-BE49-F238E27FC236}">
                  <a16:creationId xmlns:a16="http://schemas.microsoft.com/office/drawing/2014/main" id="{3D13D803-B643-4489-A9B3-1B5DB59E8470}"/>
                </a:ext>
              </a:extLst>
            </p:cNvPr>
            <p:cNvGrpSpPr/>
            <p:nvPr/>
          </p:nvGrpSpPr>
          <p:grpSpPr bwMode="auto">
            <a:xfrm>
              <a:off x="13445" y="3664946"/>
              <a:ext cx="4416925" cy="1019175"/>
              <a:chOff x="3481042" y="3530072"/>
              <a:chExt cx="4417711" cy="1514760"/>
            </a:xfrm>
          </p:grpSpPr>
          <p:sp>
            <p:nvSpPr>
              <p:cNvPr id="26" name="Rectangle 21">
                <a:extLst>
                  <a:ext uri="{FF2B5EF4-FFF2-40B4-BE49-F238E27FC236}">
                    <a16:creationId xmlns:a16="http://schemas.microsoft.com/office/drawing/2014/main" id="{64F26A07-A420-4A0E-B563-3CA97CBEE3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1042" y="3672417"/>
                <a:ext cx="2168343" cy="1371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zh-CN" sz="3200"/>
              </a:p>
            </p:txBody>
          </p:sp>
          <p:sp>
            <p:nvSpPr>
              <p:cNvPr id="27" name="Freeform 22">
                <a:extLst>
                  <a:ext uri="{FF2B5EF4-FFF2-40B4-BE49-F238E27FC236}">
                    <a16:creationId xmlns:a16="http://schemas.microsoft.com/office/drawing/2014/main" id="{2D256118-FF9F-45F0-B8D0-5E0B59C13EED}"/>
                  </a:ext>
                </a:extLst>
              </p:cNvPr>
              <p:cNvSpPr/>
              <p:nvPr/>
            </p:nvSpPr>
            <p:spPr bwMode="auto">
              <a:xfrm>
                <a:off x="5646032" y="3530072"/>
                <a:ext cx="1319448" cy="1514760"/>
              </a:xfrm>
              <a:custGeom>
                <a:avLst/>
                <a:gdLst>
                  <a:gd name="T0" fmla="*/ 643 w 643"/>
                  <a:gd name="T1" fmla="*/ 223 h 715"/>
                  <a:gd name="T2" fmla="*/ 643 w 643"/>
                  <a:gd name="T3" fmla="*/ 0 h 715"/>
                  <a:gd name="T4" fmla="*/ 0 w 643"/>
                  <a:gd name="T5" fmla="*/ 67 h 715"/>
                  <a:gd name="T6" fmla="*/ 0 w 643"/>
                  <a:gd name="T7" fmla="*/ 715 h 715"/>
                  <a:gd name="T8" fmla="*/ 643 w 643"/>
                  <a:gd name="T9" fmla="*/ 223 h 7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3" h="715">
                    <a:moveTo>
                      <a:pt x="643" y="223"/>
                    </a:moveTo>
                    <a:lnTo>
                      <a:pt x="643" y="0"/>
                    </a:lnTo>
                    <a:lnTo>
                      <a:pt x="0" y="67"/>
                    </a:lnTo>
                    <a:lnTo>
                      <a:pt x="0" y="715"/>
                    </a:lnTo>
                    <a:lnTo>
                      <a:pt x="643" y="223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>
                  <a:latin typeface="+mn-lt"/>
                </a:endParaRPr>
              </a:p>
            </p:txBody>
          </p:sp>
          <p:sp>
            <p:nvSpPr>
              <p:cNvPr id="28" name="Rectangle 23">
                <a:extLst>
                  <a:ext uri="{FF2B5EF4-FFF2-40B4-BE49-F238E27FC236}">
                    <a16:creationId xmlns:a16="http://schemas.microsoft.com/office/drawing/2014/main" id="{3E838F7B-C693-4971-BA4E-6E6579F7C7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8165" y="3535176"/>
                <a:ext cx="940588" cy="47052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zh-CN" sz="3200"/>
              </a:p>
            </p:txBody>
          </p:sp>
        </p:grpSp>
        <p:grpSp>
          <p:nvGrpSpPr>
            <p:cNvPr id="9" name="Group 12">
              <a:extLst>
                <a:ext uri="{FF2B5EF4-FFF2-40B4-BE49-F238E27FC236}">
                  <a16:creationId xmlns:a16="http://schemas.microsoft.com/office/drawing/2014/main" id="{21BC752A-B62E-41C7-9FB4-CDF36193A9A8}"/>
                </a:ext>
              </a:extLst>
            </p:cNvPr>
            <p:cNvGrpSpPr/>
            <p:nvPr/>
          </p:nvGrpSpPr>
          <p:grpSpPr bwMode="auto">
            <a:xfrm>
              <a:off x="4417916" y="3664950"/>
              <a:ext cx="1620976" cy="318867"/>
              <a:chOff x="4836156" y="2208164"/>
              <a:chExt cx="1100641" cy="216451"/>
            </a:xfrm>
            <a:solidFill>
              <a:schemeClr val="accent4"/>
            </a:solidFill>
          </p:grpSpPr>
          <p:sp>
            <p:nvSpPr>
              <p:cNvPr id="13" name="Flowchart: Delay 16">
                <a:extLst>
                  <a:ext uri="{FF2B5EF4-FFF2-40B4-BE49-F238E27FC236}">
                    <a16:creationId xmlns:a16="http://schemas.microsoft.com/office/drawing/2014/main" id="{CE23F75C-369F-4318-B9CF-0A845984F5B3}"/>
                  </a:ext>
                </a:extLst>
              </p:cNvPr>
              <p:cNvSpPr/>
              <p:nvPr/>
            </p:nvSpPr>
            <p:spPr>
              <a:xfrm>
                <a:off x="5716614" y="2208164"/>
                <a:ext cx="220183" cy="216451"/>
              </a:xfrm>
              <a:prstGeom prst="flowChartDelay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Lato" pitchFamily="34" charset="0"/>
                </a:endParaRPr>
              </a:p>
            </p:txBody>
          </p:sp>
          <p:sp>
            <p:nvSpPr>
              <p:cNvPr id="14" name="Rectangle 17">
                <a:extLst>
                  <a:ext uri="{FF2B5EF4-FFF2-40B4-BE49-F238E27FC236}">
                    <a16:creationId xmlns:a16="http://schemas.microsoft.com/office/drawing/2014/main" id="{C4024D3D-8B04-40EE-951A-6B56CADD0315}"/>
                  </a:ext>
                </a:extLst>
              </p:cNvPr>
              <p:cNvSpPr/>
              <p:nvPr/>
            </p:nvSpPr>
            <p:spPr>
              <a:xfrm>
                <a:off x="4836156" y="2212048"/>
                <a:ext cx="887644" cy="2125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Lato" pitchFamily="34" charset="0"/>
                </a:endParaRPr>
              </a:p>
            </p:txBody>
          </p:sp>
        </p:grpSp>
        <p:sp>
          <p:nvSpPr>
            <p:cNvPr id="36" name="矩形 35"/>
            <p:cNvSpPr/>
            <p:nvPr/>
          </p:nvSpPr>
          <p:spPr>
            <a:xfrm>
              <a:off x="214354" y="4037481"/>
              <a:ext cx="201208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2021.01-2021.11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8387" y="4755575"/>
            <a:ext cx="5403102" cy="1757363"/>
            <a:chOff x="0" y="4033247"/>
            <a:chExt cx="5403102" cy="1757363"/>
          </a:xfrm>
        </p:grpSpPr>
        <p:grpSp>
          <p:nvGrpSpPr>
            <p:cNvPr id="22" name="Group 25">
              <a:extLst>
                <a:ext uri="{FF2B5EF4-FFF2-40B4-BE49-F238E27FC236}">
                  <a16:creationId xmlns:a16="http://schemas.microsoft.com/office/drawing/2014/main" id="{2391EB99-F4FB-4888-9370-23C0D9161A4D}"/>
                </a:ext>
              </a:extLst>
            </p:cNvPr>
            <p:cNvGrpSpPr/>
            <p:nvPr/>
          </p:nvGrpSpPr>
          <p:grpSpPr bwMode="auto">
            <a:xfrm>
              <a:off x="0" y="4033247"/>
              <a:ext cx="4434331" cy="1757363"/>
              <a:chOff x="3467595" y="4278986"/>
              <a:chExt cx="4435120" cy="2579015"/>
            </a:xfrm>
          </p:grpSpPr>
          <p:sp>
            <p:nvSpPr>
              <p:cNvPr id="23" name="Rectangle 24">
                <a:extLst>
                  <a:ext uri="{FF2B5EF4-FFF2-40B4-BE49-F238E27FC236}">
                    <a16:creationId xmlns:a16="http://schemas.microsoft.com/office/drawing/2014/main" id="{0557DCB7-A3F5-4655-88C4-18B1492AD1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7595" y="5486400"/>
                <a:ext cx="2181790" cy="137160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zh-CN" sz="3200"/>
              </a:p>
            </p:txBody>
          </p:sp>
          <p:sp>
            <p:nvSpPr>
              <p:cNvPr id="24" name="Freeform 25">
                <a:extLst>
                  <a:ext uri="{FF2B5EF4-FFF2-40B4-BE49-F238E27FC236}">
                    <a16:creationId xmlns:a16="http://schemas.microsoft.com/office/drawing/2014/main" id="{038E91EB-450E-4144-9121-61CEA7DDED72}"/>
                  </a:ext>
                </a:extLst>
              </p:cNvPr>
              <p:cNvSpPr/>
              <p:nvPr/>
            </p:nvSpPr>
            <p:spPr bwMode="auto">
              <a:xfrm>
                <a:off x="5646033" y="4278986"/>
                <a:ext cx="1319448" cy="2579015"/>
              </a:xfrm>
              <a:custGeom>
                <a:avLst/>
                <a:gdLst>
                  <a:gd name="T0" fmla="*/ 0 w 633"/>
                  <a:gd name="T1" fmla="*/ 570 h 1218"/>
                  <a:gd name="T2" fmla="*/ 0 w 633"/>
                  <a:gd name="T3" fmla="*/ 1218 h 1218"/>
                  <a:gd name="T4" fmla="*/ 633 w 633"/>
                  <a:gd name="T5" fmla="*/ 233 h 1218"/>
                  <a:gd name="T6" fmla="*/ 633 w 633"/>
                  <a:gd name="T7" fmla="*/ 0 h 1218"/>
                  <a:gd name="T8" fmla="*/ 0 w 633"/>
                  <a:gd name="T9" fmla="*/ 570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3" h="1218">
                    <a:moveTo>
                      <a:pt x="0" y="570"/>
                    </a:moveTo>
                    <a:lnTo>
                      <a:pt x="0" y="1218"/>
                    </a:lnTo>
                    <a:lnTo>
                      <a:pt x="633" y="233"/>
                    </a:lnTo>
                    <a:lnTo>
                      <a:pt x="633" y="0"/>
                    </a:lnTo>
                    <a:lnTo>
                      <a:pt x="0" y="570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>
                  <a:latin typeface="+mn-lt"/>
                </a:endParaRPr>
              </a:p>
            </p:txBody>
          </p:sp>
          <p:sp>
            <p:nvSpPr>
              <p:cNvPr id="25" name="Rectangle 26">
                <a:extLst>
                  <a:ext uri="{FF2B5EF4-FFF2-40B4-BE49-F238E27FC236}">
                    <a16:creationId xmlns:a16="http://schemas.microsoft.com/office/drawing/2014/main" id="{8D3A933F-583C-40BA-BDCB-D9E0168083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2128" y="4287706"/>
                <a:ext cx="940587" cy="497417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zh-CN" sz="3200"/>
              </a:p>
            </p:txBody>
          </p:sp>
        </p:grpSp>
        <p:grpSp>
          <p:nvGrpSpPr>
            <p:cNvPr id="10" name="Group 13">
              <a:extLst>
                <a:ext uri="{FF2B5EF4-FFF2-40B4-BE49-F238E27FC236}">
                  <a16:creationId xmlns:a16="http://schemas.microsoft.com/office/drawing/2014/main" id="{BBF057C3-4CD9-43BC-886F-E0F4C5135A91}"/>
                </a:ext>
              </a:extLst>
            </p:cNvPr>
            <p:cNvGrpSpPr/>
            <p:nvPr/>
          </p:nvGrpSpPr>
          <p:grpSpPr bwMode="auto">
            <a:xfrm>
              <a:off x="4434331" y="4040845"/>
              <a:ext cx="968771" cy="330962"/>
              <a:chOff x="5015540" y="2194699"/>
              <a:chExt cx="657795" cy="234431"/>
            </a:xfrm>
            <a:solidFill>
              <a:schemeClr val="accent5"/>
            </a:solidFill>
          </p:grpSpPr>
          <p:sp>
            <p:nvSpPr>
              <p:cNvPr id="11" name="Flowchart: Delay 14">
                <a:extLst>
                  <a:ext uri="{FF2B5EF4-FFF2-40B4-BE49-F238E27FC236}">
                    <a16:creationId xmlns:a16="http://schemas.microsoft.com/office/drawing/2014/main" id="{CC02CBBD-B857-4BFA-BEF8-F825734DA39E}"/>
                  </a:ext>
                </a:extLst>
              </p:cNvPr>
              <p:cNvSpPr/>
              <p:nvPr/>
            </p:nvSpPr>
            <p:spPr>
              <a:xfrm>
                <a:off x="5453152" y="2194699"/>
                <a:ext cx="220183" cy="234431"/>
              </a:xfrm>
              <a:prstGeom prst="flowChartDelay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Lato" pitchFamily="34" charset="0"/>
                </a:endParaRPr>
              </a:p>
            </p:txBody>
          </p:sp>
          <p:sp>
            <p:nvSpPr>
              <p:cNvPr id="12" name="Rectangle 15">
                <a:extLst>
                  <a:ext uri="{FF2B5EF4-FFF2-40B4-BE49-F238E27FC236}">
                    <a16:creationId xmlns:a16="http://schemas.microsoft.com/office/drawing/2014/main" id="{91763919-98E9-4471-AA63-AE09EB99D1B6}"/>
                  </a:ext>
                </a:extLst>
              </p:cNvPr>
              <p:cNvSpPr/>
              <p:nvPr/>
            </p:nvSpPr>
            <p:spPr>
              <a:xfrm>
                <a:off x="5015540" y="2194699"/>
                <a:ext cx="457885" cy="23443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Lato" pitchFamily="34" charset="0"/>
                </a:endParaRPr>
              </a:p>
            </p:txBody>
          </p:sp>
        </p:grpSp>
        <p:sp>
          <p:nvSpPr>
            <p:cNvPr id="37" name="矩形 36"/>
            <p:cNvSpPr/>
            <p:nvPr/>
          </p:nvSpPr>
          <p:spPr>
            <a:xfrm>
              <a:off x="110075" y="5138633"/>
              <a:ext cx="20810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2021.12-2022.05</a:t>
              </a:r>
              <a:r>
                <a:rPr lang="en-US" altLang="zh-CN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</a:t>
              </a:r>
              <a:endParaRPr lang="zh-CN" altLang="en-US" dirty="0"/>
            </a:p>
          </p:txBody>
        </p:sp>
      </p:grpSp>
      <p:sp>
        <p:nvSpPr>
          <p:cNvPr id="39" name="矩形 38"/>
          <p:cNvSpPr/>
          <p:nvPr/>
        </p:nvSpPr>
        <p:spPr>
          <a:xfrm>
            <a:off x="5066499" y="1720460"/>
            <a:ext cx="6771405" cy="5695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chemeClr val="accent1"/>
                </a:solidFill>
                <a:sym typeface="+mn-ea"/>
              </a:rPr>
              <a:t>文献调研，</a:t>
            </a:r>
            <a:r>
              <a:rPr lang="zh-CN" altLang="en-US" dirty="0" smtClean="0">
                <a:solidFill>
                  <a:schemeClr val="accent1"/>
                </a:solidFill>
                <a:sym typeface="+mn-ea"/>
              </a:rPr>
              <a:t>学习</a:t>
            </a:r>
            <a:r>
              <a:rPr lang="en-US" altLang="zh-CN" dirty="0" smtClean="0">
                <a:solidFill>
                  <a:schemeClr val="accent1"/>
                </a:solidFill>
                <a:sym typeface="+mn-ea"/>
              </a:rPr>
              <a:t>FIDASIM</a:t>
            </a:r>
            <a:r>
              <a:rPr lang="zh-CN" altLang="en-US" dirty="0" smtClean="0">
                <a:solidFill>
                  <a:schemeClr val="accent1"/>
                </a:solidFill>
                <a:sym typeface="+mn-ea"/>
              </a:rPr>
              <a:t>和</a:t>
            </a:r>
            <a:r>
              <a:rPr lang="en-US" altLang="zh-CN" dirty="0" smtClean="0">
                <a:solidFill>
                  <a:schemeClr val="accent1"/>
                </a:solidFill>
                <a:sym typeface="+mn-ea"/>
              </a:rPr>
              <a:t>TRANSP</a:t>
            </a:r>
            <a:r>
              <a:rPr lang="zh-CN" altLang="en-US" dirty="0" smtClean="0">
                <a:solidFill>
                  <a:schemeClr val="accent1"/>
                </a:solidFill>
                <a:sym typeface="+mn-ea"/>
              </a:rPr>
              <a:t>的使用，掌握</a:t>
            </a:r>
            <a:r>
              <a:rPr lang="en-US" altLang="zh-CN" dirty="0" smtClean="0">
                <a:solidFill>
                  <a:schemeClr val="accent1"/>
                </a:solidFill>
                <a:sym typeface="+mn-ea"/>
              </a:rPr>
              <a:t>tomography</a:t>
            </a:r>
            <a:r>
              <a:rPr lang="zh-CN" altLang="en-US" dirty="0" smtClean="0">
                <a:solidFill>
                  <a:schemeClr val="accent1"/>
                </a:solidFill>
                <a:sym typeface="+mn-ea"/>
              </a:rPr>
              <a:t>方法</a:t>
            </a:r>
            <a:endParaRPr lang="zh-CN" altLang="en-US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990887" y="2800911"/>
            <a:ext cx="60618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accent1"/>
                </a:solidFill>
                <a:sym typeface="+mn-ea"/>
              </a:rPr>
              <a:t>研究正反电流下快离子的分布</a:t>
            </a:r>
            <a:r>
              <a:rPr lang="zh-CN" altLang="en-US" dirty="0" smtClean="0">
                <a:sym typeface="+mn-ea"/>
              </a:rPr>
              <a:t>，不同</a:t>
            </a:r>
            <a:r>
              <a:rPr lang="zh-CN" altLang="en-US" dirty="0">
                <a:sym typeface="+mn-ea"/>
              </a:rPr>
              <a:t>实验条件下</a:t>
            </a:r>
            <a:r>
              <a:rPr lang="en-US" altLang="zh-CN" dirty="0">
                <a:sym typeface="+mn-ea"/>
              </a:rPr>
              <a:t>FIDA</a:t>
            </a:r>
            <a:r>
              <a:rPr lang="zh-CN" altLang="en-US">
                <a:sym typeface="+mn-ea"/>
              </a:rPr>
              <a:t>诊断</a:t>
            </a:r>
            <a:r>
              <a:rPr lang="zh-CN" altLang="en-US" smtClean="0">
                <a:sym typeface="+mn-ea"/>
              </a:rPr>
              <a:t>数据和快离子分布行为的分析</a:t>
            </a:r>
            <a:endParaRPr lang="en-US" altLang="zh-CN" dirty="0">
              <a:sym typeface="+mn-e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990887" y="3996488"/>
            <a:ext cx="60618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ym typeface="+mn-ea"/>
              </a:rPr>
              <a:t>参与</a:t>
            </a:r>
            <a:r>
              <a:rPr lang="en-US" altLang="zh-CN" dirty="0">
                <a:sym typeface="+mn-ea"/>
              </a:rPr>
              <a:t>EAST</a:t>
            </a:r>
            <a:r>
              <a:rPr lang="zh-CN" altLang="en-US" dirty="0">
                <a:sym typeface="+mn-ea"/>
              </a:rPr>
              <a:t>实验，</a:t>
            </a:r>
            <a:r>
              <a:rPr lang="zh-CN" altLang="en-US" dirty="0" smtClean="0">
                <a:sym typeface="+mn-ea"/>
              </a:rPr>
              <a:t>进一步研究</a:t>
            </a:r>
            <a:r>
              <a:rPr lang="en-US" altLang="zh-CN" dirty="0" smtClean="0">
                <a:sym typeface="+mn-ea"/>
              </a:rPr>
              <a:t>EAST</a:t>
            </a:r>
            <a:r>
              <a:rPr lang="zh-CN" altLang="en-US" dirty="0" smtClean="0">
                <a:sym typeface="+mn-ea"/>
              </a:rPr>
              <a:t>升级后快</a:t>
            </a:r>
            <a:r>
              <a:rPr lang="zh-CN" altLang="en-US" dirty="0">
                <a:sym typeface="+mn-ea"/>
              </a:rPr>
              <a:t>离子分布机制</a:t>
            </a:r>
            <a:r>
              <a:rPr lang="zh-CN" altLang="en-US" smtClean="0">
                <a:sym typeface="+mn-ea"/>
              </a:rPr>
              <a:t>，探索提高快离子约束性</a:t>
            </a:r>
            <a:r>
              <a:rPr lang="zh-CN" altLang="en-US" dirty="0" smtClean="0">
                <a:sym typeface="+mn-ea"/>
              </a:rPr>
              <a:t>能的方法</a:t>
            </a:r>
            <a:endParaRPr lang="en-US" altLang="zh-CN" dirty="0">
              <a:sym typeface="+mn-e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117071" y="5052150"/>
            <a:ext cx="43604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rgbClr val="000000"/>
                </a:solidFill>
              </a:rPr>
              <a:t>总结已完成的工作</a:t>
            </a:r>
            <a:r>
              <a:rPr lang="zh-CN" altLang="en-US" dirty="0">
                <a:solidFill>
                  <a:srgbClr val="000000"/>
                </a:solidFill>
              </a:rPr>
              <a:t>，完成毕业论文的撰写</a:t>
            </a:r>
          </a:p>
        </p:txBody>
      </p:sp>
    </p:spTree>
    <p:extLst>
      <p:ext uri="{BB962C8B-B14F-4D97-AF65-F5344CB8AC3E}">
        <p14:creationId xmlns:p14="http://schemas.microsoft.com/office/powerpoint/2010/main" val="298637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741066" y="203431"/>
            <a:ext cx="4450934" cy="2170282"/>
            <a:chOff x="3307804" y="1458073"/>
            <a:chExt cx="4450934" cy="2170282"/>
          </a:xfrm>
        </p:grpSpPr>
        <p:sp>
          <p:nvSpPr>
            <p:cNvPr id="3" name="矩形 2"/>
            <p:cNvSpPr/>
            <p:nvPr/>
          </p:nvSpPr>
          <p:spPr>
            <a:xfrm>
              <a:off x="5626119" y="1458073"/>
              <a:ext cx="257112" cy="50424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16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232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348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464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581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696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199813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6929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5626119" y="1458073"/>
              <a:ext cx="1971191" cy="24713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16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232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348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464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581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696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199813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6929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 rot="5400000">
              <a:off x="6550031" y="2419647"/>
              <a:ext cx="2170282" cy="24713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16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232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348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464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581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696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199813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6929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 flipV="1">
              <a:off x="5626119" y="3124110"/>
              <a:ext cx="257112" cy="34281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16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232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348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464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581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696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199813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6929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flipV="1">
              <a:off x="5626119" y="3381222"/>
              <a:ext cx="1971191" cy="24713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16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232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348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464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581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696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199813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6929" algn="l" defTabSz="914232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" name="TextBox 27"/>
            <p:cNvSpPr txBox="1"/>
            <p:nvPr/>
          </p:nvSpPr>
          <p:spPr>
            <a:xfrm>
              <a:off x="5205257" y="2652979"/>
              <a:ext cx="159598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marL="0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16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32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348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464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581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696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813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6929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zh-CN" altLang="en-US" sz="2400" dirty="0" smtClean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谢谢观看</a:t>
              </a:r>
              <a:endPara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Box 28"/>
            <p:cNvSpPr txBox="1"/>
            <p:nvPr/>
          </p:nvSpPr>
          <p:spPr>
            <a:xfrm>
              <a:off x="3307804" y="2087364"/>
              <a:ext cx="3848619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marL="0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16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32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348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464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581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696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813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6929" algn="l" defTabSz="9142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4800" b="1" dirty="0" smtClean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THANK YOU</a:t>
              </a:r>
              <a:endParaRPr lang="zh-CN" altLang="en-US" sz="4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132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5014</TotalTime>
  <Words>1002</Words>
  <Application>Microsoft Office PowerPoint</Application>
  <PresentationFormat>宽屏</PresentationFormat>
  <Paragraphs>215</Paragraphs>
  <Slides>20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8" baseType="lpstr">
      <vt:lpstr>Arial Unicode MS</vt:lpstr>
      <vt:lpstr>Lato</vt:lpstr>
      <vt:lpstr>ＭＳ Ｐゴシック</vt:lpstr>
      <vt:lpstr>ＭＳ Ｐゴシック</vt:lpstr>
      <vt:lpstr>ONE DAY</vt:lpstr>
      <vt:lpstr>等线</vt:lpstr>
      <vt:lpstr>等线 Light</vt:lpstr>
      <vt:lpstr>华文中宋</vt:lpstr>
      <vt:lpstr>宋体</vt:lpstr>
      <vt:lpstr>微软雅黑</vt:lpstr>
      <vt:lpstr>Arial</vt:lpstr>
      <vt:lpstr>Calibri</vt:lpstr>
      <vt:lpstr>Century Gothic</vt:lpstr>
      <vt:lpstr>Times New Roman</vt:lpstr>
      <vt:lpstr>Wingdings</vt:lpstr>
      <vt:lpstr>Office 主题​​</vt:lpstr>
      <vt:lpstr>自定义设计方案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不稳定性对快离子分布影响的研究验证发展了理论模型</vt:lpstr>
      <vt:lpstr>通过AEs引发的快离子输运的研究发展Kick model </vt:lpstr>
      <vt:lpstr>通过调节电流密度分布,抑制AE改善快离子分布，提高快离子约束</vt:lpstr>
      <vt:lpstr>PowerPoint 演示文稿</vt:lpstr>
      <vt:lpstr>研究思路</vt:lpstr>
      <vt:lpstr>研究内容</vt:lpstr>
      <vt:lpstr>PowerPoint 演示文稿</vt:lpstr>
      <vt:lpstr>PowerPoint 演示文稿</vt:lpstr>
      <vt:lpstr>PowerPoint 演示文稿</vt:lpstr>
      <vt:lpstr>工作基础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18516319149@163.com</dc:creator>
  <cp:lastModifiedBy>18516319149@163.com</cp:lastModifiedBy>
  <cp:revision>1044</cp:revision>
  <dcterms:created xsi:type="dcterms:W3CDTF">2020-11-12T00:13:17Z</dcterms:created>
  <dcterms:modified xsi:type="dcterms:W3CDTF">2020-12-08T01:11:19Z</dcterms:modified>
</cp:coreProperties>
</file>