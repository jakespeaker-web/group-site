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29"/>
  </p:notesMasterIdLst>
  <p:sldIdLst>
    <p:sldId id="256" r:id="rId4"/>
    <p:sldId id="280" r:id="rId5"/>
    <p:sldId id="262" r:id="rId6"/>
    <p:sldId id="257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58" r:id="rId17"/>
    <p:sldId id="272" r:id="rId18"/>
    <p:sldId id="273" r:id="rId19"/>
    <p:sldId id="274" r:id="rId20"/>
    <p:sldId id="275" r:id="rId21"/>
    <p:sldId id="281" r:id="rId22"/>
    <p:sldId id="260" r:id="rId23"/>
    <p:sldId id="276" r:id="rId24"/>
    <p:sldId id="279" r:id="rId25"/>
    <p:sldId id="277" r:id="rId26"/>
    <p:sldId id="278" r:id="rId27"/>
    <p:sldId id="282" r:id="rId2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charset="0"/>
        <a:ea typeface="MS PGothic" panose="020B0600070205080204" charset="-128"/>
        <a:cs typeface="MS PGothic" panose="020B0600070205080204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charset="0"/>
        <a:ea typeface="MS PGothic" panose="020B0600070205080204" charset="-128"/>
        <a:cs typeface="MS PGothic" panose="020B0600070205080204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charset="0"/>
        <a:ea typeface="MS PGothic" panose="020B0600070205080204" charset="-128"/>
        <a:cs typeface="MS PGothic" panose="020B0600070205080204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charset="0"/>
        <a:ea typeface="MS PGothic" panose="020B0600070205080204" charset="-128"/>
        <a:cs typeface="MS PGothic" panose="020B0600070205080204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charset="0"/>
        <a:ea typeface="MS PGothic" panose="020B0600070205080204" charset="-128"/>
        <a:cs typeface="MS PGothic" panose="020B0600070205080204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Century Gothic" panose="020B0502020202020204" charset="0"/>
        <a:ea typeface="MS PGothic" panose="020B0600070205080204" charset="-128"/>
        <a:cs typeface="MS PGothic" panose="020B0600070205080204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Century Gothic" panose="020B0502020202020204" charset="0"/>
        <a:ea typeface="MS PGothic" panose="020B0600070205080204" charset="-128"/>
        <a:cs typeface="MS PGothic" panose="020B0600070205080204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Century Gothic" panose="020B0502020202020204" charset="0"/>
        <a:ea typeface="MS PGothic" panose="020B0600070205080204" charset="-128"/>
        <a:cs typeface="MS PGothic" panose="020B0600070205080204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Century Gothic" panose="020B0502020202020204" charset="0"/>
        <a:ea typeface="MS PGothic" panose="020B0600070205080204" charset="-128"/>
        <a:cs typeface="MS PGothic" panose="020B0600070205080204" charset="-128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teve Zhang" initials="SZ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87" d="100"/>
          <a:sy n="87" d="100"/>
        </p:scale>
        <p:origin x="1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3" Type="http://schemas.openxmlformats.org/officeDocument/2006/relationships/commentAuthors" Target="commentAuthors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29" Type="http://schemas.openxmlformats.org/officeDocument/2006/relationships/notesMaster" Target="notesMasters/notesMaster1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8343A5-6AC3-4E69-ACAF-8548101F27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0662AF-8E60-497C-B6E3-98964416E49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5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12192000" cy="914400"/>
          </a:xfrm>
          <a:prstGeom prst="rect">
            <a:avLst/>
          </a:prstGeom>
        </p:spPr>
        <p:txBody>
          <a:bodyPr/>
          <a:lstStyle>
            <a:lvl1pPr algn="ctr"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en-US" noProof="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/>
              <a:buChar char="•"/>
              <a:defRPr/>
            </a:lvl1pPr>
            <a:lvl4pPr>
              <a:buClr>
                <a:schemeClr val="tx2"/>
              </a:buClr>
              <a:defRPr/>
            </a:lvl4pPr>
            <a:lvl5pPr>
              <a:buClr>
                <a:schemeClr val="tx2"/>
              </a:buClr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title" idx="4294967295"/>
          </p:nvPr>
        </p:nvSpPr>
        <p:spPr>
          <a:xfrm>
            <a:off x="609602" y="217259"/>
            <a:ext cx="10972801" cy="492991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/>
              <a:buChar char="•"/>
              <a:defRPr sz="2000">
                <a:solidFill>
                  <a:schemeClr val="tx1"/>
                </a:solidFill>
              </a:defRPr>
            </a:lvl1pPr>
            <a:lvl2pPr marL="800100" indent="-342900">
              <a:buFont typeface="Lucida Grande"/>
              <a:buChar char="−"/>
              <a:defRPr sz="1800">
                <a:solidFill>
                  <a:srgbClr val="000000"/>
                </a:solidFill>
              </a:defRPr>
            </a:lvl2pPr>
            <a:lvl3pPr marL="1371600" indent="-457200">
              <a:buFont typeface="Arial" panose="020B0604020202020204"/>
              <a:buChar char="•"/>
              <a:defRPr sz="1600">
                <a:solidFill>
                  <a:srgbClr val="000000"/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/>
              <a:buChar char="•"/>
              <a:defRPr sz="2000"/>
            </a:lvl1pPr>
            <a:lvl2pPr>
              <a:defRPr sz="1800"/>
            </a:lvl2pPr>
            <a:lvl3pPr>
              <a:defRPr sz="1600"/>
            </a:lvl3pPr>
            <a:lvl4pPr>
              <a:buClr>
                <a:schemeClr val="tx2"/>
              </a:buClr>
              <a:defRPr sz="1400"/>
            </a:lvl4pPr>
            <a:lvl5pPr>
              <a:buClr>
                <a:schemeClr val="tx2"/>
              </a:buCl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/>
              <a:buChar char="•"/>
              <a:defRPr sz="2000"/>
            </a:lvl1pPr>
            <a:lvl2pPr>
              <a:defRPr sz="1800"/>
            </a:lvl2pPr>
            <a:lvl3pPr marL="1257300" indent="-342900">
              <a:buFont typeface="Arial" panose="020B0604020202020204"/>
              <a:buChar char="•"/>
              <a:defRPr lang="en-US" dirty="0" smtClean="0"/>
            </a:lvl3pPr>
            <a:lvl4pPr>
              <a:buClr>
                <a:schemeClr val="tx2"/>
              </a:buClr>
              <a:defRPr sz="1400"/>
            </a:lvl4pPr>
            <a:lvl5pPr>
              <a:buClr>
                <a:schemeClr val="tx2"/>
              </a:buCl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217259"/>
            <a:ext cx="10972800" cy="492991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/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/>
              <a:buChar char="•"/>
              <a:defRPr sz="2000"/>
            </a:lvl1pPr>
            <a:lvl2pPr>
              <a:defRPr sz="1800"/>
            </a:lvl2pPr>
            <a:lvl3pPr>
              <a:defRPr sz="1600"/>
            </a:lvl3pPr>
            <a:lvl4pPr>
              <a:buClr>
                <a:schemeClr val="tx2"/>
              </a:buClr>
              <a:defRPr sz="1400"/>
            </a:lvl4pPr>
            <a:lvl5pPr>
              <a:buClr>
                <a:schemeClr val="tx2"/>
              </a:buCl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93370" y="1535114"/>
            <a:ext cx="5389033" cy="639763"/>
          </a:xfrm>
        </p:spPr>
        <p:txBody>
          <a:bodyPr anchor="b"/>
          <a:lstStyle>
            <a:lvl1pPr marL="0" indent="0">
              <a:buFont typeface="Arial" panose="020B0604020202020204"/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/>
              <a:buChar char="•"/>
              <a:defRPr sz="2000"/>
            </a:lvl1pPr>
            <a:lvl2pPr>
              <a:defRPr sz="1800"/>
            </a:lvl2pPr>
            <a:lvl3pPr>
              <a:defRPr sz="1600"/>
            </a:lvl3pPr>
            <a:lvl4pPr>
              <a:buClr>
                <a:schemeClr val="tx2"/>
              </a:buClr>
              <a:defRPr sz="1400"/>
            </a:lvl4pPr>
            <a:lvl5pPr>
              <a:buClr>
                <a:schemeClr val="tx2"/>
              </a:buCl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title" idx="4294967295"/>
          </p:nvPr>
        </p:nvSpPr>
        <p:spPr>
          <a:xfrm>
            <a:off x="609602" y="217259"/>
            <a:ext cx="10972801" cy="492991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/>
          <p:cNvSpPr>
            <a:spLocks noGrp="1" noChangeArrowheads="1"/>
          </p:cNvSpPr>
          <p:nvPr>
            <p:ph type="title" idx="4294967295"/>
          </p:nvPr>
        </p:nvSpPr>
        <p:spPr>
          <a:xfrm>
            <a:off x="609602" y="217259"/>
            <a:ext cx="10972801" cy="492991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PowerPoint_Template_Cover_2012_white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3"/>
          <p:cNvSpPr>
            <a:spLocks noChangeArrowheads="1"/>
          </p:cNvSpPr>
          <p:nvPr/>
        </p:nvSpPr>
        <p:spPr bwMode="auto">
          <a:xfrm>
            <a:off x="0" y="6484939"/>
            <a:ext cx="1117600" cy="29686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fld id="{63C6CEC9-A3B1-904F-A53E-2BD7A3ABB93A}" type="slidenum">
              <a:rPr lang="en-US" sz="1000">
                <a:solidFill>
                  <a:srgbClr val="000090"/>
                </a:solidFill>
              </a:rPr>
            </a:fld>
            <a:endParaRPr lang="en-US" sz="1000">
              <a:solidFill>
                <a:srgbClr val="000090"/>
              </a:solidFill>
            </a:endParaRPr>
          </a:p>
        </p:txBody>
      </p:sp>
      <p:sp>
        <p:nvSpPr>
          <p:cNvPr id="6" name="Text Box 14"/>
          <p:cNvSpPr txBox="1">
            <a:spLocks noChangeArrowheads="1"/>
          </p:cNvSpPr>
          <p:nvPr/>
        </p:nvSpPr>
        <p:spPr bwMode="auto">
          <a:xfrm>
            <a:off x="3856567" y="6532563"/>
            <a:ext cx="4478867" cy="21544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MS PGothic" panose="020B060007020508020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MS PGothic" panose="020B060007020508020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MS PGothic" panose="020B060007020508020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panose="020B0600070205080204" charset="-128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1" dirty="0">
                <a:solidFill>
                  <a:srgbClr val="000090"/>
                </a:solidFill>
                <a:latin typeface="Century Gothic" panose="020B0502020202020204" charset="0"/>
                <a:cs typeface="Century Gothic" panose="020B0502020202020204" charset="0"/>
              </a:rPr>
              <a:t>General Atomics Proprietary Information</a:t>
            </a:r>
            <a:endParaRPr lang="en-US" sz="800" b="1" dirty="0">
              <a:solidFill>
                <a:srgbClr val="000090"/>
              </a:solidFill>
              <a:latin typeface="Century Gothic" panose="020B0502020202020204" charset="0"/>
              <a:cs typeface="Century Gothic" panose="020B0502020202020204" charset="0"/>
            </a:endParaRPr>
          </a:p>
        </p:txBody>
      </p:sp>
      <p:pic>
        <p:nvPicPr>
          <p:cNvPr id="7" name="Picture 20" descr="GA_logo_2_blue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3337" y="6461127"/>
            <a:ext cx="2436284" cy="328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10" descr="D3D_logo_Revised.tif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900" y="6134103"/>
            <a:ext cx="1617133" cy="68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15" descr="Cover_energy__gradient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06466"/>
            <a:ext cx="12192000" cy="51530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11"/>
          <p:cNvSpPr>
            <a:spLocks noGrp="1" noChangeArrowheads="1"/>
          </p:cNvSpPr>
          <p:nvPr>
            <p:ph type="title" idx="4294967295"/>
          </p:nvPr>
        </p:nvSpPr>
        <p:spPr>
          <a:xfrm>
            <a:off x="609602" y="217259"/>
            <a:ext cx="10972801" cy="492991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1197431"/>
            <a:ext cx="4011084" cy="1006927"/>
          </a:xfrm>
        </p:spPr>
        <p:txBody>
          <a:bodyPr anchor="b"/>
          <a:lstStyle>
            <a:lvl1pPr algn="l">
              <a:defRPr sz="2000" b="1">
                <a:solidFill>
                  <a:srgbClr val="000000"/>
                </a:solidFill>
              </a:defRPr>
            </a:lvl1pPr>
          </a:lstStyle>
          <a:p>
            <a:pPr lvl="0"/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766733" y="1197431"/>
            <a:ext cx="6815667" cy="4928735"/>
          </a:xfr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/>
              <a:buChar char="•"/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09603" y="2204359"/>
            <a:ext cx="4011084" cy="392180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70215"/>
            <a:ext cx="7315200" cy="3557361"/>
          </a:xfrm>
        </p:spPr>
        <p:txBody>
          <a:bodyPr rtlCol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>
            <a:lvl4pPr>
              <a:buClr>
                <a:schemeClr val="tx2"/>
              </a:buClr>
              <a:defRPr/>
            </a:lvl4pPr>
            <a:lvl5pPr>
              <a:buClr>
                <a:schemeClr val="tx2"/>
              </a:buClr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title" idx="4294967295"/>
          </p:nvPr>
        </p:nvSpPr>
        <p:spPr>
          <a:xfrm>
            <a:off x="609602" y="217259"/>
            <a:ext cx="10972801" cy="492991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133930"/>
            <a:ext cx="2743200" cy="499223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1133930"/>
            <a:ext cx="8026400" cy="4992235"/>
          </a:xfrm>
        </p:spPr>
        <p:txBody>
          <a:bodyPr vert="eaVert"/>
          <a:lstStyle>
            <a:lvl4pPr>
              <a:buClr>
                <a:schemeClr val="tx2"/>
              </a:buClr>
              <a:defRPr/>
            </a:lvl4pPr>
            <a:lvl5pPr>
              <a:buClr>
                <a:schemeClr val="tx2"/>
              </a:buClr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D05A3-7BD7-49B3-8A1C-4930FDC7909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3198A-E205-4B3E-86FA-4FE9131110D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5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12192000" cy="914400"/>
          </a:xfrm>
          <a:prstGeom prst="rect">
            <a:avLst/>
          </a:prstGeom>
        </p:spPr>
        <p:txBody>
          <a:bodyPr/>
          <a:lstStyle>
            <a:lvl1pPr algn="ctr"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noProof="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/>
              <a:buChar char="•"/>
              <a:defRPr/>
            </a:lvl1pPr>
            <a:lvl4pPr>
              <a:buClr>
                <a:schemeClr val="tx2"/>
              </a:buClr>
              <a:defRPr/>
            </a:lvl4pPr>
            <a:lvl5pPr>
              <a:buClr>
                <a:schemeClr val="tx2"/>
              </a:buClr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title" idx="4294967295"/>
          </p:nvPr>
        </p:nvSpPr>
        <p:spPr>
          <a:xfrm>
            <a:off x="609602" y="217259"/>
            <a:ext cx="10972801" cy="492991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/>
              <a:buChar char="•"/>
              <a:defRPr sz="2000">
                <a:solidFill>
                  <a:schemeClr val="tx1"/>
                </a:solidFill>
              </a:defRPr>
            </a:lvl1pPr>
            <a:lvl2pPr marL="800100" indent="-342900">
              <a:buFont typeface="Lucida Grande"/>
              <a:buChar char="−"/>
              <a:defRPr sz="1800">
                <a:solidFill>
                  <a:srgbClr val="000000"/>
                </a:solidFill>
              </a:defRPr>
            </a:lvl2pPr>
            <a:lvl3pPr marL="1371600" indent="-457200">
              <a:buFont typeface="Arial" panose="020B0604020202020204"/>
              <a:buChar char="•"/>
              <a:defRPr sz="1600">
                <a:solidFill>
                  <a:srgbClr val="000000"/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/>
              <a:buChar char="•"/>
              <a:defRPr sz="2000"/>
            </a:lvl1pPr>
            <a:lvl2pPr>
              <a:defRPr sz="1800"/>
            </a:lvl2pPr>
            <a:lvl3pPr>
              <a:defRPr sz="1600"/>
            </a:lvl3pPr>
            <a:lvl4pPr>
              <a:buClr>
                <a:schemeClr val="tx2"/>
              </a:buClr>
              <a:defRPr sz="1400"/>
            </a:lvl4pPr>
            <a:lvl5pPr>
              <a:buClr>
                <a:schemeClr val="tx2"/>
              </a:buCl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/>
              <a:buChar char="•"/>
              <a:defRPr sz="2000"/>
            </a:lvl1pPr>
            <a:lvl2pPr>
              <a:defRPr sz="1800"/>
            </a:lvl2pPr>
            <a:lvl3pPr marL="1257300" indent="-342900">
              <a:buFont typeface="Arial" panose="020B0604020202020204"/>
              <a:buChar char="•"/>
              <a:defRPr lang="en-US" dirty="0" smtClean="0"/>
            </a:lvl3pPr>
            <a:lvl4pPr>
              <a:buClr>
                <a:schemeClr val="tx2"/>
              </a:buClr>
              <a:defRPr sz="1400"/>
            </a:lvl4pPr>
            <a:lvl5pPr>
              <a:buClr>
                <a:schemeClr val="tx2"/>
              </a:buCl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217259"/>
            <a:ext cx="10972800" cy="492991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/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/>
              <a:buChar char="•"/>
              <a:defRPr sz="2000"/>
            </a:lvl1pPr>
            <a:lvl2pPr>
              <a:defRPr sz="1800"/>
            </a:lvl2pPr>
            <a:lvl3pPr>
              <a:defRPr sz="1600"/>
            </a:lvl3pPr>
            <a:lvl4pPr>
              <a:buClr>
                <a:schemeClr val="tx2"/>
              </a:buClr>
              <a:defRPr sz="1400"/>
            </a:lvl4pPr>
            <a:lvl5pPr>
              <a:buClr>
                <a:schemeClr val="tx2"/>
              </a:buCl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4"/>
            <a:ext cx="5389033" cy="639763"/>
          </a:xfrm>
        </p:spPr>
        <p:txBody>
          <a:bodyPr anchor="b"/>
          <a:lstStyle>
            <a:lvl1pPr marL="0" indent="0">
              <a:buFont typeface="Arial" panose="020B0604020202020204"/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/>
              <a:buChar char="•"/>
              <a:defRPr sz="2000"/>
            </a:lvl1pPr>
            <a:lvl2pPr>
              <a:defRPr sz="1800"/>
            </a:lvl2pPr>
            <a:lvl3pPr>
              <a:defRPr sz="1600"/>
            </a:lvl3pPr>
            <a:lvl4pPr>
              <a:buClr>
                <a:schemeClr val="tx2"/>
              </a:buClr>
              <a:defRPr sz="1400"/>
            </a:lvl4pPr>
            <a:lvl5pPr>
              <a:buClr>
                <a:schemeClr val="tx2"/>
              </a:buCl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title" idx="4294967295"/>
          </p:nvPr>
        </p:nvSpPr>
        <p:spPr>
          <a:xfrm>
            <a:off x="609602" y="217259"/>
            <a:ext cx="10972801" cy="492991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/>
          <p:cNvSpPr>
            <a:spLocks noGrp="1" noChangeArrowheads="1"/>
          </p:cNvSpPr>
          <p:nvPr>
            <p:ph type="title" idx="4294967295"/>
          </p:nvPr>
        </p:nvSpPr>
        <p:spPr>
          <a:xfrm>
            <a:off x="609602" y="217259"/>
            <a:ext cx="10972801" cy="492991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PowerPoint_Template_Cover_2012_white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3"/>
          <p:cNvSpPr>
            <a:spLocks noChangeArrowheads="1"/>
          </p:cNvSpPr>
          <p:nvPr userDrawn="1"/>
        </p:nvSpPr>
        <p:spPr bwMode="auto">
          <a:xfrm>
            <a:off x="0" y="6484939"/>
            <a:ext cx="1117600" cy="29686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3C6CEC9-A3B1-904F-A53E-2BD7A3ABB93A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Century Gothic" panose="020B0502020202020204" charset="0"/>
                <a:ea typeface="MS PGothic" panose="020B0600070205080204" charset="-128"/>
                <a:cs typeface="+mn-cs"/>
              </a:rPr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90"/>
              </a:solidFill>
              <a:effectLst/>
              <a:uLnTx/>
              <a:uFillTx/>
              <a:latin typeface="Century Gothic" panose="020B0502020202020204" charset="0"/>
              <a:ea typeface="MS PGothic" panose="020B0600070205080204" charset="-128"/>
              <a:cs typeface="+mn-cs"/>
            </a:endParaRPr>
          </a:p>
        </p:txBody>
      </p:sp>
      <p:sp>
        <p:nvSpPr>
          <p:cNvPr id="6" name="Text Box 14"/>
          <p:cNvSpPr txBox="1">
            <a:spLocks noChangeArrowheads="1"/>
          </p:cNvSpPr>
          <p:nvPr userDrawn="1"/>
        </p:nvSpPr>
        <p:spPr bwMode="auto">
          <a:xfrm>
            <a:off x="3856567" y="6532563"/>
            <a:ext cx="4478867" cy="21544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MS PGothic" panose="020B060007020508020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MS PGothic" panose="020B060007020508020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MS PGothic" panose="020B060007020508020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panose="020B0600070205080204" charset="-128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Century Gothic" panose="020B0502020202020204" charset="0"/>
                <a:ea typeface="MS PGothic" panose="020B0600070205080204" charset="-128"/>
                <a:cs typeface="Century Gothic" panose="020B0502020202020204" charset="0"/>
              </a:rPr>
              <a:t>General Atomics Proprietary Information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000090"/>
              </a:solidFill>
              <a:effectLst/>
              <a:uLnTx/>
              <a:uFillTx/>
              <a:latin typeface="Century Gothic" panose="020B0502020202020204" charset="0"/>
              <a:ea typeface="MS PGothic" panose="020B0600070205080204" charset="-128"/>
              <a:cs typeface="Century Gothic" panose="020B0502020202020204" charset="0"/>
            </a:endParaRPr>
          </a:p>
        </p:txBody>
      </p:sp>
      <p:pic>
        <p:nvPicPr>
          <p:cNvPr id="7" name="Picture 20" descr="GA_logo_2_blue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3337" y="6461127"/>
            <a:ext cx="2436284" cy="328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10" descr="D3D_logo_Revised.tif"/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900" y="6134103"/>
            <a:ext cx="1617133" cy="68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15" descr="Cover_energy__gradient.png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06466"/>
            <a:ext cx="12192000" cy="51530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11"/>
          <p:cNvSpPr>
            <a:spLocks noGrp="1" noChangeArrowheads="1"/>
          </p:cNvSpPr>
          <p:nvPr>
            <p:ph type="title" idx="4294967295"/>
          </p:nvPr>
        </p:nvSpPr>
        <p:spPr>
          <a:xfrm>
            <a:off x="609602" y="217259"/>
            <a:ext cx="10972801" cy="492991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1197431"/>
            <a:ext cx="4011084" cy="1006927"/>
          </a:xfrm>
        </p:spPr>
        <p:txBody>
          <a:bodyPr anchor="b"/>
          <a:lstStyle>
            <a:lvl1pPr algn="l">
              <a:defRPr sz="2000" b="1">
                <a:solidFill>
                  <a:srgbClr val="000000"/>
                </a:solidFill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197431"/>
            <a:ext cx="6815667" cy="4928735"/>
          </a:xfr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/>
              <a:buChar char="•"/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2204359"/>
            <a:ext cx="4011084" cy="392180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70215"/>
            <a:ext cx="7315200" cy="3557361"/>
          </a:xfrm>
        </p:spPr>
        <p:txBody>
          <a:bodyPr rtlCol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4pPr>
              <a:buClr>
                <a:schemeClr val="tx2"/>
              </a:buClr>
              <a:defRPr/>
            </a:lvl4pPr>
            <a:lvl5pPr>
              <a:buClr>
                <a:schemeClr val="tx2"/>
              </a:buClr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title" idx="4294967295"/>
          </p:nvPr>
        </p:nvSpPr>
        <p:spPr>
          <a:xfrm>
            <a:off x="609602" y="217259"/>
            <a:ext cx="10972801" cy="492991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133930"/>
            <a:ext cx="2743200" cy="499223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133930"/>
            <a:ext cx="8026400" cy="4992235"/>
          </a:xfrm>
        </p:spPr>
        <p:txBody>
          <a:bodyPr vert="eaVert"/>
          <a:lstStyle>
            <a:lvl4pPr>
              <a:buClr>
                <a:schemeClr val="tx2"/>
              </a:buClr>
              <a:defRPr/>
            </a:lvl4pPr>
            <a:lvl5pPr>
              <a:buClr>
                <a:schemeClr val="tx2"/>
              </a:buClr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FEE0E033-A2AB-FE4A-AA20-C0C3AA91732A}" type="slidenum">
              <a:rPr lang="en-US" smtClean="0">
                <a:solidFill>
                  <a:prstClr val="black"/>
                </a:solidFill>
                <a:cs typeface="+mn-cs"/>
              </a:rPr>
            </a:fld>
            <a:endParaRPr lang="en-US" dirty="0">
              <a:solidFill>
                <a:prstClr val="black"/>
              </a:solidFill>
              <a:cs typeface="+mn-cs"/>
            </a:endParaRPr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165600" y="6491970"/>
            <a:ext cx="3860800" cy="365125"/>
          </a:xfrm>
          <a:prstGeom prst="rect">
            <a:avLst/>
          </a:prstGeom>
        </p:spPr>
        <p:txBody>
          <a:bodyPr anchor="b"/>
          <a:lstStyle>
            <a:lvl1pPr algn="ctr">
              <a:defRPr sz="1000"/>
            </a:lvl1pPr>
          </a:lstStyle>
          <a:p>
            <a:pPr>
              <a:defRPr/>
            </a:pPr>
            <a:endParaRPr lang="en-US" dirty="0">
              <a:solidFill>
                <a:prstClr val="black"/>
              </a:solidFill>
              <a:cs typeface="+mn-c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609600" y="71438"/>
            <a:ext cx="10972800" cy="8572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331913"/>
            <a:ext cx="10972800" cy="45259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ftr" sz="quarter" idx="10"/>
          </p:nvPr>
        </p:nvSpPr>
        <p:spPr>
          <a:xfrm>
            <a:off x="2381251" y="6356351"/>
            <a:ext cx="7905749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pPr>
              <a:defRPr/>
            </a:pPr>
            <a:endParaRPr lang="en-GB" altLang="zh-CN">
              <a:solidFill>
                <a:prstClr val="black"/>
              </a:solidFill>
              <a:cs typeface="+mn-cs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>
          <a:xfrm>
            <a:off x="10191751" y="6356351"/>
            <a:ext cx="19050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pPr>
              <a:defRPr/>
            </a:pPr>
            <a:fld id="{06B686B2-C280-9649-A9D7-5B26E50D9902}" type="slidenum">
              <a:rPr lang="zh-CN" altLang="en-US" smtClean="0">
                <a:solidFill>
                  <a:prstClr val="black"/>
                </a:solidFill>
                <a:cs typeface="+mn-cs"/>
              </a:rPr>
            </a:fld>
            <a:endParaRPr lang="zh-CN" altLang="en-US">
              <a:solidFill>
                <a:prstClr val="black"/>
              </a:solidFill>
              <a:cs typeface="+mn-cs"/>
            </a:endParaRPr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2"/>
          </p:nvPr>
        </p:nvSpPr>
        <p:spPr>
          <a:xfrm>
            <a:off x="666751" y="6356351"/>
            <a:ext cx="17145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/>
              </a:solidFill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5" Type="http://schemas.openxmlformats.org/officeDocument/2006/relationships/theme" Target="../theme/theme2.xml"/><Relationship Id="rId14" Type="http://schemas.openxmlformats.org/officeDocument/2006/relationships/image" Target="../media/image1.jpeg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PowerPoint_Template_Cover_2012_white.jpg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320801"/>
            <a:ext cx="10972800" cy="475456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Century gothic 20 bold</a:t>
            </a:r>
            <a:endParaRPr lang="en-US"/>
          </a:p>
          <a:p>
            <a:pPr lvl="0"/>
            <a:r>
              <a:rPr lang="en-US"/>
              <a:t>Century gothic 20 bold</a:t>
            </a:r>
            <a:endParaRPr lang="en-US"/>
          </a:p>
          <a:p>
            <a:pPr lvl="1"/>
            <a:r>
              <a:rPr lang="en-US"/>
              <a:t>Century gothic 18</a:t>
            </a:r>
            <a:endParaRPr lang="en-US"/>
          </a:p>
          <a:p>
            <a:pPr lvl="1"/>
            <a:r>
              <a:rPr lang="en-US"/>
              <a:t>Century gothic 18</a:t>
            </a:r>
            <a:endParaRPr lang="en-US"/>
          </a:p>
          <a:p>
            <a:pPr lvl="2"/>
            <a:r>
              <a:rPr lang="en-US"/>
              <a:t>Century gothic 16</a:t>
            </a:r>
            <a:endParaRPr lang="en-US"/>
          </a:p>
          <a:p>
            <a:pPr lvl="2"/>
            <a:r>
              <a:rPr lang="en-US"/>
              <a:t>Century gothic 16</a:t>
            </a:r>
            <a:endParaRPr lang="en-US"/>
          </a:p>
          <a:p>
            <a:pPr lvl="0"/>
            <a:r>
              <a:rPr lang="en-US"/>
              <a:t>Century gothic 20 bold</a:t>
            </a:r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2"/>
            <a:endParaRPr lang="en-US"/>
          </a:p>
          <a:p>
            <a:pPr lvl="0"/>
            <a:endParaRPr lang="en-US"/>
          </a:p>
        </p:txBody>
      </p:sp>
      <p:sp>
        <p:nvSpPr>
          <p:cNvPr id="1029" name="Rectangle 13"/>
          <p:cNvSpPr>
            <a:spLocks noChangeArrowheads="1"/>
          </p:cNvSpPr>
          <p:nvPr/>
        </p:nvSpPr>
        <p:spPr bwMode="auto">
          <a:xfrm>
            <a:off x="0" y="6484939"/>
            <a:ext cx="1117600" cy="29686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fld id="{0E7B14E1-4852-7540-891E-C289E6FC5DB8}" type="slidenum">
              <a:rPr lang="en-US" sz="1000">
                <a:solidFill>
                  <a:srgbClr val="000090"/>
                </a:solidFill>
              </a:rPr>
            </a:fld>
            <a:endParaRPr lang="en-US" sz="1000">
              <a:solidFill>
                <a:srgbClr val="00009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kern="1200">
          <a:solidFill>
            <a:srgbClr val="FFFFFF"/>
          </a:solidFill>
          <a:latin typeface="+mj-lt"/>
          <a:ea typeface="MS PGothic" panose="020B0600070205080204" charset="-128"/>
          <a:cs typeface="MS PGothic" panose="020B0600070205080204" charset="-128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entury Gothic" panose="020B0502020202020204" charset="0"/>
          <a:ea typeface="MS PGothic" panose="020B0600070205080204" charset="-128"/>
          <a:cs typeface="MS PGothic" panose="020B0600070205080204" charset="-128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entury Gothic" panose="020B0502020202020204" charset="0"/>
          <a:ea typeface="MS PGothic" panose="020B0600070205080204" charset="-128"/>
          <a:cs typeface="MS PGothic" panose="020B0600070205080204" charset="-128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entury Gothic" panose="020B0502020202020204" charset="0"/>
          <a:ea typeface="MS PGothic" panose="020B0600070205080204" charset="-128"/>
          <a:cs typeface="MS PGothic" panose="020B0600070205080204" charset="-128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entury Gothic" panose="020B050202020202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entury Gothic" panose="020B050202020202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entury Gothic" panose="020B050202020202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entury Gothic" panose="020B050202020202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entury Gothic" panose="020B050202020202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sz="2000" b="1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–"/>
        <a:defRPr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257300" indent="-342900" algn="l" defTabSz="457200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PowerPoint_Template_Cover_2012_white.jpg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320801"/>
            <a:ext cx="10972800" cy="475456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Century gothic 20 bold</a:t>
            </a:r>
            <a:endParaRPr lang="en-US"/>
          </a:p>
          <a:p>
            <a:pPr lvl="0"/>
            <a:r>
              <a:rPr lang="en-US"/>
              <a:t>Century gothic 20 bold</a:t>
            </a:r>
            <a:endParaRPr lang="en-US"/>
          </a:p>
          <a:p>
            <a:pPr lvl="1"/>
            <a:r>
              <a:rPr lang="en-US"/>
              <a:t>Century gothic 18</a:t>
            </a:r>
            <a:endParaRPr lang="en-US"/>
          </a:p>
          <a:p>
            <a:pPr lvl="1"/>
            <a:r>
              <a:rPr lang="en-US"/>
              <a:t>Century gothic 18</a:t>
            </a:r>
            <a:endParaRPr lang="en-US"/>
          </a:p>
          <a:p>
            <a:pPr lvl="2"/>
            <a:r>
              <a:rPr lang="en-US"/>
              <a:t>Century gothic 16</a:t>
            </a:r>
            <a:endParaRPr lang="en-US"/>
          </a:p>
          <a:p>
            <a:pPr lvl="2"/>
            <a:r>
              <a:rPr lang="en-US"/>
              <a:t>Century gothic 16</a:t>
            </a:r>
            <a:endParaRPr lang="en-US"/>
          </a:p>
          <a:p>
            <a:pPr lvl="0"/>
            <a:r>
              <a:rPr lang="en-US"/>
              <a:t>Century gothic 20 bold</a:t>
            </a:r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2"/>
            <a:endParaRPr lang="en-US"/>
          </a:p>
          <a:p>
            <a:pPr lvl="0"/>
            <a:endParaRPr lang="en-US"/>
          </a:p>
        </p:txBody>
      </p:sp>
      <p:sp>
        <p:nvSpPr>
          <p:cNvPr id="1029" name="Rectangle 13"/>
          <p:cNvSpPr>
            <a:spLocks noChangeArrowheads="1"/>
          </p:cNvSpPr>
          <p:nvPr/>
        </p:nvSpPr>
        <p:spPr bwMode="auto">
          <a:xfrm>
            <a:off x="0" y="6484939"/>
            <a:ext cx="1117600" cy="29686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E7B14E1-4852-7540-891E-C289E6FC5DB8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Century Gothic" panose="020B0502020202020204" charset="0"/>
                <a:ea typeface="MS PGothic" panose="020B0600070205080204" charset="-128"/>
                <a:cs typeface="+mn-cs"/>
              </a:rPr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90"/>
              </a:solidFill>
              <a:effectLst/>
              <a:uLnTx/>
              <a:uFillTx/>
              <a:latin typeface="Century Gothic" panose="020B0502020202020204" charset="0"/>
              <a:ea typeface="MS PGothic" panose="020B0600070205080204" charset="-128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hf hdr="0" ftr="0" dt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kern="1200">
          <a:solidFill>
            <a:srgbClr val="FFFFFF"/>
          </a:solidFill>
          <a:latin typeface="+mj-lt"/>
          <a:ea typeface="MS PGothic" panose="020B0600070205080204" charset="-128"/>
          <a:cs typeface="MS PGothic" panose="020B0600070205080204" charset="-128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entury Gothic" panose="020B0502020202020204" charset="0"/>
          <a:ea typeface="MS PGothic" panose="020B0600070205080204" charset="-128"/>
          <a:cs typeface="MS PGothic" panose="020B0600070205080204" charset="-128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entury Gothic" panose="020B0502020202020204" charset="0"/>
          <a:ea typeface="MS PGothic" panose="020B0600070205080204" charset="-128"/>
          <a:cs typeface="MS PGothic" panose="020B0600070205080204" charset="-128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entury Gothic" panose="020B0502020202020204" charset="0"/>
          <a:ea typeface="MS PGothic" panose="020B0600070205080204" charset="-128"/>
          <a:cs typeface="MS PGothic" panose="020B0600070205080204" charset="-128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entury Gothic" panose="020B050202020202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entury Gothic" panose="020B050202020202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entury Gothic" panose="020B050202020202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entury Gothic" panose="020B050202020202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entury Gothic" panose="020B050202020202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sz="2000" b="1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–"/>
        <a:defRPr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257300" indent="-342900" algn="l" defTabSz="457200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  <a:latin typeface="+mj-ea"/>
                <a:ea typeface="+mj-ea"/>
              </a:rPr>
              <a:t>压强</a:t>
            </a:r>
            <a:r>
              <a:rPr lang="zh-CN" altLang="en-US" dirty="0" smtClean="0">
                <a:solidFill>
                  <a:schemeClr val="tx1"/>
                </a:solidFill>
                <a:latin typeface="+mj-ea"/>
                <a:ea typeface="+mj-ea"/>
              </a:rPr>
              <a:t>约束的</a:t>
            </a:r>
            <a:r>
              <a:rPr lang="zh-CN" altLang="en-US" dirty="0" smtClean="0">
                <a:solidFill>
                  <a:schemeClr val="tx1"/>
                </a:solidFill>
                <a:latin typeface="+mj-ea"/>
                <a:ea typeface="+mj-ea"/>
              </a:rPr>
              <a:t>平衡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626606"/>
            <a:ext cx="9144000" cy="1655762"/>
          </a:xfrm>
        </p:spPr>
        <p:txBody>
          <a:bodyPr/>
          <a:lstStyle/>
          <a:p>
            <a:r>
              <a:rPr lang="zh-CN" altLang="en-US" sz="2000" b="0" dirty="0">
                <a:latin typeface="+mn-ea"/>
                <a:ea typeface="+mn-ea"/>
              </a:rPr>
              <a:t>张家</a:t>
            </a:r>
            <a:r>
              <a:rPr lang="zh-CN" altLang="en-US" sz="2000" b="0" dirty="0" smtClean="0">
                <a:latin typeface="+mn-ea"/>
                <a:ea typeface="+mn-ea"/>
              </a:rPr>
              <a:t>源</a:t>
            </a:r>
            <a:endParaRPr lang="en-US" altLang="zh-CN" sz="2000" b="0" dirty="0" smtClean="0">
              <a:latin typeface="+mn-ea"/>
              <a:ea typeface="+mn-ea"/>
            </a:endParaRPr>
          </a:p>
          <a:p>
            <a:r>
              <a:rPr lang="zh-CN" altLang="en-US" sz="2000" b="0" dirty="0">
                <a:latin typeface="+mn-ea"/>
                <a:ea typeface="+mn-ea"/>
              </a:rPr>
              <a:t>托卡马克物理实验</a:t>
            </a:r>
            <a:r>
              <a:rPr lang="zh-CN" altLang="en-US" sz="2000" b="0" dirty="0" smtClean="0">
                <a:latin typeface="+mn-ea"/>
                <a:ea typeface="+mn-ea"/>
              </a:rPr>
              <a:t>研究室</a:t>
            </a:r>
            <a:endParaRPr lang="en-US" altLang="zh-CN" sz="2000" b="0" dirty="0" smtClean="0">
              <a:latin typeface="+mn-ea"/>
              <a:ea typeface="+mn-ea"/>
            </a:endParaRPr>
          </a:p>
          <a:p>
            <a:r>
              <a:rPr lang="en-US" altLang="zh-CN" sz="2000" b="0" dirty="0" smtClean="0">
                <a:latin typeface="+mn-ea"/>
                <a:ea typeface="+mn-ea"/>
              </a:rPr>
              <a:t>jiayuan.zhang@ipp.ac.cn</a:t>
            </a:r>
            <a:endParaRPr lang="zh-CN" altLang="en-US" sz="2000" b="0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2768906" y="1706393"/>
            <a:ext cx="5196289" cy="4099498"/>
          </a:xfrm>
        </p:spPr>
        <p:txBody>
          <a:bodyPr/>
          <a:lstStyle/>
          <a:p>
            <a:r>
              <a:rPr lang="en-US" altLang="zh-CN" sz="3200" dirty="0" err="1" smtClean="0">
                <a:latin typeface="+mn-ea"/>
                <a:ea typeface="+mn-ea"/>
              </a:rPr>
              <a:t>Te</a:t>
            </a:r>
            <a:r>
              <a:rPr lang="zh-CN" altLang="en-US" sz="3200" dirty="0" smtClean="0">
                <a:latin typeface="+mn-ea"/>
                <a:ea typeface="+mn-ea"/>
              </a:rPr>
              <a:t>、</a:t>
            </a:r>
            <a:r>
              <a:rPr lang="en-US" altLang="zh-CN" sz="3200" dirty="0" err="1" smtClean="0">
                <a:latin typeface="+mn-ea"/>
                <a:ea typeface="+mn-ea"/>
              </a:rPr>
              <a:t>Ti</a:t>
            </a:r>
            <a:r>
              <a:rPr lang="zh-CN" altLang="en-US" sz="3200" dirty="0" smtClean="0">
                <a:latin typeface="+mn-ea"/>
                <a:ea typeface="+mn-ea"/>
              </a:rPr>
              <a:t>拟合</a:t>
            </a:r>
            <a:endParaRPr lang="en-US" altLang="zh-CN" sz="3200" dirty="0" smtClean="0">
              <a:latin typeface="+mn-ea"/>
              <a:ea typeface="+mn-ea"/>
            </a:endParaRPr>
          </a:p>
          <a:p>
            <a:endParaRPr lang="en-US" altLang="zh-CN" sz="3200" dirty="0" smtClean="0">
              <a:latin typeface="+mn-ea"/>
              <a:ea typeface="+mn-ea"/>
            </a:endParaRPr>
          </a:p>
          <a:p>
            <a:r>
              <a:rPr lang="en-US" altLang="zh-CN" sz="3200" dirty="0">
                <a:latin typeface="+mn-ea"/>
                <a:ea typeface="+mn-ea"/>
              </a:rPr>
              <a:t>n</a:t>
            </a:r>
            <a:r>
              <a:rPr lang="en-US" altLang="zh-CN" sz="3200" dirty="0" smtClean="0">
                <a:latin typeface="+mn-ea"/>
                <a:ea typeface="+mn-ea"/>
              </a:rPr>
              <a:t>e</a:t>
            </a:r>
            <a:r>
              <a:rPr lang="zh-CN" altLang="en-US" sz="3200" dirty="0" smtClean="0">
                <a:latin typeface="+mn-ea"/>
                <a:ea typeface="+mn-ea"/>
              </a:rPr>
              <a:t>拟合</a:t>
            </a:r>
            <a:endParaRPr lang="en-US" altLang="zh-CN" sz="3200" dirty="0" smtClean="0">
              <a:latin typeface="+mn-ea"/>
              <a:ea typeface="+mn-ea"/>
            </a:endParaRPr>
          </a:p>
          <a:p>
            <a:endParaRPr lang="en-US" altLang="zh-CN" sz="3200" dirty="0" smtClean="0">
              <a:latin typeface="+mn-ea"/>
              <a:ea typeface="+mn-ea"/>
            </a:endParaRPr>
          </a:p>
          <a:p>
            <a:r>
              <a:rPr lang="zh-CN" altLang="en-US" sz="3200" dirty="0">
                <a:latin typeface="+mn-ea"/>
                <a:ea typeface="+mn-ea"/>
              </a:rPr>
              <a:t>压强</a:t>
            </a:r>
            <a:r>
              <a:rPr lang="zh-CN" altLang="en-US" sz="3200" dirty="0" smtClean="0">
                <a:latin typeface="+mn-ea"/>
                <a:ea typeface="+mn-ea"/>
              </a:rPr>
              <a:t>约束的平衡</a:t>
            </a:r>
            <a:endParaRPr lang="en-US" altLang="zh-CN" sz="3200" dirty="0" smtClean="0">
              <a:latin typeface="+mn-ea"/>
              <a:ea typeface="+mn-ea"/>
            </a:endParaRPr>
          </a:p>
          <a:p>
            <a:pPr marL="0" indent="0">
              <a:buNone/>
            </a:pPr>
            <a:endParaRPr lang="en-US" altLang="zh-CN" sz="3200" dirty="0" smtClean="0">
              <a:latin typeface="+mn-ea"/>
              <a:ea typeface="+mn-ea"/>
            </a:endParaRPr>
          </a:p>
          <a:p>
            <a:endParaRPr lang="zh-CN" altLang="en-US" sz="3200" dirty="0">
              <a:latin typeface="+mn-ea"/>
              <a:ea typeface="+mn-ea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algn="ctr"/>
            <a:r>
              <a:rPr lang="en-US" altLang="zh-CN" sz="3200" dirty="0" smtClean="0">
                <a:latin typeface="+mn-ea"/>
                <a:ea typeface="+mn-ea"/>
              </a:rPr>
              <a:t>Outline</a:t>
            </a:r>
            <a:endParaRPr lang="zh-CN" altLang="en-US" sz="320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4102893" y="2928747"/>
            <a:ext cx="3652984" cy="938173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5400" dirty="0" err="1" smtClean="0">
                <a:latin typeface="+mn-ea"/>
                <a:ea typeface="+mn-ea"/>
              </a:rPr>
              <a:t>Te</a:t>
            </a:r>
            <a:r>
              <a:rPr lang="zh-CN" altLang="en-US" sz="5400" dirty="0" smtClean="0">
                <a:latin typeface="+mn-ea"/>
                <a:ea typeface="+mn-ea"/>
              </a:rPr>
              <a:t>、</a:t>
            </a:r>
            <a:r>
              <a:rPr lang="en-US" altLang="zh-CN" sz="5400" dirty="0" err="1" smtClean="0">
                <a:latin typeface="+mn-ea"/>
                <a:ea typeface="+mn-ea"/>
              </a:rPr>
              <a:t>Ti</a:t>
            </a:r>
            <a:r>
              <a:rPr lang="zh-CN" altLang="en-US" sz="5400" dirty="0" smtClean="0">
                <a:latin typeface="+mn-ea"/>
                <a:ea typeface="+mn-ea"/>
              </a:rPr>
              <a:t>拟合</a:t>
            </a:r>
            <a:endParaRPr lang="zh-CN" altLang="en-US" sz="5400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+mn-ea"/>
                <a:ea typeface="+mn-ea"/>
              </a:rPr>
              <a:t>需要用到的脚本程序：</a:t>
            </a:r>
            <a:r>
              <a:rPr lang="en-US" altLang="zh-CN" dirty="0">
                <a:latin typeface="+mn-ea"/>
                <a:ea typeface="+mn-ea"/>
              </a:rPr>
              <a:t>/scratch/</a:t>
            </a:r>
            <a:r>
              <a:rPr lang="en-US" altLang="zh-CN" dirty="0" err="1">
                <a:latin typeface="+mn-ea"/>
                <a:ea typeface="+mn-ea"/>
              </a:rPr>
              <a:t>zhangjy</a:t>
            </a:r>
            <a:r>
              <a:rPr lang="en-US" altLang="zh-CN" dirty="0">
                <a:latin typeface="+mn-ea"/>
                <a:ea typeface="+mn-ea"/>
              </a:rPr>
              <a:t>/</a:t>
            </a:r>
            <a:r>
              <a:rPr lang="en-US" altLang="zh-CN" dirty="0" err="1">
                <a:latin typeface="+mn-ea"/>
                <a:ea typeface="+mn-ea"/>
              </a:rPr>
              <a:t>myPython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r>
              <a:rPr lang="en-US" altLang="zh-CN" dirty="0" smtClean="0">
                <a:latin typeface="+mn-ea"/>
                <a:ea typeface="+mn-ea"/>
              </a:rPr>
              <a:t>run_mefit.py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r>
              <a:rPr lang="en-US" altLang="zh-CN" dirty="0" smtClean="0">
                <a:latin typeface="+mn-ea"/>
                <a:ea typeface="+mn-ea"/>
              </a:rPr>
              <a:t>RZmap.py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r>
              <a:rPr lang="en-US" altLang="zh-CN" dirty="0" smtClean="0">
                <a:latin typeface="+mn-ea"/>
                <a:ea typeface="+mn-ea"/>
              </a:rPr>
              <a:t>OMFIT</a:t>
            </a:r>
            <a:endParaRPr lang="en-US" altLang="zh-CN" dirty="0" smtClean="0">
              <a:latin typeface="+mn-ea"/>
              <a:ea typeface="+mn-ea"/>
            </a:endParaRPr>
          </a:p>
          <a:p>
            <a:r>
              <a:rPr lang="zh-CN" altLang="en-US" dirty="0" smtClean="0">
                <a:latin typeface="+mn-ea"/>
                <a:ea typeface="+mn-ea"/>
              </a:rPr>
              <a:t>需要用到的文件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r>
              <a:rPr lang="en-US" altLang="zh-CN" dirty="0" smtClean="0">
                <a:latin typeface="+mn-ea"/>
                <a:ea typeface="+mn-ea"/>
              </a:rPr>
              <a:t>dataFile.txt (</a:t>
            </a:r>
            <a:r>
              <a:rPr lang="zh-CN" altLang="en-US" dirty="0" smtClean="0">
                <a:latin typeface="+mn-ea"/>
                <a:ea typeface="+mn-ea"/>
              </a:rPr>
              <a:t>手动编辑</a:t>
            </a:r>
            <a:r>
              <a:rPr lang="en-US" altLang="zh-CN" dirty="0" smtClean="0">
                <a:latin typeface="+mn-ea"/>
                <a:ea typeface="+mn-ea"/>
              </a:rPr>
              <a:t>)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r>
              <a:rPr lang="en-US" altLang="zh-CN" dirty="0" smtClean="0">
                <a:latin typeface="+mn-ea"/>
                <a:ea typeface="+mn-ea"/>
              </a:rPr>
              <a:t>g-file (run_mefit.py</a:t>
            </a:r>
            <a:r>
              <a:rPr lang="zh-CN" altLang="en-US" dirty="0" smtClean="0">
                <a:latin typeface="+mn-ea"/>
                <a:ea typeface="+mn-ea"/>
              </a:rPr>
              <a:t>获得，如：</a:t>
            </a:r>
            <a:r>
              <a:rPr lang="en-US" altLang="zh-CN" dirty="0" smtClean="0">
                <a:latin typeface="+mn-ea"/>
                <a:ea typeface="+mn-ea"/>
              </a:rPr>
              <a:t>g090238.08100) 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r>
              <a:rPr lang="en-US" altLang="zh-CN" dirty="0" smtClean="0">
                <a:latin typeface="+mn-ea"/>
                <a:ea typeface="+mn-ea"/>
              </a:rPr>
              <a:t>mapData.txt (Rzmap.py</a:t>
            </a:r>
            <a:r>
              <a:rPr lang="zh-CN" altLang="en-US" dirty="0" smtClean="0">
                <a:latin typeface="+mn-ea"/>
                <a:ea typeface="+mn-ea"/>
              </a:rPr>
              <a:t>获得</a:t>
            </a:r>
            <a:r>
              <a:rPr lang="en-US" altLang="zh-CN" dirty="0" smtClean="0">
                <a:latin typeface="+mn-ea"/>
                <a:ea typeface="+mn-ea"/>
              </a:rPr>
              <a:t>)</a:t>
            </a:r>
            <a:endParaRPr lang="en-US" altLang="zh-CN" dirty="0" smtClean="0">
              <a:latin typeface="+mn-ea"/>
              <a:ea typeface="+mn-ea"/>
            </a:endParaRPr>
          </a:p>
          <a:p>
            <a:r>
              <a:rPr lang="en-US" altLang="zh-CN" dirty="0" err="1" smtClean="0">
                <a:latin typeface="+mn-ea"/>
                <a:ea typeface="+mn-ea"/>
              </a:rPr>
              <a:t>Te</a:t>
            </a:r>
            <a:r>
              <a:rPr lang="zh-CN" altLang="en-US" dirty="0" smtClean="0">
                <a:latin typeface="+mn-ea"/>
                <a:ea typeface="+mn-ea"/>
              </a:rPr>
              <a:t>数据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r>
              <a:rPr lang="en-US" altLang="zh-CN" dirty="0" smtClean="0">
                <a:latin typeface="+mn-ea"/>
                <a:ea typeface="+mn-ea"/>
              </a:rPr>
              <a:t>TS</a:t>
            </a:r>
            <a:endParaRPr lang="en-US" altLang="zh-CN" dirty="0" smtClean="0">
              <a:latin typeface="+mn-ea"/>
              <a:ea typeface="+mn-ea"/>
            </a:endParaRPr>
          </a:p>
          <a:p>
            <a:r>
              <a:rPr lang="en-US" altLang="zh-CN" dirty="0" err="1" smtClean="0">
                <a:latin typeface="+mn-ea"/>
                <a:ea typeface="+mn-ea"/>
              </a:rPr>
              <a:t>Ti</a:t>
            </a:r>
            <a:r>
              <a:rPr lang="zh-CN" altLang="en-US" dirty="0" smtClean="0">
                <a:latin typeface="+mn-ea"/>
                <a:ea typeface="+mn-ea"/>
              </a:rPr>
              <a:t>数据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r>
              <a:rPr lang="zh-CN" altLang="en-US" dirty="0" smtClean="0">
                <a:latin typeface="+mn-ea"/>
                <a:ea typeface="+mn-ea"/>
              </a:rPr>
              <a:t>弯晶谱仪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2800" dirty="0" smtClean="0">
                <a:latin typeface="+mj-ea"/>
                <a:ea typeface="+mj-ea"/>
              </a:rPr>
              <a:t>准备条件</a:t>
            </a:r>
            <a:endParaRPr lang="zh-CN" altLang="en-US" sz="2800" dirty="0">
              <a:latin typeface="+mj-ea"/>
              <a:ea typeface="+mj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025908" y="1917889"/>
            <a:ext cx="2010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+mn-ea"/>
                <a:ea typeface="+mn-ea"/>
              </a:rPr>
              <a:t>TS</a:t>
            </a:r>
            <a:r>
              <a:rPr lang="zh-CN" altLang="en-US" dirty="0" smtClean="0">
                <a:latin typeface="+mn-ea"/>
                <a:ea typeface="+mn-ea"/>
              </a:rPr>
              <a:t>数据：</a:t>
            </a:r>
            <a:r>
              <a:rPr lang="en-US" altLang="zh-CN" dirty="0" err="1" smtClean="0">
                <a:latin typeface="+mn-ea"/>
                <a:ea typeface="+mn-ea"/>
              </a:rPr>
              <a:t>dataFile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640519" y="3996099"/>
            <a:ext cx="1545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+mn-ea"/>
                <a:ea typeface="+mn-ea"/>
              </a:rPr>
              <a:t>mapData.txt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577024" y="1917889"/>
            <a:ext cx="2268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+mn-ea"/>
                <a:ea typeface="+mn-ea"/>
              </a:rPr>
              <a:t>r</a:t>
            </a:r>
            <a:r>
              <a:rPr lang="en-US" altLang="zh-CN" dirty="0" smtClean="0">
                <a:latin typeface="+mn-ea"/>
                <a:ea typeface="+mn-ea"/>
              </a:rPr>
              <a:t>un_mefit.py: g-file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952432" y="4823982"/>
            <a:ext cx="922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+mn-ea"/>
                <a:ea typeface="+mn-ea"/>
              </a:rPr>
              <a:t>OMFIT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7025908" y="1810608"/>
            <a:ext cx="2090092" cy="583894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9621643" y="1803622"/>
            <a:ext cx="2179331" cy="583894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780108" y="3165034"/>
            <a:ext cx="1266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+mn-ea"/>
                <a:ea typeface="+mn-ea"/>
              </a:rPr>
              <a:t>Rzmap.py</a:t>
            </a:r>
            <a:endParaRPr lang="zh-CN" altLang="en-US" dirty="0">
              <a:latin typeface="+mn-ea"/>
              <a:ea typeface="+mn-ea"/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>
            <a:off x="8714691" y="2478965"/>
            <a:ext cx="475481" cy="7013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H="1">
            <a:off x="9584672" y="2463697"/>
            <a:ext cx="380944" cy="727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圆角矩形 19"/>
          <p:cNvSpPr/>
          <p:nvPr/>
        </p:nvSpPr>
        <p:spPr>
          <a:xfrm>
            <a:off x="8780108" y="3209005"/>
            <a:ext cx="1266693" cy="343661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8640519" y="4003085"/>
            <a:ext cx="1545872" cy="362346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" name="直接箭头连接符 22"/>
          <p:cNvCxnSpPr>
            <a:stCxn id="20" idx="2"/>
            <a:endCxn id="21" idx="0"/>
          </p:cNvCxnSpPr>
          <p:nvPr/>
        </p:nvCxnSpPr>
        <p:spPr>
          <a:xfrm>
            <a:off x="9413455" y="3552666"/>
            <a:ext cx="0" cy="4504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圆角矩形 23"/>
          <p:cNvSpPr/>
          <p:nvPr/>
        </p:nvSpPr>
        <p:spPr>
          <a:xfrm>
            <a:off x="8780108" y="4817588"/>
            <a:ext cx="1266693" cy="375726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箭头连接符 24"/>
          <p:cNvCxnSpPr/>
          <p:nvPr/>
        </p:nvCxnSpPr>
        <p:spPr>
          <a:xfrm>
            <a:off x="9413455" y="4365431"/>
            <a:ext cx="0" cy="4504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圆角矩形 27"/>
          <p:cNvSpPr/>
          <p:nvPr/>
        </p:nvSpPr>
        <p:spPr>
          <a:xfrm>
            <a:off x="8793084" y="5706032"/>
            <a:ext cx="1266693" cy="375726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9214705" y="5702539"/>
            <a:ext cx="423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 smtClean="0">
                <a:latin typeface="+mn-ea"/>
                <a:ea typeface="+mn-ea"/>
              </a:rPr>
              <a:t>Te</a:t>
            </a:r>
            <a:endParaRPr lang="zh-CN" altLang="en-US" dirty="0">
              <a:latin typeface="+mn-ea"/>
              <a:ea typeface="+mn-ea"/>
            </a:endParaRPr>
          </a:p>
        </p:txBody>
      </p:sp>
      <p:cxnSp>
        <p:nvCxnSpPr>
          <p:cNvPr id="30" name="直接箭头连接符 29"/>
          <p:cNvCxnSpPr/>
          <p:nvPr/>
        </p:nvCxnSpPr>
        <p:spPr>
          <a:xfrm>
            <a:off x="9426429" y="5252120"/>
            <a:ext cx="0" cy="4504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9576576" y="360968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  <a:ea typeface="+mn-ea"/>
              </a:rPr>
              <a:t>坐标变换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9576576" y="525212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+mn-ea"/>
                <a:ea typeface="+mn-ea"/>
              </a:rPr>
              <a:t>拟合</a:t>
            </a:r>
            <a:endParaRPr lang="zh-CN" altLang="en-US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+mn-ea"/>
                <a:ea typeface="+mn-ea"/>
              </a:rPr>
              <a:t>将获得的</a:t>
            </a:r>
            <a:r>
              <a:rPr lang="en-US" altLang="zh-CN" dirty="0" err="1" smtClean="0">
                <a:latin typeface="+mn-ea"/>
                <a:ea typeface="+mn-ea"/>
              </a:rPr>
              <a:t>Te</a:t>
            </a:r>
            <a:r>
              <a:rPr lang="zh-CN" altLang="en-US" dirty="0" smtClean="0">
                <a:latin typeface="+mn-ea"/>
                <a:ea typeface="+mn-ea"/>
              </a:rPr>
              <a:t>数据按照</a:t>
            </a:r>
            <a:r>
              <a:rPr lang="en-US" altLang="zh-CN" dirty="0" smtClean="0">
                <a:latin typeface="+mn-ea"/>
                <a:ea typeface="+mn-ea"/>
              </a:rPr>
              <a:t>R</a:t>
            </a:r>
            <a:r>
              <a:rPr lang="zh-CN" altLang="en-US" dirty="0" smtClean="0">
                <a:latin typeface="+mn-ea"/>
                <a:ea typeface="+mn-ea"/>
              </a:rPr>
              <a:t>、</a:t>
            </a:r>
            <a:r>
              <a:rPr lang="en-US" altLang="zh-CN" dirty="0" smtClean="0">
                <a:latin typeface="+mn-ea"/>
                <a:ea typeface="+mn-ea"/>
              </a:rPr>
              <a:t>Z</a:t>
            </a:r>
            <a:r>
              <a:rPr lang="zh-CN" altLang="en-US" dirty="0" smtClean="0">
                <a:latin typeface="+mn-ea"/>
                <a:ea typeface="+mn-ea"/>
              </a:rPr>
              <a:t>、</a:t>
            </a:r>
            <a:r>
              <a:rPr lang="en-US" altLang="zh-CN" dirty="0" err="1" smtClean="0">
                <a:latin typeface="+mn-ea"/>
                <a:ea typeface="+mn-ea"/>
              </a:rPr>
              <a:t>Te</a:t>
            </a:r>
            <a:r>
              <a:rPr lang="zh-CN" altLang="en-US" dirty="0" smtClean="0">
                <a:latin typeface="+mn-ea"/>
                <a:ea typeface="+mn-ea"/>
              </a:rPr>
              <a:t>、</a:t>
            </a:r>
            <a:r>
              <a:rPr lang="en-US" altLang="zh-CN" dirty="0" err="1" smtClean="0">
                <a:latin typeface="+mn-ea"/>
                <a:ea typeface="+mn-ea"/>
              </a:rPr>
              <a:t>Te_error</a:t>
            </a:r>
            <a:r>
              <a:rPr lang="zh-CN" altLang="en-US" dirty="0" smtClean="0">
                <a:latin typeface="+mn-ea"/>
                <a:ea typeface="+mn-ea"/>
              </a:rPr>
              <a:t>（可忽略）的顺序粘贴至</a:t>
            </a:r>
            <a:r>
              <a:rPr lang="en-US" altLang="zh-CN" dirty="0" err="1" smtClean="0">
                <a:latin typeface="+mn-ea"/>
                <a:ea typeface="+mn-ea"/>
              </a:rPr>
              <a:t>dataFile</a:t>
            </a:r>
            <a:r>
              <a:rPr lang="zh-CN" altLang="en-US" dirty="0" smtClean="0">
                <a:latin typeface="+mn-ea"/>
                <a:ea typeface="+mn-ea"/>
              </a:rPr>
              <a:t>中，然后</a:t>
            </a:r>
            <a:r>
              <a:rPr lang="en-US" altLang="zh-CN" dirty="0">
                <a:latin typeface="+mn-ea"/>
                <a:ea typeface="+mn-ea"/>
              </a:rPr>
              <a:t>save</a:t>
            </a:r>
            <a:endParaRPr lang="en-US" altLang="zh-CN" dirty="0" smtClean="0">
              <a:latin typeface="+mn-ea"/>
              <a:ea typeface="+mn-ea"/>
            </a:endParaRPr>
          </a:p>
          <a:p>
            <a:pPr marL="0" indent="0">
              <a:buNone/>
            </a:pP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2800" dirty="0" err="1">
                <a:latin typeface="+mj-ea"/>
                <a:ea typeface="+mj-ea"/>
              </a:rPr>
              <a:t>dataFile</a:t>
            </a:r>
            <a:endParaRPr lang="zh-CN" altLang="en-US" sz="2800" dirty="0">
              <a:latin typeface="+mj-ea"/>
              <a:ea typeface="+mj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6153" y="1866265"/>
            <a:ext cx="6219825" cy="4819650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2704563" y="2781837"/>
            <a:ext cx="1455313" cy="370911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4533363" y="2781836"/>
            <a:ext cx="1584102" cy="3709115"/>
          </a:xfrm>
          <a:prstGeom prst="round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6276303" y="2781835"/>
            <a:ext cx="1584102" cy="3709115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7986879" y="2781835"/>
            <a:ext cx="847860" cy="3709115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291780" y="4091424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R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149725" y="4091424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rgbClr val="002060"/>
                </a:solidFill>
              </a:rPr>
              <a:t>Z</a:t>
            </a:r>
            <a:endParaRPr lang="zh-CN" altLang="en-US" b="1" dirty="0">
              <a:solidFill>
                <a:srgbClr val="00206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884063" y="4091424"/>
            <a:ext cx="436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 smtClean="0"/>
              <a:t>Te</a:t>
            </a:r>
            <a:endParaRPr lang="zh-CN" altLang="en-US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7858959" y="4091424"/>
            <a:ext cx="1103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 smtClean="0"/>
              <a:t>Te_error</a:t>
            </a:r>
            <a:endParaRPr lang="zh-CN" altLang="en-US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9500704" y="4091424"/>
            <a:ext cx="2044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+mn-ea"/>
                <a:ea typeface="+mn-ea"/>
              </a:rPr>
              <a:t>此</a:t>
            </a:r>
            <a:r>
              <a:rPr lang="zh-CN" altLang="en-US" b="1" dirty="0" smtClean="0">
                <a:latin typeface="+mn-ea"/>
                <a:ea typeface="+mn-ea"/>
              </a:rPr>
              <a:t>处忽略了</a:t>
            </a:r>
            <a:r>
              <a:rPr lang="en-US" altLang="zh-CN" b="1" dirty="0" err="1" smtClean="0">
                <a:latin typeface="+mn-ea"/>
                <a:ea typeface="+mn-ea"/>
              </a:rPr>
              <a:t>Te</a:t>
            </a:r>
            <a:r>
              <a:rPr lang="zh-CN" altLang="en-US" b="1" dirty="0" smtClean="0">
                <a:latin typeface="+mn-ea"/>
                <a:ea typeface="+mn-ea"/>
              </a:rPr>
              <a:t>误差</a:t>
            </a:r>
            <a:endParaRPr lang="zh-CN" altLang="en-US" b="1" dirty="0">
              <a:latin typeface="+mn-ea"/>
              <a:ea typeface="+mn-ea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9445682" y="3966996"/>
            <a:ext cx="2102418" cy="618187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右箭头 15"/>
          <p:cNvSpPr/>
          <p:nvPr/>
        </p:nvSpPr>
        <p:spPr>
          <a:xfrm>
            <a:off x="8923741" y="4162232"/>
            <a:ext cx="413241" cy="227713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+mn-ea"/>
                <a:ea typeface="+mn-ea"/>
              </a:rPr>
              <a:t>在</a:t>
            </a:r>
            <a:r>
              <a:rPr lang="en-US" altLang="zh-CN" dirty="0" err="1" smtClean="0">
                <a:latin typeface="+mn-ea"/>
                <a:ea typeface="+mn-ea"/>
              </a:rPr>
              <a:t>mypython</a:t>
            </a:r>
            <a:r>
              <a:rPr lang="zh-CN" altLang="en-US" dirty="0" smtClean="0">
                <a:latin typeface="+mn-ea"/>
                <a:ea typeface="+mn-ea"/>
              </a:rPr>
              <a:t>文件夹中</a:t>
            </a:r>
            <a:r>
              <a:rPr lang="en-US" altLang="zh-CN" dirty="0" smtClean="0">
                <a:latin typeface="+mn-ea"/>
                <a:ea typeface="+mn-ea"/>
              </a:rPr>
              <a:t>open in terminal</a:t>
            </a:r>
            <a:r>
              <a:rPr lang="zh-CN" altLang="en-US" dirty="0" smtClean="0">
                <a:latin typeface="+mn-ea"/>
                <a:ea typeface="+mn-ea"/>
              </a:rPr>
              <a:t>，运行：</a:t>
            </a:r>
            <a:r>
              <a:rPr lang="en-US" altLang="zh-CN" dirty="0" smtClean="0">
                <a:latin typeface="+mn-ea"/>
                <a:ea typeface="+mn-ea"/>
              </a:rPr>
              <a:t>run_mefit.py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r>
              <a:rPr lang="zh-CN" altLang="en-US" dirty="0" smtClean="0">
                <a:latin typeface="+mn-ea"/>
                <a:ea typeface="+mn-ea"/>
              </a:rPr>
              <a:t>首先运行代码：</a:t>
            </a:r>
            <a:r>
              <a:rPr lang="en-US" altLang="zh-CN" dirty="0" smtClean="0">
                <a:latin typeface="+mn-ea"/>
                <a:ea typeface="+mn-ea"/>
              </a:rPr>
              <a:t>source </a:t>
            </a:r>
            <a:r>
              <a:rPr lang="en-US" altLang="zh-CN" dirty="0" err="1" smtClean="0">
                <a:latin typeface="+mn-ea"/>
                <a:ea typeface="+mn-ea"/>
              </a:rPr>
              <a:t>env_set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r>
              <a:rPr lang="zh-CN" altLang="en-US" dirty="0" smtClean="0">
                <a:latin typeface="+mn-ea"/>
                <a:ea typeface="+mn-ea"/>
              </a:rPr>
              <a:t>然后获取</a:t>
            </a:r>
            <a:r>
              <a:rPr lang="en-US" altLang="zh-CN" dirty="0" smtClean="0">
                <a:latin typeface="+mn-ea"/>
                <a:ea typeface="+mn-ea"/>
              </a:rPr>
              <a:t>g-file</a:t>
            </a:r>
            <a:r>
              <a:rPr lang="zh-CN" altLang="en-US" dirty="0" smtClean="0">
                <a:latin typeface="+mn-ea"/>
                <a:ea typeface="+mn-ea"/>
              </a:rPr>
              <a:t>，调用格式：</a:t>
            </a:r>
            <a:r>
              <a:rPr lang="en-US" altLang="zh-CN" dirty="0" smtClean="0">
                <a:latin typeface="+mn-ea"/>
                <a:ea typeface="+mn-ea"/>
              </a:rPr>
              <a:t>run_mefit.py </a:t>
            </a:r>
            <a:r>
              <a:rPr lang="en-US" altLang="zh-CN" dirty="0" err="1" smtClean="0">
                <a:latin typeface="+mn-ea"/>
                <a:ea typeface="+mn-ea"/>
              </a:rPr>
              <a:t>shotnumber</a:t>
            </a:r>
            <a:r>
              <a:rPr lang="en-US" altLang="zh-CN" dirty="0" smtClean="0">
                <a:latin typeface="+mn-ea"/>
                <a:ea typeface="+mn-ea"/>
              </a:rPr>
              <a:t> [</a:t>
            </a:r>
            <a:r>
              <a:rPr lang="en-US" altLang="zh-CN" dirty="0" err="1" smtClean="0">
                <a:latin typeface="+mn-ea"/>
                <a:ea typeface="+mn-ea"/>
              </a:rPr>
              <a:t>timeslice</a:t>
            </a:r>
            <a:r>
              <a:rPr lang="en-US" altLang="zh-CN" dirty="0" smtClean="0">
                <a:latin typeface="+mn-ea"/>
                <a:ea typeface="+mn-ea"/>
              </a:rPr>
              <a:t>]</a:t>
            </a:r>
            <a:r>
              <a:rPr lang="zh-CN" altLang="en-US" dirty="0" smtClean="0">
                <a:latin typeface="+mn-ea"/>
                <a:ea typeface="+mn-ea"/>
              </a:rPr>
              <a:t>，如</a:t>
            </a:r>
            <a:r>
              <a:rPr lang="en-US" altLang="zh-CN" dirty="0" smtClean="0">
                <a:latin typeface="+mn-ea"/>
                <a:ea typeface="+mn-ea"/>
              </a:rPr>
              <a:t>:run_mefit.py 90238 [8.1]</a:t>
            </a:r>
            <a:endParaRPr lang="en-US" altLang="zh-CN" dirty="0" smtClean="0">
              <a:latin typeface="+mn-ea"/>
              <a:ea typeface="+mn-ea"/>
            </a:endParaRPr>
          </a:p>
          <a:p>
            <a:pPr marL="457200" lvl="1" indent="0">
              <a:buNone/>
            </a:pP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2800" dirty="0" smtClean="0">
                <a:latin typeface="+mn-ea"/>
                <a:ea typeface="+mn-ea"/>
              </a:rPr>
              <a:t>获取</a:t>
            </a:r>
            <a:r>
              <a:rPr lang="en-US" altLang="zh-CN" sz="2800" dirty="0" smtClean="0">
                <a:latin typeface="+mn-ea"/>
                <a:ea typeface="+mn-ea"/>
              </a:rPr>
              <a:t>g-file</a:t>
            </a:r>
            <a:endParaRPr lang="zh-CN" altLang="en-US" sz="2800" dirty="0">
              <a:latin typeface="+mn-ea"/>
              <a:ea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102" y="2397255"/>
            <a:ext cx="6296025" cy="42005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521968" y="3552806"/>
            <a:ext cx="19119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+mn-ea"/>
                <a:ea typeface="+mn-ea"/>
              </a:rPr>
              <a:t>获得的结果放在</a:t>
            </a:r>
            <a:r>
              <a:rPr lang="en-US" altLang="zh-CN" dirty="0" err="1" smtClean="0">
                <a:latin typeface="+mn-ea"/>
                <a:ea typeface="+mn-ea"/>
              </a:rPr>
              <a:t>mefit</a:t>
            </a:r>
            <a:r>
              <a:rPr lang="zh-CN" altLang="en-US" dirty="0" smtClean="0">
                <a:latin typeface="+mn-ea"/>
                <a:ea typeface="+mn-ea"/>
              </a:rPr>
              <a:t>文件夹中，文件名为</a:t>
            </a:r>
            <a:r>
              <a:rPr lang="en-US" altLang="zh-CN" dirty="0" smtClean="0">
                <a:latin typeface="+mn-ea"/>
                <a:ea typeface="+mn-ea"/>
              </a:rPr>
              <a:t>g090238.08100</a:t>
            </a:r>
            <a:endParaRPr lang="zh-CN" altLang="en-US" dirty="0">
              <a:latin typeface="+mn-ea"/>
              <a:ea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4732" y="3705295"/>
            <a:ext cx="1304925" cy="895350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7360127" y="3434576"/>
            <a:ext cx="2151863" cy="140505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右箭头 7"/>
          <p:cNvSpPr/>
          <p:nvPr/>
        </p:nvSpPr>
        <p:spPr>
          <a:xfrm>
            <a:off x="9595773" y="4078129"/>
            <a:ext cx="390292" cy="14968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>
                <a:latin typeface="+mn-ea"/>
                <a:ea typeface="+mn-ea"/>
              </a:rPr>
              <a:t>dataFile</a:t>
            </a:r>
            <a:r>
              <a:rPr lang="zh-CN" altLang="en-US" dirty="0" smtClean="0">
                <a:latin typeface="+mn-ea"/>
                <a:ea typeface="+mn-ea"/>
              </a:rPr>
              <a:t>中的数据是</a:t>
            </a:r>
            <a:r>
              <a:rPr lang="en-US" altLang="zh-CN" dirty="0" smtClean="0">
                <a:latin typeface="+mn-ea"/>
                <a:ea typeface="+mn-ea"/>
              </a:rPr>
              <a:t>R</a:t>
            </a:r>
            <a:r>
              <a:rPr lang="zh-CN" altLang="en-US" dirty="0" smtClean="0">
                <a:latin typeface="+mn-ea"/>
                <a:ea typeface="+mn-ea"/>
              </a:rPr>
              <a:t>、</a:t>
            </a:r>
            <a:r>
              <a:rPr lang="en-US" altLang="zh-CN" dirty="0" smtClean="0">
                <a:latin typeface="+mn-ea"/>
                <a:ea typeface="+mn-ea"/>
              </a:rPr>
              <a:t>Z</a:t>
            </a:r>
            <a:r>
              <a:rPr lang="zh-CN" altLang="en-US" dirty="0" smtClean="0">
                <a:latin typeface="+mn-ea"/>
                <a:ea typeface="+mn-ea"/>
              </a:rPr>
              <a:t>坐标，坐标变换为归一化半径</a:t>
            </a:r>
            <a:r>
              <a:rPr lang="en-US" altLang="zh-CN" dirty="0" smtClean="0">
                <a:latin typeface="+mn-ea"/>
                <a:ea typeface="+mn-ea"/>
              </a:rPr>
              <a:t>ρ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r>
              <a:rPr lang="zh-CN" altLang="en-US" dirty="0" smtClean="0">
                <a:latin typeface="+mn-ea"/>
                <a:ea typeface="+mn-ea"/>
              </a:rPr>
              <a:t>首先将上一步获得的</a:t>
            </a:r>
            <a:r>
              <a:rPr lang="en-US" altLang="zh-CN" dirty="0" smtClean="0">
                <a:latin typeface="+mn-ea"/>
                <a:ea typeface="+mn-ea"/>
              </a:rPr>
              <a:t>g-file</a:t>
            </a:r>
            <a:r>
              <a:rPr lang="zh-CN" altLang="en-US" dirty="0" smtClean="0">
                <a:latin typeface="+mn-ea"/>
                <a:ea typeface="+mn-ea"/>
              </a:rPr>
              <a:t>复制</a:t>
            </a:r>
            <a:r>
              <a:rPr lang="en-US" altLang="zh-CN" dirty="0" smtClean="0">
                <a:latin typeface="+mn-ea"/>
                <a:ea typeface="+mn-ea"/>
              </a:rPr>
              <a:t>/</a:t>
            </a:r>
            <a:r>
              <a:rPr lang="zh-CN" altLang="en-US" dirty="0" smtClean="0">
                <a:latin typeface="+mn-ea"/>
                <a:ea typeface="+mn-ea"/>
              </a:rPr>
              <a:t>剪切到</a:t>
            </a:r>
            <a:r>
              <a:rPr lang="en-US" altLang="zh-CN" dirty="0" err="1" smtClean="0">
                <a:latin typeface="+mn-ea"/>
                <a:ea typeface="+mn-ea"/>
              </a:rPr>
              <a:t>mypython</a:t>
            </a:r>
            <a:r>
              <a:rPr lang="zh-CN" altLang="en-US" dirty="0">
                <a:latin typeface="+mn-ea"/>
                <a:ea typeface="+mn-ea"/>
              </a:rPr>
              <a:t>文件夹</a:t>
            </a:r>
            <a:r>
              <a:rPr lang="zh-CN" altLang="en-US" dirty="0" smtClean="0">
                <a:latin typeface="+mn-ea"/>
                <a:ea typeface="+mn-ea"/>
              </a:rPr>
              <a:t>中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r>
              <a:rPr lang="zh-CN" altLang="en-US" dirty="0" smtClean="0">
                <a:latin typeface="+mn-ea"/>
                <a:ea typeface="+mn-ea"/>
              </a:rPr>
              <a:t>在</a:t>
            </a:r>
            <a:r>
              <a:rPr lang="en-US" altLang="zh-CN" dirty="0" smtClean="0">
                <a:latin typeface="+mn-ea"/>
                <a:ea typeface="+mn-ea"/>
              </a:rPr>
              <a:t>terminal</a:t>
            </a:r>
            <a:r>
              <a:rPr lang="zh-CN" altLang="en-US" dirty="0" smtClean="0">
                <a:latin typeface="+mn-ea"/>
                <a:ea typeface="+mn-ea"/>
              </a:rPr>
              <a:t>中运行</a:t>
            </a:r>
            <a:r>
              <a:rPr lang="en-US" altLang="zh-CN" dirty="0" smtClean="0">
                <a:latin typeface="+mn-ea"/>
                <a:ea typeface="+mn-ea"/>
              </a:rPr>
              <a:t>RZmap.py</a:t>
            </a:r>
            <a:r>
              <a:rPr lang="zh-CN" altLang="en-US" dirty="0" smtClean="0">
                <a:latin typeface="+mn-ea"/>
                <a:ea typeface="+mn-ea"/>
              </a:rPr>
              <a:t>，格式为：</a:t>
            </a:r>
            <a:r>
              <a:rPr lang="en-US" altLang="zh-CN" dirty="0" smtClean="0">
                <a:latin typeface="+mn-ea"/>
                <a:ea typeface="+mn-ea"/>
              </a:rPr>
              <a:t>python RZmap.py g-file </a:t>
            </a:r>
            <a:r>
              <a:rPr lang="en-US" altLang="zh-CN" dirty="0" err="1" smtClean="0">
                <a:latin typeface="+mn-ea"/>
                <a:ea typeface="+mn-ea"/>
              </a:rPr>
              <a:t>dataFile</a:t>
            </a:r>
            <a:r>
              <a:rPr lang="zh-CN" altLang="en-US" dirty="0" smtClean="0">
                <a:latin typeface="+mn-ea"/>
                <a:ea typeface="+mn-ea"/>
              </a:rPr>
              <a:t>，如：</a:t>
            </a:r>
            <a:endParaRPr lang="en-US" altLang="zh-CN" dirty="0" smtClean="0">
              <a:latin typeface="+mn-ea"/>
              <a:ea typeface="+mn-ea"/>
            </a:endParaRPr>
          </a:p>
          <a:p>
            <a:pPr marL="457200" lvl="1" indent="0">
              <a:buNone/>
            </a:pPr>
            <a:r>
              <a:rPr lang="en-US" altLang="zh-CN" dirty="0">
                <a:latin typeface="+mn-ea"/>
                <a:ea typeface="+mn-ea"/>
              </a:rPr>
              <a:t>	</a:t>
            </a:r>
            <a:r>
              <a:rPr lang="en-US" altLang="zh-CN" dirty="0" smtClean="0">
                <a:latin typeface="+mn-ea"/>
                <a:ea typeface="+mn-ea"/>
              </a:rPr>
              <a:t>python Rzmap.py g090238.08100 </a:t>
            </a:r>
            <a:r>
              <a:rPr lang="en-US" altLang="zh-CN" dirty="0" err="1" smtClean="0">
                <a:latin typeface="+mn-ea"/>
                <a:ea typeface="+mn-ea"/>
              </a:rPr>
              <a:t>dataFile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r>
              <a:rPr lang="zh-CN" altLang="en-US" dirty="0">
                <a:latin typeface="+mn-ea"/>
                <a:ea typeface="+mn-ea"/>
              </a:rPr>
              <a:t>转换</a:t>
            </a:r>
            <a:r>
              <a:rPr lang="zh-CN" altLang="en-US" dirty="0" smtClean="0">
                <a:latin typeface="+mn-ea"/>
                <a:ea typeface="+mn-ea"/>
              </a:rPr>
              <a:t>后的结果放入了</a:t>
            </a:r>
            <a:r>
              <a:rPr lang="en-US" altLang="zh-CN" dirty="0" smtClean="0">
                <a:latin typeface="+mn-ea"/>
                <a:ea typeface="+mn-ea"/>
              </a:rPr>
              <a:t>mapData.txt</a:t>
            </a:r>
            <a:r>
              <a:rPr lang="zh-CN" altLang="en-US" dirty="0" smtClean="0">
                <a:latin typeface="+mn-ea"/>
                <a:ea typeface="+mn-ea"/>
              </a:rPr>
              <a:t>中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2800" dirty="0" smtClean="0">
                <a:latin typeface="+mn-ea"/>
                <a:ea typeface="+mn-ea"/>
              </a:rPr>
              <a:t>坐标变换：</a:t>
            </a:r>
            <a:r>
              <a:rPr lang="en-US" altLang="zh-CN" sz="2800" dirty="0" smtClean="0">
                <a:latin typeface="+mn-ea"/>
                <a:ea typeface="+mn-ea"/>
              </a:rPr>
              <a:t>RZmap.py</a:t>
            </a:r>
            <a:endParaRPr lang="zh-CN" altLang="en-US" sz="2800" dirty="0">
              <a:latin typeface="+mn-ea"/>
              <a:ea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286" y="3108700"/>
            <a:ext cx="5576743" cy="35772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171" y="2670558"/>
            <a:ext cx="5136282" cy="4187442"/>
          </a:xfrm>
          <a:prstGeom prst="rect">
            <a:avLst/>
          </a:prstGeom>
        </p:spPr>
      </p:pic>
      <p:sp>
        <p:nvSpPr>
          <p:cNvPr id="6" name="右箭头 5"/>
          <p:cNvSpPr/>
          <p:nvPr/>
        </p:nvSpPr>
        <p:spPr>
          <a:xfrm>
            <a:off x="5894024" y="4483865"/>
            <a:ext cx="672029" cy="41344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09603" y="1067413"/>
            <a:ext cx="10972800" cy="4754563"/>
          </a:xfrm>
        </p:spPr>
        <p:txBody>
          <a:bodyPr/>
          <a:lstStyle/>
          <a:p>
            <a:r>
              <a:rPr lang="zh-CN" altLang="en-US" dirty="0" smtClean="0">
                <a:latin typeface="+mn-ea"/>
                <a:ea typeface="+mn-ea"/>
              </a:rPr>
              <a:t>打开</a:t>
            </a:r>
            <a:r>
              <a:rPr lang="en-US" altLang="zh-CN" dirty="0" smtClean="0">
                <a:latin typeface="+mn-ea"/>
                <a:ea typeface="+mn-ea"/>
              </a:rPr>
              <a:t>OMFIT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r>
              <a:rPr lang="zh-CN" altLang="en-US" dirty="0" smtClean="0">
                <a:latin typeface="+mn-ea"/>
                <a:ea typeface="+mn-ea"/>
              </a:rPr>
              <a:t>用自己的方式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r>
              <a:rPr lang="en-US" altLang="zh-CN" dirty="0" smtClean="0">
                <a:latin typeface="+mn-ea"/>
                <a:ea typeface="+mn-ea"/>
              </a:rPr>
              <a:t>Or, </a:t>
            </a:r>
            <a:r>
              <a:rPr lang="zh-CN" altLang="en-US" dirty="0" smtClean="0">
                <a:latin typeface="+mn-ea"/>
                <a:ea typeface="+mn-ea"/>
              </a:rPr>
              <a:t>在别的文件夹中（如</a:t>
            </a:r>
            <a:r>
              <a:rPr lang="en-US" altLang="zh-CN" dirty="0" smtClean="0">
                <a:latin typeface="+mn-ea"/>
                <a:ea typeface="+mn-ea"/>
              </a:rPr>
              <a:t>Desktop</a:t>
            </a:r>
            <a:r>
              <a:rPr lang="zh-CN" altLang="en-US" dirty="0" smtClean="0">
                <a:latin typeface="+mn-ea"/>
                <a:ea typeface="+mn-ea"/>
              </a:rPr>
              <a:t>）打开</a:t>
            </a:r>
            <a:r>
              <a:rPr lang="en-US" altLang="zh-CN" dirty="0" smtClean="0">
                <a:latin typeface="+mn-ea"/>
                <a:ea typeface="+mn-ea"/>
              </a:rPr>
              <a:t>terminal</a:t>
            </a:r>
            <a:r>
              <a:rPr lang="zh-CN" altLang="en-US" dirty="0" smtClean="0">
                <a:latin typeface="+mn-ea"/>
                <a:ea typeface="+mn-ea"/>
              </a:rPr>
              <a:t>，运行：</a:t>
            </a:r>
            <a:r>
              <a:rPr lang="en-US" altLang="zh-CN" dirty="0">
                <a:latin typeface="+mn-ea"/>
                <a:ea typeface="+mn-ea"/>
              </a:rPr>
              <a:t>/home/users/</a:t>
            </a:r>
            <a:r>
              <a:rPr lang="en-US" altLang="zh-CN" dirty="0" err="1">
                <a:latin typeface="+mn-ea"/>
                <a:ea typeface="+mn-ea"/>
              </a:rPr>
              <a:t>jlchen</a:t>
            </a:r>
            <a:r>
              <a:rPr lang="en-US" altLang="zh-CN" dirty="0">
                <a:latin typeface="+mn-ea"/>
                <a:ea typeface="+mn-ea"/>
              </a:rPr>
              <a:t>/bin/</a:t>
            </a:r>
            <a:r>
              <a:rPr lang="en-US" altLang="zh-CN" dirty="0" err="1">
                <a:latin typeface="+mn-ea"/>
                <a:ea typeface="+mn-ea"/>
              </a:rPr>
              <a:t>imdOMFIT_debug</a:t>
            </a:r>
            <a:endParaRPr lang="zh-CN" altLang="en-US" dirty="0">
              <a:latin typeface="+mn-ea"/>
              <a:ea typeface="+mn-ea"/>
            </a:endParaRPr>
          </a:p>
          <a:p>
            <a:pPr lvl="1"/>
            <a:r>
              <a:rPr lang="en-US" altLang="zh-CN" dirty="0" smtClean="0">
                <a:latin typeface="+mn-ea"/>
                <a:ea typeface="+mn-ea"/>
              </a:rPr>
              <a:t>File--Open project</a:t>
            </a:r>
            <a:r>
              <a:rPr lang="zh-CN" altLang="en-US" dirty="0" smtClean="0">
                <a:latin typeface="+mn-ea"/>
                <a:ea typeface="+mn-ea"/>
              </a:rPr>
              <a:t>：打开位于</a:t>
            </a:r>
            <a:r>
              <a:rPr lang="en-US" altLang="zh-CN" dirty="0" err="1" smtClean="0">
                <a:latin typeface="+mn-ea"/>
                <a:ea typeface="+mn-ea"/>
              </a:rPr>
              <a:t>mypython</a:t>
            </a:r>
            <a:r>
              <a:rPr lang="zh-CN" altLang="en-US" dirty="0" smtClean="0">
                <a:latin typeface="+mn-ea"/>
                <a:ea typeface="+mn-ea"/>
              </a:rPr>
              <a:t>文件夹中的 </a:t>
            </a:r>
            <a:r>
              <a:rPr lang="en-US" altLang="zh-CN" dirty="0" smtClean="0">
                <a:latin typeface="+mn-ea"/>
                <a:ea typeface="+mn-ea"/>
              </a:rPr>
              <a:t>test-te.zip</a:t>
            </a:r>
            <a:r>
              <a:rPr lang="zh-CN" altLang="en-US" dirty="0" smtClean="0">
                <a:latin typeface="+mn-ea"/>
                <a:ea typeface="+mn-ea"/>
              </a:rPr>
              <a:t>（根据自己的</a:t>
            </a:r>
            <a:r>
              <a:rPr lang="en-US" altLang="zh-CN" dirty="0" err="1" smtClean="0">
                <a:latin typeface="+mn-ea"/>
                <a:ea typeface="+mn-ea"/>
              </a:rPr>
              <a:t>mypython</a:t>
            </a:r>
            <a:r>
              <a:rPr lang="zh-CN" altLang="en-US" dirty="0" smtClean="0">
                <a:latin typeface="+mn-ea"/>
                <a:ea typeface="+mn-ea"/>
              </a:rPr>
              <a:t>文件夹来定位）</a:t>
            </a:r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 smtClean="0">
                <a:latin typeface="+mj-ea"/>
                <a:ea typeface="+mj-ea"/>
              </a:rPr>
              <a:t>OMFIT</a:t>
            </a:r>
            <a:endParaRPr lang="zh-CN" altLang="en-US" dirty="0">
              <a:latin typeface="+mj-ea"/>
              <a:ea typeface="+mj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114" y="3005310"/>
            <a:ext cx="4676775" cy="37338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2774" y="3005310"/>
            <a:ext cx="6449629" cy="36545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+mn-ea"/>
                <a:ea typeface="+mn-ea"/>
              </a:rPr>
              <a:t>在</a:t>
            </a:r>
            <a:r>
              <a:rPr lang="en-US" altLang="zh-CN" dirty="0" smtClean="0">
                <a:latin typeface="+mn-ea"/>
                <a:ea typeface="+mn-ea"/>
              </a:rPr>
              <a:t>OMFIT</a:t>
            </a:r>
            <a:r>
              <a:rPr lang="zh-CN" altLang="en-US" dirty="0" smtClean="0">
                <a:latin typeface="+mn-ea"/>
                <a:ea typeface="+mn-ea"/>
              </a:rPr>
              <a:t>中需要用到的关键：</a:t>
            </a:r>
            <a:r>
              <a:rPr lang="en-US" altLang="zh-CN" dirty="0">
                <a:latin typeface="+mn-ea"/>
                <a:ea typeface="+mn-ea"/>
              </a:rPr>
              <a:t>[</a:t>
            </a:r>
            <a:r>
              <a:rPr lang="en-US" altLang="zh-CN" dirty="0" err="1" smtClean="0">
                <a:latin typeface="+mn-ea"/>
                <a:ea typeface="+mn-ea"/>
              </a:rPr>
              <a:t>te</a:t>
            </a:r>
            <a:r>
              <a:rPr lang="en-US" altLang="zh-CN" dirty="0" smtClean="0">
                <a:latin typeface="+mn-ea"/>
                <a:ea typeface="+mn-ea"/>
              </a:rPr>
              <a:t>], [raw]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r>
              <a:rPr lang="zh-CN" altLang="en-US" dirty="0" smtClean="0">
                <a:latin typeface="+mn-ea"/>
                <a:ea typeface="+mn-ea"/>
              </a:rPr>
              <a:t>在</a:t>
            </a:r>
            <a:r>
              <a:rPr lang="en-US" altLang="zh-CN" dirty="0" smtClean="0">
                <a:latin typeface="+mn-ea"/>
                <a:ea typeface="+mn-ea"/>
              </a:rPr>
              <a:t>[raw]</a:t>
            </a:r>
            <a:r>
              <a:rPr lang="zh-CN" altLang="en-US" dirty="0" smtClean="0">
                <a:latin typeface="+mn-ea"/>
                <a:ea typeface="+mn-ea"/>
              </a:rPr>
              <a:t>中，导入坐标变换后得到的</a:t>
            </a:r>
            <a:r>
              <a:rPr lang="en-US" altLang="zh-CN" dirty="0" smtClean="0">
                <a:latin typeface="+mn-ea"/>
                <a:ea typeface="+mn-ea"/>
              </a:rPr>
              <a:t>mapData.txt</a:t>
            </a:r>
            <a:endParaRPr lang="en-US" altLang="zh-CN" dirty="0" smtClean="0">
              <a:latin typeface="+mn-ea"/>
              <a:ea typeface="+mn-ea"/>
            </a:endParaRPr>
          </a:p>
          <a:p>
            <a:pPr marL="457200" lvl="1" indent="0">
              <a:buNone/>
            </a:pP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2800" dirty="0" smtClean="0">
                <a:latin typeface="+mn-ea"/>
                <a:ea typeface="+mn-ea"/>
              </a:rPr>
              <a:t>拟合</a:t>
            </a:r>
            <a:r>
              <a:rPr lang="en-US" altLang="zh-CN" sz="2800" dirty="0" smtClean="0">
                <a:latin typeface="+mn-ea"/>
                <a:ea typeface="+mn-ea"/>
              </a:rPr>
              <a:t>-</a:t>
            </a:r>
            <a:r>
              <a:rPr lang="zh-CN" altLang="en-US" sz="2800" dirty="0" smtClean="0">
                <a:latin typeface="+mn-ea"/>
                <a:ea typeface="+mn-ea"/>
              </a:rPr>
              <a:t>导入归一化坐标数据</a:t>
            </a:r>
            <a:endParaRPr lang="zh-CN" altLang="en-US" sz="2800" dirty="0">
              <a:latin typeface="+mn-ea"/>
              <a:ea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802" y="2191227"/>
            <a:ext cx="6105525" cy="15906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929" y="4087178"/>
            <a:ext cx="5562600" cy="23050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125" y="2434728"/>
            <a:ext cx="5401408" cy="408576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970856" y="4259900"/>
            <a:ext cx="24296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  <a:latin typeface="+mn-ea"/>
                <a:ea typeface="+mn-ea"/>
              </a:rPr>
              <a:t>在</a:t>
            </a:r>
            <a:r>
              <a:rPr lang="en-US" altLang="zh-CN" dirty="0" smtClean="0">
                <a:solidFill>
                  <a:srgbClr val="FF0000"/>
                </a:solidFill>
                <a:latin typeface="+mn-ea"/>
                <a:ea typeface="+mn-ea"/>
              </a:rPr>
              <a:t>OK</a:t>
            </a:r>
            <a:r>
              <a:rPr lang="zh-CN" altLang="en-US" dirty="0" smtClean="0">
                <a:solidFill>
                  <a:srgbClr val="FF0000"/>
                </a:solidFill>
                <a:latin typeface="+mn-ea"/>
                <a:ea typeface="+mn-ea"/>
              </a:rPr>
              <a:t>之后出来的界面上需要双击回车，导入完毕</a:t>
            </a:r>
            <a:endParaRPr lang="zh-CN" altLang="en-US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597446" y="2986564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  <a:latin typeface="+mj-ea"/>
                <a:ea typeface="+mj-ea"/>
              </a:rPr>
              <a:t>1</a:t>
            </a:r>
            <a:endParaRPr lang="zh-CN" altLang="en-US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183386" y="4823287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  <a:latin typeface="+mj-ea"/>
                <a:ea typeface="+mj-ea"/>
              </a:rPr>
              <a:t>2</a:t>
            </a:r>
            <a:endParaRPr lang="zh-CN" altLang="en-US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238550" y="3513416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  <a:latin typeface="+mj-ea"/>
                <a:ea typeface="+mj-ea"/>
              </a:rPr>
              <a:t>3</a:t>
            </a:r>
            <a:endParaRPr lang="zh-CN" altLang="en-US" dirty="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+mn-ea"/>
                <a:ea typeface="+mn-ea"/>
              </a:rPr>
              <a:t>打开</a:t>
            </a:r>
            <a:r>
              <a:rPr lang="en-US" altLang="zh-CN" dirty="0" smtClean="0">
                <a:latin typeface="+mn-ea"/>
                <a:ea typeface="+mn-ea"/>
              </a:rPr>
              <a:t>[</a:t>
            </a:r>
            <a:r>
              <a:rPr lang="en-US" altLang="zh-CN" dirty="0" err="1" smtClean="0">
                <a:latin typeface="+mn-ea"/>
                <a:ea typeface="+mn-ea"/>
              </a:rPr>
              <a:t>te</a:t>
            </a:r>
            <a:r>
              <a:rPr lang="en-US" altLang="zh-CN" dirty="0" smtClean="0">
                <a:latin typeface="+mn-ea"/>
                <a:ea typeface="+mn-ea"/>
              </a:rPr>
              <a:t>]</a:t>
            </a:r>
            <a:r>
              <a:rPr lang="zh-CN" altLang="en-US" dirty="0" smtClean="0">
                <a:latin typeface="+mn-ea"/>
                <a:ea typeface="+mn-ea"/>
              </a:rPr>
              <a:t>中的</a:t>
            </a:r>
            <a:r>
              <a:rPr lang="en-US" altLang="zh-CN" dirty="0" smtClean="0">
                <a:latin typeface="+mn-ea"/>
                <a:ea typeface="+mn-ea"/>
              </a:rPr>
              <a:t>[</a:t>
            </a:r>
            <a:r>
              <a:rPr lang="en-US" altLang="zh-CN" dirty="0" err="1" smtClean="0">
                <a:latin typeface="+mn-ea"/>
                <a:ea typeface="+mn-ea"/>
              </a:rPr>
              <a:t>fitted_data</a:t>
            </a:r>
            <a:r>
              <a:rPr lang="en-US" altLang="zh-CN" dirty="0" smtClean="0">
                <a:latin typeface="+mn-ea"/>
                <a:ea typeface="+mn-ea"/>
              </a:rPr>
              <a:t>]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r>
              <a:rPr lang="zh-CN" altLang="en-US" dirty="0" smtClean="0">
                <a:latin typeface="+mn-ea"/>
                <a:ea typeface="+mn-ea"/>
              </a:rPr>
              <a:t>在</a:t>
            </a:r>
            <a:r>
              <a:rPr lang="en-US" altLang="zh-CN" dirty="0" smtClean="0">
                <a:latin typeface="+mn-ea"/>
                <a:ea typeface="+mn-ea"/>
              </a:rPr>
              <a:t>Plot</a:t>
            </a:r>
            <a:r>
              <a:rPr lang="zh-CN" altLang="en-US" dirty="0" smtClean="0">
                <a:latin typeface="+mn-ea"/>
                <a:ea typeface="+mn-ea"/>
              </a:rPr>
              <a:t>中设置</a:t>
            </a:r>
            <a:r>
              <a:rPr lang="en-US" altLang="zh-CN" dirty="0" smtClean="0">
                <a:latin typeface="+mn-ea"/>
                <a:ea typeface="+mn-ea"/>
              </a:rPr>
              <a:t>[rho]</a:t>
            </a:r>
            <a:r>
              <a:rPr lang="zh-CN" altLang="en-US" dirty="0" smtClean="0">
                <a:latin typeface="+mn-ea"/>
                <a:ea typeface="+mn-ea"/>
              </a:rPr>
              <a:t>为</a:t>
            </a:r>
            <a:r>
              <a:rPr lang="en-US" altLang="zh-CN" dirty="0" smtClean="0">
                <a:latin typeface="+mn-ea"/>
                <a:ea typeface="+mn-ea"/>
              </a:rPr>
              <a:t>x</a:t>
            </a:r>
            <a:r>
              <a:rPr lang="zh-CN" altLang="en-US" dirty="0" smtClean="0">
                <a:latin typeface="+mn-ea"/>
                <a:ea typeface="+mn-ea"/>
              </a:rPr>
              <a:t>轴，</a:t>
            </a:r>
            <a:r>
              <a:rPr lang="en-US" altLang="zh-CN" dirty="0" smtClean="0">
                <a:latin typeface="+mn-ea"/>
                <a:ea typeface="+mn-ea"/>
              </a:rPr>
              <a:t>[data]</a:t>
            </a:r>
            <a:r>
              <a:rPr lang="zh-CN" altLang="en-US" dirty="0" smtClean="0">
                <a:latin typeface="+mn-ea"/>
                <a:ea typeface="+mn-ea"/>
              </a:rPr>
              <a:t>为</a:t>
            </a:r>
            <a:r>
              <a:rPr lang="en-US" altLang="zh-CN" dirty="0" smtClean="0">
                <a:latin typeface="+mn-ea"/>
                <a:ea typeface="+mn-ea"/>
              </a:rPr>
              <a:t>y</a:t>
            </a:r>
            <a:r>
              <a:rPr lang="zh-CN" altLang="en-US" dirty="0" smtClean="0">
                <a:latin typeface="+mn-ea"/>
                <a:ea typeface="+mn-ea"/>
              </a:rPr>
              <a:t>轴，然后右键</a:t>
            </a:r>
            <a:r>
              <a:rPr lang="en-US" altLang="zh-CN" dirty="0" smtClean="0">
                <a:latin typeface="+mn-ea"/>
                <a:ea typeface="+mn-ea"/>
              </a:rPr>
              <a:t>[data]—smooth spline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r>
              <a:rPr lang="en-US" altLang="zh-CN" dirty="0" smtClean="0">
                <a:latin typeface="+mn-ea"/>
                <a:ea typeface="+mn-ea"/>
              </a:rPr>
              <a:t>Number of control points</a:t>
            </a:r>
            <a:r>
              <a:rPr lang="zh-CN" altLang="en-US" dirty="0" smtClean="0">
                <a:latin typeface="+mn-ea"/>
                <a:ea typeface="+mn-ea"/>
              </a:rPr>
              <a:t>按需调整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2800" dirty="0" smtClean="0">
                <a:latin typeface="+mj-ea"/>
                <a:ea typeface="+mj-ea"/>
              </a:rPr>
              <a:t>开始拟合</a:t>
            </a:r>
            <a:endParaRPr lang="zh-CN" altLang="en-US" sz="2800" dirty="0">
              <a:latin typeface="+mj-ea"/>
              <a:ea typeface="+mj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80" y="3097576"/>
            <a:ext cx="4290600" cy="21899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6050" y="2747457"/>
            <a:ext cx="4857959" cy="35046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+mn-ea"/>
                <a:ea typeface="+mn-ea"/>
              </a:rPr>
              <a:t>在</a:t>
            </a:r>
            <a:r>
              <a:rPr lang="en-US" altLang="zh-CN" dirty="0" smtClean="0">
                <a:latin typeface="+mn-ea"/>
                <a:ea typeface="+mn-ea"/>
              </a:rPr>
              <a:t>OMFIT</a:t>
            </a:r>
            <a:r>
              <a:rPr lang="zh-CN" altLang="en-US" dirty="0" smtClean="0">
                <a:latin typeface="+mn-ea"/>
                <a:ea typeface="+mn-ea"/>
              </a:rPr>
              <a:t>右侧的</a:t>
            </a:r>
            <a:r>
              <a:rPr lang="en-US" altLang="zh-CN" dirty="0" smtClean="0">
                <a:latin typeface="+mn-ea"/>
                <a:ea typeface="+mn-ea"/>
              </a:rPr>
              <a:t>Command box</a:t>
            </a:r>
            <a:r>
              <a:rPr lang="zh-CN" altLang="en-US" dirty="0" smtClean="0">
                <a:latin typeface="+mn-ea"/>
                <a:ea typeface="+mn-ea"/>
              </a:rPr>
              <a:t>中键入</a:t>
            </a:r>
            <a:r>
              <a:rPr lang="en-US" altLang="zh-CN" dirty="0" smtClean="0">
                <a:latin typeface="+mn-ea"/>
                <a:ea typeface="+mn-ea"/>
              </a:rPr>
              <a:t>[</a:t>
            </a:r>
            <a:r>
              <a:rPr lang="zh-CN" altLang="en-US" dirty="0" smtClean="0">
                <a:latin typeface="+mn-ea"/>
                <a:ea typeface="+mn-ea"/>
              </a:rPr>
              <a:t>可以根据自己喜好更改</a:t>
            </a:r>
            <a:r>
              <a:rPr lang="en-US" altLang="zh-CN" dirty="0" smtClean="0">
                <a:latin typeface="+mn-ea"/>
                <a:ea typeface="+mn-ea"/>
              </a:rPr>
              <a:t>]</a:t>
            </a:r>
            <a:r>
              <a:rPr lang="zh-CN" altLang="en-US" dirty="0" smtClean="0">
                <a:latin typeface="+mn-ea"/>
                <a:ea typeface="+mn-ea"/>
              </a:rPr>
              <a:t>：</a:t>
            </a:r>
            <a:endParaRPr lang="en-US" altLang="zh-CN" dirty="0" smtClean="0">
              <a:latin typeface="+mn-ea"/>
              <a:ea typeface="+mn-ea"/>
            </a:endParaRPr>
          </a:p>
          <a:p>
            <a:pPr marL="400050" lvl="1" indent="0">
              <a:buNone/>
            </a:pPr>
            <a:r>
              <a:rPr lang="en-US" altLang="zh-CN" sz="1000" b="0" dirty="0">
                <a:latin typeface="+mn-ea"/>
                <a:ea typeface="+mn-ea"/>
              </a:rPr>
              <a:t>rho=OMFIT['raw']['data']['rho']</a:t>
            </a:r>
            <a:endParaRPr lang="en-US" altLang="zh-CN" sz="1000" b="0" dirty="0">
              <a:latin typeface="+mn-ea"/>
              <a:ea typeface="+mn-ea"/>
            </a:endParaRPr>
          </a:p>
          <a:p>
            <a:pPr marL="400050" lvl="1" indent="0">
              <a:buNone/>
            </a:pPr>
            <a:r>
              <a:rPr lang="en-US" altLang="zh-CN" sz="1000" b="0" dirty="0" err="1">
                <a:latin typeface="+mn-ea"/>
                <a:ea typeface="+mn-ea"/>
              </a:rPr>
              <a:t>te</a:t>
            </a:r>
            <a:r>
              <a:rPr lang="en-US" altLang="zh-CN" sz="1000" b="0" dirty="0">
                <a:latin typeface="+mn-ea"/>
                <a:ea typeface="+mn-ea"/>
              </a:rPr>
              <a:t>=OMFIT['raw']['data']['value']/1000</a:t>
            </a:r>
            <a:endParaRPr lang="en-US" altLang="zh-CN" sz="1000" b="0" dirty="0">
              <a:latin typeface="+mn-ea"/>
              <a:ea typeface="+mn-ea"/>
            </a:endParaRPr>
          </a:p>
          <a:p>
            <a:pPr marL="400050" lvl="1" indent="0">
              <a:buNone/>
            </a:pPr>
            <a:r>
              <a:rPr lang="en-US" altLang="zh-CN" sz="1000" b="0" dirty="0">
                <a:latin typeface="+mn-ea"/>
                <a:ea typeface="+mn-ea"/>
              </a:rPr>
              <a:t>plot(rho,</a:t>
            </a:r>
            <a:r>
              <a:rPr lang="en-US" altLang="zh-CN" sz="1000" b="0" dirty="0" err="1">
                <a:latin typeface="+mn-ea"/>
                <a:ea typeface="+mn-ea"/>
              </a:rPr>
              <a:t>te</a:t>
            </a:r>
            <a:r>
              <a:rPr lang="en-US" altLang="zh-CN" sz="1000" b="0" dirty="0">
                <a:latin typeface="+mn-ea"/>
                <a:ea typeface="+mn-ea"/>
              </a:rPr>
              <a:t>,'o')</a:t>
            </a:r>
            <a:endParaRPr lang="en-US" altLang="zh-CN" sz="1000" b="0" dirty="0">
              <a:latin typeface="+mn-ea"/>
              <a:ea typeface="+mn-ea"/>
            </a:endParaRPr>
          </a:p>
          <a:p>
            <a:pPr marL="400050" lvl="1" indent="0">
              <a:buNone/>
            </a:pPr>
            <a:r>
              <a:rPr lang="en-US" altLang="zh-CN" sz="1000" b="0" dirty="0">
                <a:latin typeface="+mn-ea"/>
                <a:ea typeface="+mn-ea"/>
              </a:rPr>
              <a:t>plot(OMFIT['</a:t>
            </a:r>
            <a:r>
              <a:rPr lang="en-US" altLang="zh-CN" sz="1000" b="0" dirty="0" err="1">
                <a:latin typeface="+mn-ea"/>
                <a:ea typeface="+mn-ea"/>
              </a:rPr>
              <a:t>te</a:t>
            </a:r>
            <a:r>
              <a:rPr lang="en-US" altLang="zh-CN" sz="1000" b="0" dirty="0">
                <a:latin typeface="+mn-ea"/>
                <a:ea typeface="+mn-ea"/>
              </a:rPr>
              <a:t>']['</a:t>
            </a:r>
            <a:r>
              <a:rPr lang="en-US" altLang="zh-CN" sz="1000" b="0" dirty="0" err="1">
                <a:latin typeface="+mn-ea"/>
                <a:ea typeface="+mn-ea"/>
              </a:rPr>
              <a:t>fitted_data</a:t>
            </a:r>
            <a:r>
              <a:rPr lang="en-US" altLang="zh-CN" sz="1000" b="0" dirty="0">
                <a:latin typeface="+mn-ea"/>
                <a:ea typeface="+mn-ea"/>
              </a:rPr>
              <a:t>']['rho'],OMFIT['</a:t>
            </a:r>
            <a:r>
              <a:rPr lang="en-US" altLang="zh-CN" sz="1000" b="0" dirty="0" err="1">
                <a:latin typeface="+mn-ea"/>
                <a:ea typeface="+mn-ea"/>
              </a:rPr>
              <a:t>te</a:t>
            </a:r>
            <a:r>
              <a:rPr lang="en-US" altLang="zh-CN" sz="1000" b="0" dirty="0">
                <a:latin typeface="+mn-ea"/>
                <a:ea typeface="+mn-ea"/>
              </a:rPr>
              <a:t>']['</a:t>
            </a:r>
            <a:r>
              <a:rPr lang="en-US" altLang="zh-CN" sz="1000" b="0" dirty="0" err="1">
                <a:latin typeface="+mn-ea"/>
                <a:ea typeface="+mn-ea"/>
              </a:rPr>
              <a:t>fitted_data</a:t>
            </a:r>
            <a:r>
              <a:rPr lang="en-US" altLang="zh-CN" sz="1000" b="0" dirty="0">
                <a:latin typeface="+mn-ea"/>
                <a:ea typeface="+mn-ea"/>
              </a:rPr>
              <a:t>']['data'],color='</a:t>
            </a:r>
            <a:r>
              <a:rPr lang="en-US" altLang="zh-CN" sz="1000" b="0" dirty="0" err="1">
                <a:latin typeface="+mn-ea"/>
                <a:ea typeface="+mn-ea"/>
              </a:rPr>
              <a:t>red',linewidth</a:t>
            </a:r>
            <a:r>
              <a:rPr lang="en-US" altLang="zh-CN" sz="1000" b="0" dirty="0">
                <a:latin typeface="+mn-ea"/>
                <a:ea typeface="+mn-ea"/>
              </a:rPr>
              <a:t>=3.0)</a:t>
            </a:r>
            <a:endParaRPr lang="en-US" altLang="zh-CN" sz="1000" b="0" dirty="0">
              <a:latin typeface="+mn-ea"/>
              <a:ea typeface="+mn-ea"/>
            </a:endParaRPr>
          </a:p>
          <a:p>
            <a:pPr marL="400050" lvl="1" indent="0">
              <a:buNone/>
            </a:pPr>
            <a:r>
              <a:rPr lang="en-US" altLang="zh-CN" sz="1000" b="0" dirty="0" err="1">
                <a:latin typeface="+mn-ea"/>
                <a:ea typeface="+mn-ea"/>
              </a:rPr>
              <a:t>xlabel</a:t>
            </a:r>
            <a:r>
              <a:rPr lang="en-US" altLang="zh-CN" sz="1000" b="0" dirty="0">
                <a:latin typeface="+mn-ea"/>
                <a:ea typeface="+mn-ea"/>
              </a:rPr>
              <a:t>(r'$\rho$',</a:t>
            </a:r>
            <a:r>
              <a:rPr lang="en-US" altLang="zh-CN" sz="1000" b="0" dirty="0" err="1">
                <a:latin typeface="+mn-ea"/>
                <a:ea typeface="+mn-ea"/>
              </a:rPr>
              <a:t>fontsize</a:t>
            </a:r>
            <a:r>
              <a:rPr lang="en-US" altLang="zh-CN" sz="1000" b="0" dirty="0">
                <a:latin typeface="+mn-ea"/>
                <a:ea typeface="+mn-ea"/>
              </a:rPr>
              <a:t>=20)</a:t>
            </a:r>
            <a:endParaRPr lang="en-US" altLang="zh-CN" sz="1000" b="0" dirty="0">
              <a:latin typeface="+mn-ea"/>
              <a:ea typeface="+mn-ea"/>
            </a:endParaRPr>
          </a:p>
          <a:p>
            <a:pPr marL="400050" lvl="1" indent="0">
              <a:buNone/>
            </a:pPr>
            <a:r>
              <a:rPr lang="en-US" altLang="zh-CN" sz="1000" b="0" dirty="0" err="1">
                <a:latin typeface="+mn-ea"/>
                <a:ea typeface="+mn-ea"/>
              </a:rPr>
              <a:t>ylabel</a:t>
            </a:r>
            <a:r>
              <a:rPr lang="en-US" altLang="zh-CN" sz="1000" b="0" dirty="0">
                <a:latin typeface="+mn-ea"/>
                <a:ea typeface="+mn-ea"/>
              </a:rPr>
              <a:t>('</a:t>
            </a:r>
            <a:r>
              <a:rPr lang="en-US" altLang="zh-CN" sz="1000" b="0" dirty="0" err="1">
                <a:latin typeface="+mn-ea"/>
                <a:ea typeface="+mn-ea"/>
              </a:rPr>
              <a:t>Te</a:t>
            </a:r>
            <a:r>
              <a:rPr lang="en-US" altLang="zh-CN" sz="1000" b="0" dirty="0">
                <a:latin typeface="+mn-ea"/>
                <a:ea typeface="+mn-ea"/>
              </a:rPr>
              <a:t>(</a:t>
            </a:r>
            <a:r>
              <a:rPr lang="en-US" altLang="zh-CN" sz="1000" b="0" dirty="0" err="1">
                <a:latin typeface="+mn-ea"/>
                <a:ea typeface="+mn-ea"/>
              </a:rPr>
              <a:t>keV</a:t>
            </a:r>
            <a:r>
              <a:rPr lang="en-US" altLang="zh-CN" sz="1000" b="0" dirty="0">
                <a:latin typeface="+mn-ea"/>
                <a:ea typeface="+mn-ea"/>
              </a:rPr>
              <a:t>)',</a:t>
            </a:r>
            <a:r>
              <a:rPr lang="en-US" altLang="zh-CN" sz="1000" b="0" dirty="0" err="1">
                <a:latin typeface="+mn-ea"/>
                <a:ea typeface="+mn-ea"/>
              </a:rPr>
              <a:t>fontsize</a:t>
            </a:r>
            <a:r>
              <a:rPr lang="en-US" altLang="zh-CN" sz="1000" b="0" dirty="0">
                <a:latin typeface="+mn-ea"/>
                <a:ea typeface="+mn-ea"/>
              </a:rPr>
              <a:t>=20)</a:t>
            </a:r>
            <a:endParaRPr lang="en-US" altLang="zh-CN" sz="1000" b="0" dirty="0">
              <a:latin typeface="+mn-ea"/>
              <a:ea typeface="+mn-ea"/>
            </a:endParaRPr>
          </a:p>
          <a:p>
            <a:pPr marL="400050" lvl="1" indent="0">
              <a:buNone/>
            </a:pPr>
            <a:r>
              <a:rPr lang="en-US" altLang="zh-CN" sz="1000" b="0" dirty="0" err="1">
                <a:latin typeface="+mn-ea"/>
                <a:ea typeface="+mn-ea"/>
              </a:rPr>
              <a:t>yticks</a:t>
            </a:r>
            <a:r>
              <a:rPr lang="en-US" altLang="zh-CN" sz="1000" b="0" dirty="0">
                <a:latin typeface="+mn-ea"/>
                <a:ea typeface="+mn-ea"/>
              </a:rPr>
              <a:t>(</a:t>
            </a:r>
            <a:r>
              <a:rPr lang="en-US" altLang="zh-CN" sz="1000" b="0" dirty="0" err="1">
                <a:latin typeface="+mn-ea"/>
                <a:ea typeface="+mn-ea"/>
              </a:rPr>
              <a:t>fontsize</a:t>
            </a:r>
            <a:r>
              <a:rPr lang="en-US" altLang="zh-CN" sz="1000" b="0" dirty="0">
                <a:latin typeface="+mn-ea"/>
                <a:ea typeface="+mn-ea"/>
              </a:rPr>
              <a:t>=20)</a:t>
            </a:r>
            <a:endParaRPr lang="en-US" altLang="zh-CN" sz="1000" b="0" dirty="0">
              <a:latin typeface="+mn-ea"/>
              <a:ea typeface="+mn-ea"/>
            </a:endParaRPr>
          </a:p>
          <a:p>
            <a:pPr marL="400050" lvl="1" indent="0">
              <a:buNone/>
            </a:pPr>
            <a:r>
              <a:rPr lang="en-US" altLang="zh-CN" sz="1000" b="0" dirty="0" err="1">
                <a:latin typeface="+mn-ea"/>
                <a:ea typeface="+mn-ea"/>
              </a:rPr>
              <a:t>xticks</a:t>
            </a:r>
            <a:r>
              <a:rPr lang="en-US" altLang="zh-CN" sz="1000" b="0" dirty="0">
                <a:latin typeface="+mn-ea"/>
                <a:ea typeface="+mn-ea"/>
              </a:rPr>
              <a:t>(</a:t>
            </a:r>
            <a:r>
              <a:rPr lang="en-US" altLang="zh-CN" sz="1000" b="0" dirty="0" err="1">
                <a:latin typeface="+mn-ea"/>
                <a:ea typeface="+mn-ea"/>
              </a:rPr>
              <a:t>fontsize</a:t>
            </a:r>
            <a:r>
              <a:rPr lang="en-US" altLang="zh-CN" sz="1000" b="0" dirty="0">
                <a:latin typeface="+mn-ea"/>
                <a:ea typeface="+mn-ea"/>
              </a:rPr>
              <a:t>=20)</a:t>
            </a:r>
            <a:endParaRPr lang="en-US" altLang="zh-CN" sz="1000" b="0" dirty="0">
              <a:latin typeface="+mn-ea"/>
              <a:ea typeface="+mn-ea"/>
            </a:endParaRPr>
          </a:p>
          <a:p>
            <a:pPr marL="400050" lvl="1" indent="0">
              <a:buNone/>
            </a:pPr>
            <a:r>
              <a:rPr lang="en-US" altLang="zh-CN" sz="1000" b="0" dirty="0" err="1">
                <a:latin typeface="+mn-ea"/>
                <a:ea typeface="+mn-ea"/>
              </a:rPr>
              <a:t>xlim</a:t>
            </a:r>
            <a:r>
              <a:rPr lang="en-US" altLang="zh-CN" sz="1000" b="0" dirty="0">
                <a:latin typeface="+mn-ea"/>
                <a:ea typeface="+mn-ea"/>
              </a:rPr>
              <a:t>(0,1)</a:t>
            </a:r>
            <a:endParaRPr lang="en-US" altLang="zh-CN" sz="1000" b="0" dirty="0">
              <a:latin typeface="+mn-ea"/>
              <a:ea typeface="+mn-ea"/>
            </a:endParaRPr>
          </a:p>
          <a:p>
            <a:pPr marL="400050" lvl="1" indent="0">
              <a:buNone/>
            </a:pPr>
            <a:r>
              <a:rPr lang="en-US" altLang="zh-CN" sz="1000" b="0" dirty="0">
                <a:latin typeface="+mn-ea"/>
                <a:ea typeface="+mn-ea"/>
              </a:rPr>
              <a:t>show</a:t>
            </a:r>
            <a:r>
              <a:rPr lang="en-US" altLang="zh-CN" sz="1000" b="0" dirty="0" smtClean="0">
                <a:latin typeface="+mn-ea"/>
                <a:ea typeface="+mn-ea"/>
              </a:rPr>
              <a:t>()</a:t>
            </a:r>
            <a:endParaRPr lang="en-US" altLang="zh-CN" dirty="0">
              <a:latin typeface="+mn-ea"/>
              <a:ea typeface="+mn-ea"/>
            </a:endParaRPr>
          </a:p>
          <a:p>
            <a:r>
              <a:rPr lang="zh-CN" altLang="en-US" dirty="0" smtClean="0">
                <a:latin typeface="+mn-ea"/>
                <a:ea typeface="+mn-ea"/>
              </a:rPr>
              <a:t>执行命令</a:t>
            </a:r>
            <a:r>
              <a:rPr lang="en-US" altLang="zh-CN" dirty="0" smtClean="0">
                <a:latin typeface="+mn-ea"/>
                <a:ea typeface="+mn-ea"/>
              </a:rPr>
              <a:t>[</a:t>
            </a:r>
            <a:r>
              <a:rPr lang="en-US" altLang="zh-CN" dirty="0" err="1" smtClean="0">
                <a:latin typeface="+mn-ea"/>
                <a:ea typeface="+mn-ea"/>
              </a:rPr>
              <a:t>Excute</a:t>
            </a:r>
            <a:r>
              <a:rPr lang="en-US" altLang="zh-CN" dirty="0" smtClean="0">
                <a:latin typeface="+mn-ea"/>
                <a:ea typeface="+mn-ea"/>
              </a:rPr>
              <a:t>]</a:t>
            </a:r>
            <a:r>
              <a:rPr lang="zh-CN" altLang="en-US" dirty="0" smtClean="0">
                <a:latin typeface="+mn-ea"/>
                <a:ea typeface="+mn-ea"/>
              </a:rPr>
              <a:t>，得到右侧图</a:t>
            </a:r>
            <a:endParaRPr lang="en-US" altLang="zh-CN" dirty="0" smtClean="0">
              <a:latin typeface="+mn-ea"/>
              <a:ea typeface="+mn-ea"/>
            </a:endParaRPr>
          </a:p>
          <a:p>
            <a:r>
              <a:rPr lang="zh-CN" altLang="en-US" dirty="0" smtClean="0">
                <a:latin typeface="+mn-ea"/>
                <a:ea typeface="+mn-ea"/>
              </a:rPr>
              <a:t>通过调整</a:t>
            </a:r>
            <a:r>
              <a:rPr lang="en-US" altLang="zh-CN" dirty="0" smtClean="0">
                <a:latin typeface="+mn-ea"/>
                <a:ea typeface="+mn-ea"/>
              </a:rPr>
              <a:t>10</a:t>
            </a:r>
            <a:r>
              <a:rPr lang="zh-CN" altLang="en-US" dirty="0" smtClean="0">
                <a:latin typeface="+mn-ea"/>
                <a:ea typeface="+mn-ea"/>
              </a:rPr>
              <a:t>个红点来对数据进行拟合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r>
              <a:rPr lang="zh-CN" altLang="en-US" dirty="0">
                <a:latin typeface="+mn-ea"/>
                <a:ea typeface="+mn-ea"/>
              </a:rPr>
              <a:t>蓝色</a:t>
            </a:r>
            <a:r>
              <a:rPr lang="zh-CN" altLang="en-US" dirty="0" smtClean="0">
                <a:latin typeface="+mn-ea"/>
                <a:ea typeface="+mn-ea"/>
              </a:rPr>
              <a:t>的点为原始数据点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r>
              <a:rPr lang="zh-CN" altLang="en-US" dirty="0">
                <a:latin typeface="+mn-ea"/>
                <a:ea typeface="+mn-ea"/>
              </a:rPr>
              <a:t>调整</a:t>
            </a:r>
            <a:r>
              <a:rPr lang="zh-CN" altLang="en-US" dirty="0" smtClean="0">
                <a:latin typeface="+mn-ea"/>
                <a:ea typeface="+mn-ea"/>
              </a:rPr>
              <a:t>红点来根据原始数据拟合</a:t>
            </a:r>
            <a:r>
              <a:rPr lang="en-US" altLang="zh-CN" dirty="0" err="1" smtClean="0">
                <a:latin typeface="+mn-ea"/>
                <a:ea typeface="+mn-ea"/>
              </a:rPr>
              <a:t>Te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r>
              <a:rPr lang="zh-CN" altLang="en-US" dirty="0">
                <a:latin typeface="+mn-ea"/>
                <a:ea typeface="+mn-ea"/>
              </a:rPr>
              <a:t>拟合完毕</a:t>
            </a:r>
            <a:r>
              <a:rPr lang="zh-CN" altLang="en-US" dirty="0" smtClean="0">
                <a:latin typeface="+mn-ea"/>
                <a:ea typeface="+mn-ea"/>
              </a:rPr>
              <a:t>后直接关闭</a:t>
            </a:r>
            <a:r>
              <a:rPr lang="en-US" altLang="zh-CN" dirty="0" smtClean="0">
                <a:latin typeface="+mn-ea"/>
                <a:ea typeface="+mn-ea"/>
              </a:rPr>
              <a:t>Figure 1</a:t>
            </a:r>
            <a:r>
              <a:rPr lang="zh-CN" altLang="en-US" dirty="0" smtClean="0">
                <a:latin typeface="+mn-ea"/>
                <a:ea typeface="+mn-ea"/>
              </a:rPr>
              <a:t>即可</a:t>
            </a:r>
            <a:endParaRPr lang="en-US" altLang="zh-CN" dirty="0" smtClean="0">
              <a:latin typeface="+mn-ea"/>
              <a:ea typeface="+mn-ea"/>
            </a:endParaRPr>
          </a:p>
          <a:p>
            <a:r>
              <a:rPr lang="zh-CN" altLang="en-US" dirty="0" smtClean="0">
                <a:latin typeface="+mn-ea"/>
                <a:ea typeface="+mn-ea"/>
              </a:rPr>
              <a:t>数据保存：右键</a:t>
            </a:r>
            <a:r>
              <a:rPr lang="en-US" altLang="zh-CN" dirty="0" smtClean="0">
                <a:latin typeface="+mn-ea"/>
                <a:ea typeface="+mn-ea"/>
              </a:rPr>
              <a:t>[</a:t>
            </a:r>
            <a:r>
              <a:rPr lang="en-US" altLang="zh-CN" dirty="0" err="1" smtClean="0">
                <a:latin typeface="+mn-ea"/>
                <a:ea typeface="+mn-ea"/>
              </a:rPr>
              <a:t>te</a:t>
            </a:r>
            <a:r>
              <a:rPr lang="en-US" altLang="zh-CN" dirty="0" smtClean="0">
                <a:latin typeface="+mn-ea"/>
                <a:ea typeface="+mn-ea"/>
              </a:rPr>
              <a:t>]</a:t>
            </a:r>
            <a:r>
              <a:rPr lang="zh-CN" altLang="en-US" dirty="0" smtClean="0">
                <a:latin typeface="+mn-ea"/>
                <a:ea typeface="+mn-ea"/>
              </a:rPr>
              <a:t>，</a:t>
            </a:r>
            <a:r>
              <a:rPr lang="en-US" altLang="zh-CN" dirty="0" smtClean="0">
                <a:latin typeface="+mn-ea"/>
                <a:ea typeface="+mn-ea"/>
              </a:rPr>
              <a:t>deploy as……</a:t>
            </a:r>
            <a:endParaRPr lang="en-US" altLang="zh-CN" dirty="0" smtClean="0">
              <a:latin typeface="+mn-ea"/>
              <a:ea typeface="+mn-ea"/>
            </a:endParaRPr>
          </a:p>
          <a:p>
            <a:endParaRPr lang="en-US" altLang="zh-CN" dirty="0" smtClean="0">
              <a:latin typeface="+mn-ea"/>
              <a:ea typeface="+mn-ea"/>
            </a:endParaRPr>
          </a:p>
          <a:p>
            <a:pPr marL="0" indent="0">
              <a:buNone/>
            </a:pPr>
            <a:endParaRPr lang="en-US" altLang="zh-CN" dirty="0" smtClean="0">
              <a:latin typeface="+mn-ea"/>
              <a:ea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2800" dirty="0">
                <a:latin typeface="+mj-ea"/>
                <a:ea typeface="+mj-ea"/>
              </a:rPr>
              <a:t>拟合</a:t>
            </a:r>
            <a:endParaRPr lang="zh-CN" altLang="en-US" sz="2800" dirty="0">
              <a:latin typeface="+mj-ea"/>
              <a:ea typeface="+mj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1535" y="2258459"/>
            <a:ext cx="4390865" cy="34689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09602" y="1849611"/>
            <a:ext cx="7113224" cy="1730871"/>
          </a:xfrm>
        </p:spPr>
        <p:txBody>
          <a:bodyPr/>
          <a:lstStyle/>
          <a:p>
            <a:r>
              <a:rPr lang="zh-CN" altLang="en-US" sz="2400" dirty="0" smtClean="0">
                <a:latin typeface="+mn-ea"/>
                <a:ea typeface="+mn-ea"/>
              </a:rPr>
              <a:t>将</a:t>
            </a:r>
            <a:r>
              <a:rPr lang="en-US" altLang="zh-CN" sz="2400" dirty="0" err="1" smtClean="0">
                <a:latin typeface="+mn-ea"/>
                <a:ea typeface="+mn-ea"/>
              </a:rPr>
              <a:t>dataFile</a:t>
            </a:r>
            <a:r>
              <a:rPr lang="zh-CN" altLang="en-US" sz="2400" dirty="0" smtClean="0">
                <a:latin typeface="+mn-ea"/>
                <a:ea typeface="+mn-ea"/>
              </a:rPr>
              <a:t>中的原始数据替换为</a:t>
            </a:r>
            <a:r>
              <a:rPr lang="en-US" altLang="zh-CN" sz="2400" dirty="0" err="1" smtClean="0">
                <a:latin typeface="+mn-ea"/>
                <a:ea typeface="+mn-ea"/>
              </a:rPr>
              <a:t>Ti</a:t>
            </a:r>
            <a:r>
              <a:rPr lang="zh-CN" altLang="en-US" sz="2400" dirty="0" smtClean="0">
                <a:latin typeface="+mn-ea"/>
                <a:ea typeface="+mn-ea"/>
              </a:rPr>
              <a:t>的数据</a:t>
            </a:r>
            <a:endParaRPr lang="en-US" altLang="zh-CN" sz="2400" dirty="0" smtClean="0">
              <a:latin typeface="+mn-ea"/>
              <a:ea typeface="+mn-ea"/>
            </a:endParaRPr>
          </a:p>
          <a:p>
            <a:endParaRPr lang="en-US" altLang="zh-CN" sz="2400" dirty="0" smtClean="0">
              <a:latin typeface="+mn-ea"/>
              <a:ea typeface="+mn-ea"/>
            </a:endParaRPr>
          </a:p>
          <a:p>
            <a:r>
              <a:rPr lang="zh-CN" altLang="en-US" sz="2400" dirty="0" smtClean="0">
                <a:latin typeface="+mn-ea"/>
                <a:ea typeface="+mn-ea"/>
              </a:rPr>
              <a:t>其余步骤与</a:t>
            </a:r>
            <a:r>
              <a:rPr lang="en-US" altLang="zh-CN" sz="2400" dirty="0" err="1" smtClean="0">
                <a:latin typeface="+mn-ea"/>
                <a:ea typeface="+mn-ea"/>
              </a:rPr>
              <a:t>Te</a:t>
            </a:r>
            <a:r>
              <a:rPr lang="zh-CN" altLang="en-US" sz="2400" dirty="0" smtClean="0">
                <a:latin typeface="+mn-ea"/>
                <a:ea typeface="+mn-ea"/>
              </a:rPr>
              <a:t>拟合完全相同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2800" dirty="0" err="1" smtClean="0">
                <a:latin typeface="+mj-ea"/>
                <a:ea typeface="+mj-ea"/>
              </a:rPr>
              <a:t>Ti</a:t>
            </a:r>
            <a:r>
              <a:rPr lang="en-US" altLang="zh-CN" sz="2800" dirty="0" smtClean="0">
                <a:latin typeface="+mj-ea"/>
                <a:ea typeface="+mj-ea"/>
              </a:rPr>
              <a:t> </a:t>
            </a:r>
            <a:r>
              <a:rPr lang="zh-CN" altLang="en-US" sz="2800" dirty="0" smtClean="0">
                <a:latin typeface="+mj-ea"/>
                <a:ea typeface="+mj-ea"/>
              </a:rPr>
              <a:t>拟合</a:t>
            </a:r>
            <a:endParaRPr lang="zh-CN" altLang="en-US" sz="2800" dirty="0"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4818988" y="3082982"/>
            <a:ext cx="2639431" cy="88308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5400" dirty="0" smtClean="0">
                <a:latin typeface="+mn-ea"/>
                <a:ea typeface="+mn-ea"/>
              </a:rPr>
              <a:t>ne</a:t>
            </a:r>
            <a:r>
              <a:rPr lang="zh-CN" altLang="en-US" sz="5400" dirty="0" smtClean="0">
                <a:latin typeface="+mn-ea"/>
                <a:ea typeface="+mn-ea"/>
              </a:rPr>
              <a:t>拟合</a:t>
            </a:r>
            <a:endParaRPr lang="zh-CN" altLang="en-US" sz="5400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+mj-ea"/>
                <a:ea typeface="+mj-ea"/>
              </a:rPr>
              <a:t>用拟合的数据与</a:t>
            </a:r>
            <a:r>
              <a:rPr lang="en-US" altLang="zh-CN" dirty="0" smtClean="0">
                <a:latin typeface="+mj-ea"/>
                <a:ea typeface="+mj-ea"/>
              </a:rPr>
              <a:t>POINT11</a:t>
            </a:r>
            <a:r>
              <a:rPr lang="zh-CN" altLang="en-US" dirty="0" smtClean="0">
                <a:latin typeface="+mj-ea"/>
                <a:ea typeface="+mj-ea"/>
              </a:rPr>
              <a:t>道信号进行对比，进而进一步优化拟合</a:t>
            </a:r>
            <a:endParaRPr lang="en-US" altLang="zh-CN" dirty="0" smtClean="0">
              <a:latin typeface="+mj-ea"/>
              <a:ea typeface="+mj-ea"/>
            </a:endParaRPr>
          </a:p>
          <a:p>
            <a:r>
              <a:rPr lang="zh-CN" altLang="en-US" dirty="0" smtClean="0">
                <a:latin typeface="+mj-ea"/>
                <a:ea typeface="+mj-ea"/>
              </a:rPr>
              <a:t>需要用到的脚本</a:t>
            </a:r>
            <a:endParaRPr lang="en-US" altLang="zh-CN" dirty="0" smtClean="0">
              <a:latin typeface="+mj-ea"/>
              <a:ea typeface="+mj-ea"/>
            </a:endParaRPr>
          </a:p>
          <a:p>
            <a:pPr lvl="1"/>
            <a:r>
              <a:rPr lang="en-US" altLang="zh-CN" dirty="0" smtClean="0">
                <a:latin typeface="+mj-ea"/>
                <a:ea typeface="+mj-ea"/>
              </a:rPr>
              <a:t>test_POINT.py</a:t>
            </a:r>
            <a:endParaRPr lang="en-US" altLang="zh-CN" dirty="0" smtClean="0">
              <a:latin typeface="+mj-ea"/>
              <a:ea typeface="+mj-ea"/>
            </a:endParaRPr>
          </a:p>
          <a:p>
            <a:pPr lvl="1"/>
            <a:r>
              <a:rPr lang="en-US" altLang="zh-CN" dirty="0" smtClean="0">
                <a:latin typeface="+mj-ea"/>
                <a:ea typeface="+mj-ea"/>
              </a:rPr>
              <a:t>line_integral.py</a:t>
            </a:r>
            <a:endParaRPr lang="en-US" altLang="zh-CN" dirty="0" smtClean="0">
              <a:latin typeface="+mj-ea"/>
              <a:ea typeface="+mj-ea"/>
            </a:endParaRPr>
          </a:p>
          <a:p>
            <a:pPr lvl="1"/>
            <a:r>
              <a:rPr lang="en-US" altLang="zh-CN" dirty="0" smtClean="0">
                <a:latin typeface="+mj-ea"/>
                <a:ea typeface="+mj-ea"/>
              </a:rPr>
              <a:t>Run_mefit.py</a:t>
            </a:r>
            <a:endParaRPr lang="en-US" altLang="zh-CN" dirty="0" smtClean="0">
              <a:latin typeface="+mj-ea"/>
              <a:ea typeface="+mj-ea"/>
            </a:endParaRPr>
          </a:p>
          <a:p>
            <a:r>
              <a:rPr lang="zh-CN" altLang="en-US" dirty="0" smtClean="0">
                <a:latin typeface="+mj-ea"/>
                <a:ea typeface="+mj-ea"/>
              </a:rPr>
              <a:t>需要用到的文件</a:t>
            </a:r>
            <a:endParaRPr lang="en-US" altLang="zh-CN" dirty="0" smtClean="0">
              <a:latin typeface="+mj-ea"/>
              <a:ea typeface="+mj-ea"/>
            </a:endParaRPr>
          </a:p>
          <a:p>
            <a:pPr lvl="1"/>
            <a:r>
              <a:rPr lang="en-US" altLang="zh-CN" dirty="0" smtClean="0">
                <a:latin typeface="+mj-ea"/>
                <a:ea typeface="+mj-ea"/>
              </a:rPr>
              <a:t>ne</a:t>
            </a:r>
            <a:r>
              <a:rPr lang="zh-CN" altLang="en-US" dirty="0" smtClean="0">
                <a:latin typeface="+mj-ea"/>
                <a:ea typeface="+mj-ea"/>
              </a:rPr>
              <a:t>初始拟合结果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2800" dirty="0" smtClean="0">
                <a:latin typeface="+mn-ea"/>
                <a:ea typeface="+mn-ea"/>
              </a:rPr>
              <a:t>ne</a:t>
            </a:r>
            <a:r>
              <a:rPr lang="zh-CN" altLang="en-US" sz="2800" dirty="0" smtClean="0">
                <a:latin typeface="+mn-ea"/>
                <a:ea typeface="+mn-ea"/>
              </a:rPr>
              <a:t>拟合准备</a:t>
            </a:r>
            <a:endParaRPr lang="zh-CN" altLang="en-US" sz="2800" dirty="0">
              <a:latin typeface="+mn-ea"/>
              <a:ea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468147" y="2259412"/>
            <a:ext cx="1888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+mn-ea"/>
                <a:ea typeface="+mn-ea"/>
              </a:rPr>
              <a:t>ne</a:t>
            </a:r>
            <a:r>
              <a:rPr lang="zh-CN" altLang="en-US" dirty="0" smtClean="0">
                <a:latin typeface="+mn-ea"/>
                <a:ea typeface="+mn-ea"/>
              </a:rPr>
              <a:t>初始拟合结果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7367431" y="2152131"/>
            <a:ext cx="2090092" cy="583894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402152" y="3490103"/>
            <a:ext cx="2055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+mn-ea"/>
                <a:ea typeface="+mn-ea"/>
              </a:rPr>
              <a:t>对应</a:t>
            </a:r>
            <a:r>
              <a:rPr lang="en-US" altLang="zh-CN" dirty="0" smtClean="0">
                <a:latin typeface="+mn-ea"/>
                <a:ea typeface="+mn-ea"/>
              </a:rPr>
              <a:t>POINT</a:t>
            </a:r>
            <a:r>
              <a:rPr lang="zh-CN" altLang="en-US" dirty="0" smtClean="0">
                <a:latin typeface="+mn-ea"/>
                <a:ea typeface="+mn-ea"/>
              </a:rPr>
              <a:t>信号值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7367431" y="3417234"/>
            <a:ext cx="2090092" cy="583894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951796" y="4251051"/>
            <a:ext cx="2286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+mn-ea"/>
                <a:ea typeface="+mn-ea"/>
              </a:rPr>
              <a:t>服务器读取</a:t>
            </a:r>
            <a:r>
              <a:rPr lang="en-US" altLang="zh-CN" dirty="0" smtClean="0">
                <a:latin typeface="+mn-ea"/>
                <a:ea typeface="+mn-ea"/>
              </a:rPr>
              <a:t>POINT</a:t>
            </a:r>
            <a:r>
              <a:rPr lang="zh-CN" altLang="en-US" dirty="0" smtClean="0">
                <a:latin typeface="+mn-ea"/>
                <a:ea typeface="+mn-ea"/>
              </a:rPr>
              <a:t>值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4954001" y="4182330"/>
            <a:ext cx="2283998" cy="506775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627646" y="500995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+mn-ea"/>
                <a:ea typeface="+mn-ea"/>
              </a:rPr>
              <a:t>两个信号对比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7627646" y="5009956"/>
            <a:ext cx="1569660" cy="369332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7645007" y="5944339"/>
            <a:ext cx="1569660" cy="369332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拟合</a:t>
            </a:r>
            <a:r>
              <a:rPr lang="zh-CN" altLang="en-US" dirty="0" smtClean="0">
                <a:solidFill>
                  <a:schemeClr val="tx1"/>
                </a:solidFill>
              </a:rPr>
              <a:t>结束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下箭头 12"/>
          <p:cNvSpPr/>
          <p:nvPr/>
        </p:nvSpPr>
        <p:spPr>
          <a:xfrm>
            <a:off x="8345408" y="2736025"/>
            <a:ext cx="134136" cy="681209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8345408" y="4125546"/>
            <a:ext cx="134136" cy="681209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 flipH="1">
            <a:off x="8329980" y="5442959"/>
            <a:ext cx="134136" cy="445893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右箭头 15"/>
          <p:cNvSpPr/>
          <p:nvPr/>
        </p:nvSpPr>
        <p:spPr>
          <a:xfrm>
            <a:off x="7310429" y="4424485"/>
            <a:ext cx="962549" cy="133997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8479544" y="2906209"/>
            <a:ext cx="1720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test_POINT.py</a:t>
            </a:r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8491950" y="4204329"/>
            <a:ext cx="1874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line_integral.py</a:t>
            </a:r>
            <a:endParaRPr lang="zh-CN" alt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8615190" y="550244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+mn-ea"/>
                <a:ea typeface="+mn-ea"/>
              </a:rPr>
              <a:t>吻合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4" name="右箭头 33"/>
          <p:cNvSpPr/>
          <p:nvPr/>
        </p:nvSpPr>
        <p:spPr>
          <a:xfrm>
            <a:off x="9356806" y="5083410"/>
            <a:ext cx="1228067" cy="16143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上箭头 34"/>
          <p:cNvSpPr/>
          <p:nvPr/>
        </p:nvSpPr>
        <p:spPr>
          <a:xfrm>
            <a:off x="10595162" y="2560134"/>
            <a:ext cx="172341" cy="2598601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左箭头 35"/>
          <p:cNvSpPr/>
          <p:nvPr/>
        </p:nvSpPr>
        <p:spPr>
          <a:xfrm>
            <a:off x="9497291" y="2308091"/>
            <a:ext cx="1163782" cy="174496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9525752" y="474197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  <a:ea typeface="+mn-ea"/>
              </a:rPr>
              <a:t>不吻合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9873630" y="199640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+mn-ea"/>
                <a:ea typeface="+mn-ea"/>
              </a:rPr>
              <a:t>调整</a:t>
            </a:r>
            <a:endParaRPr lang="zh-CN" altLang="en-US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09603" y="1022097"/>
            <a:ext cx="10972800" cy="4754563"/>
          </a:xfrm>
        </p:spPr>
        <p:txBody>
          <a:bodyPr/>
          <a:lstStyle/>
          <a:p>
            <a:r>
              <a:rPr lang="zh-CN" altLang="en-US" dirty="0" smtClean="0">
                <a:latin typeface="+mn-ea"/>
                <a:ea typeface="+mn-ea"/>
              </a:rPr>
              <a:t>与</a:t>
            </a:r>
            <a:r>
              <a:rPr lang="en-US" altLang="zh-CN" dirty="0" err="1" smtClean="0">
                <a:latin typeface="+mn-ea"/>
                <a:ea typeface="+mn-ea"/>
              </a:rPr>
              <a:t>Te</a:t>
            </a:r>
            <a:r>
              <a:rPr lang="zh-CN" altLang="en-US" dirty="0">
                <a:latin typeface="+mn-ea"/>
                <a:ea typeface="+mn-ea"/>
              </a:rPr>
              <a:t>的</a:t>
            </a:r>
            <a:r>
              <a:rPr lang="zh-CN" altLang="en-US" dirty="0" smtClean="0">
                <a:latin typeface="+mn-ea"/>
                <a:ea typeface="+mn-ea"/>
              </a:rPr>
              <a:t>拟合过程相同，只是将</a:t>
            </a:r>
            <a:r>
              <a:rPr lang="en-US" altLang="zh-CN" dirty="0" err="1" smtClean="0">
                <a:latin typeface="+mn-ea"/>
                <a:ea typeface="+mn-ea"/>
              </a:rPr>
              <a:t>dataFile</a:t>
            </a:r>
            <a:r>
              <a:rPr lang="zh-CN" altLang="en-US" dirty="0" smtClean="0">
                <a:latin typeface="+mn-ea"/>
                <a:ea typeface="+mn-ea"/>
              </a:rPr>
              <a:t>中的</a:t>
            </a:r>
            <a:r>
              <a:rPr lang="en-US" altLang="zh-CN" dirty="0" err="1" smtClean="0">
                <a:latin typeface="+mn-ea"/>
                <a:ea typeface="+mn-ea"/>
              </a:rPr>
              <a:t>Te</a:t>
            </a:r>
            <a:r>
              <a:rPr lang="zh-CN" altLang="en-US" dirty="0" smtClean="0">
                <a:latin typeface="+mn-ea"/>
                <a:ea typeface="+mn-ea"/>
              </a:rPr>
              <a:t>换成</a:t>
            </a:r>
            <a:r>
              <a:rPr lang="en-US" altLang="zh-CN" dirty="0" smtClean="0">
                <a:latin typeface="+mn-ea"/>
                <a:ea typeface="+mn-ea"/>
              </a:rPr>
              <a:t>ne</a:t>
            </a:r>
            <a:r>
              <a:rPr lang="zh-CN" altLang="en-US" dirty="0" smtClean="0">
                <a:latin typeface="+mn-ea"/>
                <a:ea typeface="+mn-ea"/>
              </a:rPr>
              <a:t>，并注意更改</a:t>
            </a:r>
            <a:r>
              <a:rPr lang="en-US" altLang="zh-CN" dirty="0" smtClean="0">
                <a:latin typeface="+mn-ea"/>
                <a:ea typeface="+mn-ea"/>
              </a:rPr>
              <a:t>command box</a:t>
            </a:r>
            <a:r>
              <a:rPr lang="zh-CN" altLang="en-US" dirty="0" smtClean="0">
                <a:latin typeface="+mn-ea"/>
                <a:ea typeface="+mn-ea"/>
              </a:rPr>
              <a:t>中的命令</a:t>
            </a:r>
            <a:endParaRPr lang="en-US" altLang="zh-CN" dirty="0" smtClean="0">
              <a:latin typeface="+mn-ea"/>
              <a:ea typeface="+mn-ea"/>
            </a:endParaRPr>
          </a:p>
          <a:p>
            <a:r>
              <a:rPr lang="zh-CN" altLang="en-US" dirty="0" smtClean="0">
                <a:latin typeface="+mn-ea"/>
                <a:ea typeface="+mn-ea"/>
              </a:rPr>
              <a:t>更改保存好的</a:t>
            </a:r>
            <a:r>
              <a:rPr lang="en-US" altLang="zh-CN" dirty="0" smtClean="0">
                <a:latin typeface="+mn-ea"/>
                <a:ea typeface="+mn-ea"/>
              </a:rPr>
              <a:t>ne</a:t>
            </a:r>
            <a:r>
              <a:rPr lang="zh-CN" altLang="en-US" dirty="0" smtClean="0">
                <a:latin typeface="+mn-ea"/>
                <a:ea typeface="+mn-ea"/>
              </a:rPr>
              <a:t>拟合结果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r>
              <a:rPr lang="en-US" altLang="zh-CN" dirty="0" smtClean="0">
                <a:latin typeface="+mn-ea"/>
                <a:ea typeface="+mn-ea"/>
              </a:rPr>
              <a:t>&amp;</a:t>
            </a:r>
            <a:r>
              <a:rPr lang="en-US" altLang="zh-CN" dirty="0" err="1" smtClean="0">
                <a:latin typeface="+mn-ea"/>
                <a:ea typeface="+mn-ea"/>
              </a:rPr>
              <a:t>fitted_data</a:t>
            </a:r>
            <a:r>
              <a:rPr lang="zh-CN" altLang="en-US" dirty="0" smtClean="0">
                <a:latin typeface="+mn-ea"/>
                <a:ea typeface="+mn-ea"/>
              </a:rPr>
              <a:t>改为</a:t>
            </a:r>
            <a:r>
              <a:rPr lang="en-US" altLang="zh-CN" dirty="0" smtClean="0">
                <a:latin typeface="+mn-ea"/>
                <a:ea typeface="+mn-ea"/>
              </a:rPr>
              <a:t>&amp;</a:t>
            </a:r>
            <a:r>
              <a:rPr lang="en-US" altLang="zh-CN" dirty="0" err="1" smtClean="0">
                <a:latin typeface="+mn-ea"/>
                <a:ea typeface="+mn-ea"/>
              </a:rPr>
              <a:t>namelist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r>
              <a:rPr lang="en-US" altLang="zh-CN" dirty="0" smtClean="0">
                <a:latin typeface="+mn-ea"/>
                <a:ea typeface="+mn-ea"/>
              </a:rPr>
              <a:t>&amp;</a:t>
            </a:r>
            <a:r>
              <a:rPr lang="en-US" altLang="zh-CN" dirty="0" err="1" smtClean="0">
                <a:latin typeface="+mn-ea"/>
                <a:ea typeface="+mn-ea"/>
              </a:rPr>
              <a:t>fitted_data</a:t>
            </a:r>
            <a:r>
              <a:rPr lang="zh-CN" altLang="en-US" dirty="0" smtClean="0">
                <a:latin typeface="+mn-ea"/>
                <a:ea typeface="+mn-ea"/>
              </a:rPr>
              <a:t>下的</a:t>
            </a:r>
            <a:r>
              <a:rPr lang="en-US" altLang="zh-CN" dirty="0" smtClean="0">
                <a:latin typeface="+mn-ea"/>
                <a:ea typeface="+mn-ea"/>
              </a:rPr>
              <a:t>rho</a:t>
            </a:r>
            <a:r>
              <a:rPr lang="zh-CN" altLang="en-US" dirty="0" smtClean="0">
                <a:latin typeface="+mn-ea"/>
                <a:ea typeface="+mn-ea"/>
              </a:rPr>
              <a:t>改为</a:t>
            </a:r>
            <a:r>
              <a:rPr lang="en-US" altLang="zh-CN" dirty="0" err="1" smtClean="0">
                <a:latin typeface="+mn-ea"/>
                <a:ea typeface="+mn-ea"/>
              </a:rPr>
              <a:t>fit_rho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r>
              <a:rPr lang="en-US" altLang="zh-CN" dirty="0">
                <a:latin typeface="+mn-ea"/>
                <a:ea typeface="+mn-ea"/>
              </a:rPr>
              <a:t>&amp;</a:t>
            </a:r>
            <a:r>
              <a:rPr lang="en-US" altLang="zh-CN" dirty="0" err="1">
                <a:latin typeface="+mn-ea"/>
                <a:ea typeface="+mn-ea"/>
              </a:rPr>
              <a:t>fitted_data</a:t>
            </a:r>
            <a:r>
              <a:rPr lang="zh-CN" altLang="en-US" dirty="0">
                <a:latin typeface="+mn-ea"/>
                <a:ea typeface="+mn-ea"/>
              </a:rPr>
              <a:t>下</a:t>
            </a:r>
            <a:r>
              <a:rPr lang="zh-CN" altLang="en-US" dirty="0" smtClean="0">
                <a:latin typeface="+mn-ea"/>
                <a:ea typeface="+mn-ea"/>
              </a:rPr>
              <a:t>的</a:t>
            </a:r>
            <a:r>
              <a:rPr lang="en-US" altLang="zh-CN" dirty="0" smtClean="0">
                <a:latin typeface="+mn-ea"/>
                <a:ea typeface="+mn-ea"/>
              </a:rPr>
              <a:t>data</a:t>
            </a:r>
            <a:r>
              <a:rPr lang="zh-CN" altLang="en-US" dirty="0" smtClean="0">
                <a:latin typeface="+mn-ea"/>
                <a:ea typeface="+mn-ea"/>
              </a:rPr>
              <a:t>改为</a:t>
            </a:r>
            <a:r>
              <a:rPr lang="en-US" altLang="zh-CN" dirty="0" err="1" smtClean="0">
                <a:latin typeface="+mn-ea"/>
                <a:ea typeface="+mn-ea"/>
              </a:rPr>
              <a:t>fit_data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r>
              <a:rPr lang="zh-CN" altLang="en-US" dirty="0" smtClean="0">
                <a:solidFill>
                  <a:srgbClr val="FF0000"/>
                </a:solidFill>
                <a:latin typeface="+mn-ea"/>
                <a:ea typeface="+mn-ea"/>
              </a:rPr>
              <a:t>注意</a:t>
            </a:r>
            <a:r>
              <a:rPr lang="zh-CN" altLang="en-US" dirty="0" smtClean="0">
                <a:latin typeface="+mn-ea"/>
                <a:ea typeface="+mn-ea"/>
              </a:rPr>
              <a:t>：</a:t>
            </a:r>
            <a:r>
              <a:rPr lang="en-US" altLang="zh-CN" dirty="0" smtClean="0">
                <a:latin typeface="+mn-ea"/>
                <a:ea typeface="+mn-ea"/>
              </a:rPr>
              <a:t>ne</a:t>
            </a:r>
            <a:r>
              <a:rPr lang="zh-CN" altLang="en-US" dirty="0" smtClean="0">
                <a:latin typeface="+mn-ea"/>
                <a:ea typeface="+mn-ea"/>
              </a:rPr>
              <a:t>的值要在拟合结果的基础上除以</a:t>
            </a:r>
            <a:r>
              <a:rPr lang="en-US" altLang="zh-CN" dirty="0" smtClean="0">
                <a:latin typeface="+mn-ea"/>
                <a:ea typeface="+mn-ea"/>
              </a:rPr>
              <a:t>10</a:t>
            </a:r>
            <a:r>
              <a:rPr lang="en-US" altLang="zh-CN" baseline="30000" dirty="0" smtClean="0">
                <a:latin typeface="+mn-ea"/>
                <a:ea typeface="+mn-ea"/>
              </a:rPr>
              <a:t>6</a:t>
            </a:r>
            <a:endParaRPr lang="en-US" altLang="zh-CN" baseline="30000" dirty="0" smtClean="0">
              <a:latin typeface="+mn-ea"/>
              <a:ea typeface="+mn-ea"/>
            </a:endParaRPr>
          </a:p>
          <a:p>
            <a:pPr marL="457200" lvl="1" indent="0">
              <a:buNone/>
            </a:pPr>
            <a:endParaRPr lang="en-US" altLang="zh-CN" baseline="30000" dirty="0">
              <a:latin typeface="+mn-ea"/>
              <a:ea typeface="+mn-ea"/>
            </a:endParaRPr>
          </a:p>
          <a:p>
            <a:pPr lvl="1"/>
            <a:endParaRPr lang="en-US" altLang="zh-CN" dirty="0" smtClean="0">
              <a:latin typeface="+mn-ea"/>
              <a:ea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2800" dirty="0" smtClean="0">
                <a:latin typeface="+mn-ea"/>
                <a:ea typeface="+mn-ea"/>
              </a:rPr>
              <a:t>首次拟合</a:t>
            </a:r>
            <a:endParaRPr lang="zh-CN" altLang="en-US" sz="2800" dirty="0">
              <a:latin typeface="+mn-ea"/>
              <a:ea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2019" y="3157008"/>
            <a:ext cx="7941726" cy="35653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+mn-ea"/>
                <a:ea typeface="+mn-ea"/>
              </a:rPr>
              <a:t>通过</a:t>
            </a:r>
            <a:r>
              <a:rPr lang="en-US" altLang="zh-CN" dirty="0" smtClean="0">
                <a:latin typeface="+mn-ea"/>
                <a:ea typeface="+mn-ea"/>
              </a:rPr>
              <a:t>test_POINT.py</a:t>
            </a:r>
            <a:r>
              <a:rPr lang="zh-CN" altLang="en-US" dirty="0" smtClean="0">
                <a:latin typeface="+mn-ea"/>
                <a:ea typeface="+mn-ea"/>
              </a:rPr>
              <a:t>得到拟合结果的</a:t>
            </a:r>
            <a:r>
              <a:rPr lang="en-US" altLang="zh-CN" dirty="0" smtClean="0">
                <a:latin typeface="+mn-ea"/>
                <a:ea typeface="+mn-ea"/>
              </a:rPr>
              <a:t>POINT</a:t>
            </a:r>
            <a:r>
              <a:rPr lang="zh-CN" altLang="en-US" dirty="0" smtClean="0">
                <a:latin typeface="+mn-ea"/>
                <a:ea typeface="+mn-ea"/>
              </a:rPr>
              <a:t>弦积分密度</a:t>
            </a:r>
            <a:endParaRPr lang="en-US" altLang="zh-CN" dirty="0" smtClean="0">
              <a:latin typeface="+mn-ea"/>
              <a:ea typeface="+mn-ea"/>
            </a:endParaRPr>
          </a:p>
          <a:p>
            <a:r>
              <a:rPr lang="zh-CN" altLang="en-US" dirty="0" smtClean="0">
                <a:latin typeface="+mn-ea"/>
                <a:ea typeface="+mn-ea"/>
              </a:rPr>
              <a:t>在</a:t>
            </a:r>
            <a:r>
              <a:rPr lang="en-US" altLang="zh-CN" dirty="0" smtClean="0">
                <a:latin typeface="+mn-ea"/>
                <a:ea typeface="+mn-ea"/>
              </a:rPr>
              <a:t>terminal</a:t>
            </a:r>
            <a:r>
              <a:rPr lang="zh-CN" altLang="en-US" dirty="0" smtClean="0">
                <a:latin typeface="+mn-ea"/>
                <a:ea typeface="+mn-ea"/>
              </a:rPr>
              <a:t>中运行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r>
              <a:rPr lang="en-US" altLang="zh-CN" dirty="0">
                <a:latin typeface="+mn-ea"/>
                <a:ea typeface="+mn-ea"/>
              </a:rPr>
              <a:t>s</a:t>
            </a:r>
            <a:r>
              <a:rPr lang="en-US" altLang="zh-CN" dirty="0" smtClean="0">
                <a:latin typeface="+mn-ea"/>
                <a:ea typeface="+mn-ea"/>
              </a:rPr>
              <a:t>ource </a:t>
            </a:r>
            <a:r>
              <a:rPr lang="en-US" altLang="zh-CN" dirty="0" err="1" smtClean="0">
                <a:latin typeface="+mn-ea"/>
                <a:ea typeface="+mn-ea"/>
              </a:rPr>
              <a:t>env_set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r>
              <a:rPr lang="en-US" altLang="zh-CN" dirty="0" smtClean="0">
                <a:latin typeface="+mn-ea"/>
                <a:ea typeface="+mn-ea"/>
              </a:rPr>
              <a:t>run_mefit.py </a:t>
            </a:r>
            <a:r>
              <a:rPr lang="en-US" altLang="zh-CN" dirty="0">
                <a:latin typeface="+mn-ea"/>
                <a:ea typeface="+mn-ea"/>
              </a:rPr>
              <a:t>90238 [8.1] </a:t>
            </a:r>
            <a:r>
              <a:rPr lang="en-US" altLang="zh-CN" dirty="0" smtClean="0">
                <a:latin typeface="+mn-ea"/>
                <a:ea typeface="+mn-ea"/>
              </a:rPr>
              <a:t>(90238</a:t>
            </a:r>
            <a:r>
              <a:rPr lang="zh-CN" altLang="en-US" dirty="0">
                <a:latin typeface="+mn-ea"/>
                <a:ea typeface="+mn-ea"/>
              </a:rPr>
              <a:t>为炮号，</a:t>
            </a:r>
            <a:r>
              <a:rPr lang="en-US" altLang="zh-CN" dirty="0">
                <a:latin typeface="+mn-ea"/>
                <a:ea typeface="+mn-ea"/>
              </a:rPr>
              <a:t>[3]</a:t>
            </a:r>
            <a:r>
              <a:rPr lang="zh-CN" altLang="en-US" dirty="0">
                <a:latin typeface="+mn-ea"/>
                <a:ea typeface="+mn-ea"/>
              </a:rPr>
              <a:t>为</a:t>
            </a:r>
            <a:r>
              <a:rPr lang="en-US" altLang="zh-CN" dirty="0">
                <a:latin typeface="+mn-ea"/>
                <a:ea typeface="+mn-ea"/>
              </a:rPr>
              <a:t>3s</a:t>
            </a:r>
            <a:r>
              <a:rPr lang="zh-CN" altLang="en-US" dirty="0">
                <a:latin typeface="+mn-ea"/>
                <a:ea typeface="+mn-ea"/>
              </a:rPr>
              <a:t>，时</a:t>
            </a:r>
            <a:r>
              <a:rPr lang="zh-CN" altLang="en-US" dirty="0" smtClean="0">
                <a:latin typeface="+mn-ea"/>
                <a:ea typeface="+mn-ea"/>
              </a:rPr>
              <a:t>刻点，得到的</a:t>
            </a:r>
            <a:r>
              <a:rPr lang="en-US" altLang="zh-CN" dirty="0" err="1" smtClean="0">
                <a:latin typeface="+mn-ea"/>
                <a:ea typeface="+mn-ea"/>
              </a:rPr>
              <a:t>gfile</a:t>
            </a:r>
            <a:r>
              <a:rPr lang="zh-CN" altLang="en-US" dirty="0" smtClean="0">
                <a:latin typeface="+mn-ea"/>
                <a:ea typeface="+mn-ea"/>
              </a:rPr>
              <a:t>需要复制</a:t>
            </a:r>
            <a:r>
              <a:rPr lang="en-US" altLang="zh-CN" dirty="0" smtClean="0">
                <a:latin typeface="+mn-ea"/>
                <a:ea typeface="+mn-ea"/>
              </a:rPr>
              <a:t>/</a:t>
            </a:r>
            <a:r>
              <a:rPr lang="zh-CN" altLang="en-US" dirty="0" smtClean="0">
                <a:latin typeface="+mn-ea"/>
                <a:ea typeface="+mn-ea"/>
              </a:rPr>
              <a:t>剪切到</a:t>
            </a:r>
            <a:r>
              <a:rPr lang="en-US" altLang="zh-CN" dirty="0" err="1" smtClean="0">
                <a:latin typeface="+mn-ea"/>
                <a:ea typeface="+mn-ea"/>
              </a:rPr>
              <a:t>myPython</a:t>
            </a:r>
            <a:r>
              <a:rPr lang="zh-CN" altLang="en-US" dirty="0" smtClean="0">
                <a:latin typeface="+mn-ea"/>
                <a:ea typeface="+mn-ea"/>
              </a:rPr>
              <a:t>文件夹中</a:t>
            </a:r>
            <a:r>
              <a:rPr lang="en-US" altLang="zh-CN" dirty="0" smtClean="0">
                <a:latin typeface="+mn-ea"/>
                <a:ea typeface="+mn-ea"/>
              </a:rPr>
              <a:t>)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r>
              <a:rPr lang="en-US" altLang="zh-CN" dirty="0" smtClean="0">
                <a:latin typeface="+mn-ea"/>
                <a:ea typeface="+mn-ea"/>
              </a:rPr>
              <a:t>python test_POINT.py </a:t>
            </a:r>
            <a:r>
              <a:rPr lang="en-US" altLang="zh-CN" dirty="0" err="1" smtClean="0">
                <a:latin typeface="+mn-ea"/>
                <a:ea typeface="+mn-ea"/>
              </a:rPr>
              <a:t>nefile</a:t>
            </a:r>
            <a:r>
              <a:rPr lang="en-US" altLang="zh-CN" dirty="0" smtClean="0">
                <a:latin typeface="+mn-ea"/>
                <a:ea typeface="+mn-ea"/>
              </a:rPr>
              <a:t> </a:t>
            </a:r>
            <a:r>
              <a:rPr lang="en-US" altLang="zh-CN" dirty="0" err="1" smtClean="0">
                <a:latin typeface="+mn-ea"/>
                <a:ea typeface="+mn-ea"/>
              </a:rPr>
              <a:t>gfile</a:t>
            </a:r>
            <a:r>
              <a:rPr lang="en-US" altLang="zh-CN" dirty="0" smtClean="0">
                <a:latin typeface="+mn-ea"/>
                <a:ea typeface="+mn-ea"/>
              </a:rPr>
              <a:t> [</a:t>
            </a:r>
            <a:r>
              <a:rPr lang="en-US" altLang="zh-CN" dirty="0" err="1" smtClean="0">
                <a:latin typeface="+mn-ea"/>
                <a:ea typeface="+mn-ea"/>
              </a:rPr>
              <a:t>nefile</a:t>
            </a:r>
            <a:r>
              <a:rPr lang="zh-CN" altLang="en-US" dirty="0" smtClean="0">
                <a:latin typeface="+mn-ea"/>
                <a:ea typeface="+mn-ea"/>
              </a:rPr>
              <a:t>为上一步更改过后保存的拟合结果，</a:t>
            </a:r>
            <a:r>
              <a:rPr lang="en-US" altLang="zh-CN" dirty="0" err="1" smtClean="0">
                <a:latin typeface="+mn-ea"/>
                <a:ea typeface="+mn-ea"/>
              </a:rPr>
              <a:t>gfile</a:t>
            </a:r>
            <a:r>
              <a:rPr lang="zh-CN" altLang="en-US" dirty="0" smtClean="0">
                <a:latin typeface="+mn-ea"/>
                <a:ea typeface="+mn-ea"/>
              </a:rPr>
              <a:t>为对应的</a:t>
            </a:r>
            <a:r>
              <a:rPr lang="en-US" altLang="zh-CN" dirty="0" err="1" smtClean="0">
                <a:latin typeface="+mn-ea"/>
                <a:ea typeface="+mn-ea"/>
              </a:rPr>
              <a:t>gfile</a:t>
            </a:r>
            <a:r>
              <a:rPr lang="en-US" altLang="zh-CN" dirty="0" smtClean="0">
                <a:latin typeface="+mn-ea"/>
                <a:ea typeface="+mn-ea"/>
              </a:rPr>
              <a:t>]</a:t>
            </a:r>
            <a:endParaRPr lang="en-US" altLang="zh-CN" dirty="0" smtClean="0">
              <a:latin typeface="+mn-ea"/>
              <a:ea typeface="+mn-ea"/>
            </a:endParaRPr>
          </a:p>
          <a:p>
            <a:pPr marL="457200" lvl="1" indent="0">
              <a:buNone/>
            </a:pPr>
            <a:r>
              <a:rPr lang="en-US" altLang="zh-CN" dirty="0" smtClean="0">
                <a:latin typeface="+mn-ea"/>
                <a:ea typeface="+mn-ea"/>
              </a:rPr>
              <a:t>    </a:t>
            </a:r>
            <a:r>
              <a:rPr lang="zh-CN" altLang="en-US" dirty="0" smtClean="0">
                <a:latin typeface="+mn-ea"/>
                <a:ea typeface="+mn-ea"/>
              </a:rPr>
              <a:t>如：</a:t>
            </a:r>
            <a:r>
              <a:rPr lang="en-US" altLang="zh-CN" dirty="0">
                <a:latin typeface="+mn-ea"/>
                <a:ea typeface="+mn-ea"/>
              </a:rPr>
              <a:t>python test_POINT.py ne-90238 </a:t>
            </a:r>
            <a:r>
              <a:rPr lang="en-US" altLang="zh-CN" dirty="0" smtClean="0">
                <a:latin typeface="+mn-ea"/>
                <a:ea typeface="+mn-ea"/>
              </a:rPr>
              <a:t>g090238.08100</a:t>
            </a:r>
            <a:endParaRPr lang="en-US" altLang="zh-CN" dirty="0" smtClean="0">
              <a:latin typeface="+mn-ea"/>
              <a:ea typeface="+mn-ea"/>
            </a:endParaRPr>
          </a:p>
          <a:p>
            <a:r>
              <a:rPr lang="zh-CN" altLang="en-US" dirty="0">
                <a:latin typeface="+mn-ea"/>
                <a:ea typeface="+mn-ea"/>
              </a:rPr>
              <a:t>得到</a:t>
            </a:r>
            <a:r>
              <a:rPr lang="zh-CN" altLang="en-US" dirty="0" smtClean="0">
                <a:latin typeface="+mn-ea"/>
                <a:ea typeface="+mn-ea"/>
              </a:rPr>
              <a:t>的结果：</a:t>
            </a:r>
            <a:endParaRPr lang="en-US" altLang="zh-CN" dirty="0" smtClean="0">
              <a:latin typeface="+mn-ea"/>
              <a:ea typeface="+mn-ea"/>
            </a:endParaRPr>
          </a:p>
          <a:p>
            <a:pPr marL="0" indent="0">
              <a:buNone/>
            </a:pPr>
            <a:endParaRPr lang="en-US" altLang="zh-CN" dirty="0" smtClean="0">
              <a:latin typeface="+mn-ea"/>
              <a:ea typeface="+mn-ea"/>
            </a:endParaRPr>
          </a:p>
          <a:p>
            <a:pPr lvl="1"/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2800" dirty="0" smtClean="0">
                <a:latin typeface="+mn-ea"/>
                <a:ea typeface="+mn-ea"/>
              </a:rPr>
              <a:t>获取拟合结果的</a:t>
            </a:r>
            <a:r>
              <a:rPr lang="en-US" altLang="zh-CN" sz="2800" dirty="0" smtClean="0">
                <a:latin typeface="+mn-ea"/>
                <a:ea typeface="+mn-ea"/>
              </a:rPr>
              <a:t>POINT</a:t>
            </a:r>
            <a:r>
              <a:rPr lang="zh-CN" altLang="en-US" sz="2800" dirty="0" smtClean="0">
                <a:latin typeface="+mn-ea"/>
                <a:ea typeface="+mn-ea"/>
              </a:rPr>
              <a:t>信号值</a:t>
            </a:r>
            <a:endParaRPr lang="zh-CN" altLang="en-US" sz="2800" dirty="0">
              <a:latin typeface="+mn-ea"/>
              <a:ea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8431" y="4146932"/>
            <a:ext cx="6334125" cy="21336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140104" y="562395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+mn-ea"/>
                <a:ea typeface="+mn-ea"/>
              </a:rPr>
              <a:t>这是我们要的结果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9181081" y="5497723"/>
            <a:ext cx="1949370" cy="680225"/>
          </a:xfrm>
          <a:prstGeom prst="round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右箭头 8"/>
          <p:cNvSpPr/>
          <p:nvPr/>
        </p:nvSpPr>
        <p:spPr>
          <a:xfrm>
            <a:off x="8363414" y="5671620"/>
            <a:ext cx="776689" cy="213885"/>
          </a:xfrm>
          <a:prstGeom prst="rightArrow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+mn-ea"/>
                <a:ea typeface="+mn-ea"/>
              </a:rPr>
              <a:t>打开</a:t>
            </a:r>
            <a:r>
              <a:rPr lang="en-US" altLang="zh-CN" dirty="0" smtClean="0">
                <a:latin typeface="+mn-ea"/>
                <a:ea typeface="+mn-ea"/>
              </a:rPr>
              <a:t>line_integral.py</a:t>
            </a:r>
            <a:r>
              <a:rPr lang="zh-CN" altLang="en-US" dirty="0" smtClean="0">
                <a:latin typeface="+mn-ea"/>
                <a:ea typeface="+mn-ea"/>
              </a:rPr>
              <a:t>，将上一步得到的蓝框中的结果粘贴到</a:t>
            </a:r>
            <a:r>
              <a:rPr lang="en-US" altLang="zh-CN" dirty="0" smtClean="0">
                <a:latin typeface="+mn-ea"/>
                <a:ea typeface="+mn-ea"/>
              </a:rPr>
              <a:t>line_integral.py</a:t>
            </a:r>
            <a:r>
              <a:rPr lang="zh-CN" altLang="en-US" dirty="0" smtClean="0">
                <a:latin typeface="+mn-ea"/>
                <a:ea typeface="+mn-ea"/>
              </a:rPr>
              <a:t>中（图</a:t>
            </a:r>
            <a:r>
              <a:rPr lang="en-US" altLang="zh-CN" dirty="0" smtClean="0">
                <a:latin typeface="+mn-ea"/>
                <a:ea typeface="+mn-ea"/>
              </a:rPr>
              <a:t>1</a:t>
            </a:r>
            <a:r>
              <a:rPr lang="zh-CN" altLang="en-US" dirty="0" smtClean="0">
                <a:latin typeface="+mn-ea"/>
                <a:ea typeface="+mn-ea"/>
              </a:rPr>
              <a:t>红框），</a:t>
            </a:r>
            <a:r>
              <a:rPr lang="zh-CN" altLang="en-US" dirty="0" smtClean="0">
                <a:solidFill>
                  <a:srgbClr val="FF0000"/>
                </a:solidFill>
                <a:latin typeface="+mn-ea"/>
                <a:ea typeface="+mn-ea"/>
              </a:rPr>
              <a:t>数据之间加逗号</a:t>
            </a:r>
            <a:endParaRPr lang="en-US" altLang="zh-CN" dirty="0" smtClean="0">
              <a:solidFill>
                <a:srgbClr val="FF0000"/>
              </a:solidFill>
              <a:latin typeface="+mn-ea"/>
              <a:ea typeface="+mn-ea"/>
            </a:endParaRPr>
          </a:p>
          <a:p>
            <a:r>
              <a:rPr lang="zh-CN" altLang="en-US" dirty="0" smtClean="0">
                <a:latin typeface="+mn-ea"/>
                <a:ea typeface="+mn-ea"/>
              </a:rPr>
              <a:t>在</a:t>
            </a:r>
            <a:r>
              <a:rPr lang="en-US" altLang="zh-CN" dirty="0" smtClean="0">
                <a:latin typeface="+mn-ea"/>
                <a:ea typeface="+mn-ea"/>
              </a:rPr>
              <a:t>line_integral.py</a:t>
            </a:r>
            <a:r>
              <a:rPr lang="zh-CN" altLang="en-US" dirty="0" smtClean="0">
                <a:latin typeface="+mn-ea"/>
                <a:ea typeface="+mn-ea"/>
              </a:rPr>
              <a:t>中，要对应地更改炮号和时刻点（图</a:t>
            </a:r>
            <a:r>
              <a:rPr lang="en-US" altLang="zh-CN" dirty="0" smtClean="0">
                <a:latin typeface="+mn-ea"/>
                <a:ea typeface="+mn-ea"/>
              </a:rPr>
              <a:t>2</a:t>
            </a:r>
            <a:r>
              <a:rPr lang="zh-CN" altLang="en-US" dirty="0" smtClean="0">
                <a:latin typeface="+mn-ea"/>
                <a:ea typeface="+mn-ea"/>
              </a:rPr>
              <a:t>红框）</a:t>
            </a:r>
            <a:endParaRPr lang="en-US" altLang="zh-CN" dirty="0" smtClean="0">
              <a:latin typeface="+mn-ea"/>
              <a:ea typeface="+mn-ea"/>
            </a:endParaRPr>
          </a:p>
          <a:p>
            <a:pPr marL="0" indent="0">
              <a:buNone/>
            </a:pP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2800" dirty="0" smtClean="0">
                <a:latin typeface="+mn-ea"/>
                <a:ea typeface="+mn-ea"/>
              </a:rPr>
              <a:t>POINT</a:t>
            </a:r>
            <a:r>
              <a:rPr lang="zh-CN" altLang="en-US" sz="2800" dirty="0" smtClean="0">
                <a:latin typeface="+mn-ea"/>
                <a:ea typeface="+mn-ea"/>
              </a:rPr>
              <a:t>信号对比</a:t>
            </a:r>
            <a:endParaRPr lang="zh-CN" altLang="en-US" sz="2800" dirty="0">
              <a:latin typeface="+mn-ea"/>
              <a:ea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638" y="2531602"/>
            <a:ext cx="4963615" cy="40221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569" y="2526361"/>
            <a:ext cx="4972514" cy="402211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177928" y="4179101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  <a:latin typeface="+mn-ea"/>
                <a:ea typeface="+mn-ea"/>
              </a:rPr>
              <a:t>1</a:t>
            </a:r>
            <a:endParaRPr lang="zh-CN" altLang="en-US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98935" y="4179101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  <a:latin typeface="+mn-ea"/>
                <a:ea typeface="+mn-ea"/>
              </a:rPr>
              <a:t>2</a:t>
            </a:r>
            <a:endParaRPr lang="zh-CN" altLang="en-US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+mn-ea"/>
                <a:ea typeface="+mn-ea"/>
              </a:rPr>
              <a:t>运行</a:t>
            </a:r>
            <a:r>
              <a:rPr lang="en-US" altLang="zh-CN" dirty="0" smtClean="0">
                <a:latin typeface="+mn-ea"/>
                <a:ea typeface="+mn-ea"/>
              </a:rPr>
              <a:t>python line_integral.py</a:t>
            </a:r>
            <a:r>
              <a:rPr lang="zh-CN" altLang="en-US" dirty="0" smtClean="0">
                <a:latin typeface="+mn-ea"/>
                <a:ea typeface="+mn-ea"/>
              </a:rPr>
              <a:t>，得到结果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r>
              <a:rPr lang="zh-CN" altLang="en-US" dirty="0" smtClean="0">
                <a:latin typeface="+mn-ea"/>
                <a:ea typeface="+mn-ea"/>
              </a:rPr>
              <a:t>其中蓝色线为拟合得到的</a:t>
            </a:r>
            <a:r>
              <a:rPr lang="en-US" altLang="zh-CN" dirty="0" smtClean="0">
                <a:latin typeface="+mn-ea"/>
                <a:ea typeface="+mn-ea"/>
              </a:rPr>
              <a:t>POINT</a:t>
            </a:r>
            <a:r>
              <a:rPr lang="zh-CN" altLang="en-US" dirty="0" smtClean="0">
                <a:latin typeface="+mn-ea"/>
                <a:ea typeface="+mn-ea"/>
              </a:rPr>
              <a:t>信号值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r>
              <a:rPr lang="zh-CN" altLang="en-US" dirty="0" smtClean="0">
                <a:latin typeface="+mn-ea"/>
                <a:ea typeface="+mn-ea"/>
              </a:rPr>
              <a:t>红色线为服务器读取的</a:t>
            </a:r>
            <a:r>
              <a:rPr lang="en-US" altLang="zh-CN" dirty="0" smtClean="0">
                <a:latin typeface="+mn-ea"/>
                <a:ea typeface="+mn-ea"/>
              </a:rPr>
              <a:t>POINT</a:t>
            </a:r>
            <a:r>
              <a:rPr lang="zh-CN" altLang="en-US" dirty="0" smtClean="0">
                <a:latin typeface="+mn-ea"/>
                <a:ea typeface="+mn-ea"/>
              </a:rPr>
              <a:t>信号值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endParaRPr lang="en-US" altLang="zh-CN" dirty="0" smtClean="0">
              <a:latin typeface="+mn-ea"/>
              <a:ea typeface="+mn-ea"/>
            </a:endParaRPr>
          </a:p>
          <a:p>
            <a:r>
              <a:rPr lang="zh-CN" altLang="en-US" dirty="0" smtClean="0">
                <a:latin typeface="+mn-ea"/>
                <a:ea typeface="+mn-ea"/>
              </a:rPr>
              <a:t>观察红线和蓝线的差异，再次拟合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r>
              <a:rPr lang="zh-CN" altLang="en-US" dirty="0" smtClean="0">
                <a:latin typeface="+mn-ea"/>
                <a:ea typeface="+mn-ea"/>
              </a:rPr>
              <a:t>如图，拟合的密度可能是整体偏低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r>
              <a:rPr lang="zh-CN" altLang="en-US" dirty="0" smtClean="0">
                <a:latin typeface="+mn-ea"/>
                <a:ea typeface="+mn-ea"/>
              </a:rPr>
              <a:t>需要返回第一步将整体的密度再提升，重复这一过程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r>
              <a:rPr lang="zh-CN" altLang="en-US" dirty="0" smtClean="0">
                <a:latin typeface="+mn-ea"/>
                <a:ea typeface="+mn-ea"/>
              </a:rPr>
              <a:t>直到最后红蓝吻合较好</a:t>
            </a:r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2800" dirty="0">
                <a:latin typeface="+mn-ea"/>
                <a:ea typeface="+mn-ea"/>
              </a:rPr>
              <a:t>POINT</a:t>
            </a:r>
            <a:r>
              <a:rPr lang="zh-CN" altLang="en-US" sz="2800" dirty="0">
                <a:latin typeface="+mn-ea"/>
                <a:ea typeface="+mn-ea"/>
              </a:rPr>
              <a:t>信号对比</a:t>
            </a:r>
            <a:endParaRPr lang="zh-CN" altLang="en-US" sz="2800" dirty="0">
              <a:latin typeface="+mn-ea"/>
              <a:ea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1691" y="1718632"/>
            <a:ext cx="4461894" cy="37664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508874" y="2797062"/>
            <a:ext cx="5174256" cy="116901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5400" dirty="0" smtClean="0">
                <a:latin typeface="+mj-ea"/>
                <a:ea typeface="+mj-ea"/>
              </a:rPr>
              <a:t>压强约束的平衡</a:t>
            </a:r>
            <a:endParaRPr lang="zh-CN" altLang="en-US" sz="5400" dirty="0">
              <a:latin typeface="+mj-ea"/>
              <a:ea typeface="+mj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09600" y="1002535"/>
            <a:ext cx="10972800" cy="5586775"/>
          </a:xfrm>
        </p:spPr>
        <p:txBody>
          <a:bodyPr/>
          <a:lstStyle/>
          <a:p>
            <a:r>
              <a:rPr lang="zh-CN" altLang="en-US" dirty="0" smtClean="0">
                <a:latin typeface="+mn-ea"/>
                <a:ea typeface="+mn-ea"/>
              </a:rPr>
              <a:t>需要的数据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r>
              <a:rPr lang="en-US" altLang="zh-CN" dirty="0" smtClean="0">
                <a:latin typeface="+mn-ea"/>
                <a:ea typeface="+mn-ea"/>
              </a:rPr>
              <a:t>ne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r>
              <a:rPr lang="en-US" altLang="zh-CN" dirty="0" err="1" smtClean="0">
                <a:latin typeface="+mn-ea"/>
                <a:ea typeface="+mn-ea"/>
              </a:rPr>
              <a:t>Te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r>
              <a:rPr lang="en-US" altLang="zh-CN" dirty="0" err="1" smtClean="0">
                <a:latin typeface="+mn-ea"/>
                <a:ea typeface="+mn-ea"/>
              </a:rPr>
              <a:t>Ti</a:t>
            </a:r>
            <a:endParaRPr lang="en-US" altLang="zh-CN" dirty="0" smtClean="0">
              <a:latin typeface="+mn-ea"/>
              <a:ea typeface="+mn-ea"/>
            </a:endParaRPr>
          </a:p>
          <a:p>
            <a:r>
              <a:rPr lang="zh-CN" altLang="en-US" dirty="0" smtClean="0">
                <a:latin typeface="+mn-ea"/>
                <a:ea typeface="+mn-ea"/>
              </a:rPr>
              <a:t>需要的文件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r>
              <a:rPr lang="en-US" altLang="zh-CN" dirty="0" err="1" smtClean="0">
                <a:latin typeface="+mn-ea"/>
                <a:ea typeface="+mn-ea"/>
              </a:rPr>
              <a:t>inone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r>
              <a:rPr lang="en-US" altLang="zh-CN" dirty="0" smtClean="0">
                <a:latin typeface="+mn-ea"/>
                <a:ea typeface="+mn-ea"/>
              </a:rPr>
              <a:t>nubeam-new.dat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r>
              <a:rPr lang="en-US" altLang="zh-CN" dirty="0" smtClean="0">
                <a:latin typeface="+mn-ea"/>
                <a:ea typeface="+mn-ea"/>
              </a:rPr>
              <a:t>g-file(</a:t>
            </a:r>
            <a:r>
              <a:rPr lang="zh-CN" altLang="en-US" dirty="0" smtClean="0">
                <a:latin typeface="+mn-ea"/>
                <a:ea typeface="+mn-ea"/>
              </a:rPr>
              <a:t>加了</a:t>
            </a:r>
            <a:r>
              <a:rPr lang="en-US" altLang="zh-CN" dirty="0" smtClean="0">
                <a:latin typeface="+mn-ea"/>
                <a:ea typeface="+mn-ea"/>
              </a:rPr>
              <a:t>POINT</a:t>
            </a:r>
            <a:r>
              <a:rPr lang="zh-CN" altLang="en-US" dirty="0" smtClean="0">
                <a:latin typeface="+mn-ea"/>
                <a:ea typeface="+mn-ea"/>
              </a:rPr>
              <a:t>约束的</a:t>
            </a:r>
            <a:r>
              <a:rPr lang="en-US" altLang="zh-CN" dirty="0" smtClean="0">
                <a:latin typeface="+mn-ea"/>
                <a:ea typeface="+mn-ea"/>
              </a:rPr>
              <a:t>)</a:t>
            </a:r>
            <a:endParaRPr lang="en-US" altLang="zh-CN" dirty="0" smtClean="0">
              <a:latin typeface="+mn-ea"/>
              <a:ea typeface="+mn-ea"/>
            </a:endParaRPr>
          </a:p>
          <a:p>
            <a:r>
              <a:rPr lang="zh-CN" altLang="en-US" dirty="0" smtClean="0">
                <a:latin typeface="+mn-ea"/>
                <a:ea typeface="+mn-ea"/>
              </a:rPr>
              <a:t>运行的程序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r>
              <a:rPr lang="en-US" altLang="zh-CN" dirty="0" err="1" smtClean="0">
                <a:latin typeface="+mn-ea"/>
                <a:ea typeface="+mn-ea"/>
              </a:rPr>
              <a:t>subonetwo_NUBEAM.pbs</a:t>
            </a:r>
            <a:endParaRPr lang="en-US" altLang="zh-CN" dirty="0" smtClean="0">
              <a:latin typeface="+mn-ea"/>
              <a:ea typeface="+mn-ea"/>
            </a:endParaRPr>
          </a:p>
          <a:p>
            <a:pPr marL="400050"/>
            <a:r>
              <a:rPr lang="zh-CN" altLang="en-US" dirty="0" smtClean="0">
                <a:latin typeface="+mn-ea"/>
                <a:ea typeface="+mn-ea"/>
              </a:rPr>
              <a:t>前提：</a:t>
            </a:r>
            <a:endParaRPr lang="en-US" altLang="zh-CN" dirty="0">
              <a:latin typeface="+mn-ea"/>
              <a:ea typeface="+mn-ea"/>
            </a:endParaRPr>
          </a:p>
          <a:p>
            <a:pPr marL="800100" lvl="1"/>
            <a:r>
              <a:rPr lang="zh-CN" altLang="en-US" dirty="0" smtClean="0">
                <a:latin typeface="+mn-ea"/>
                <a:ea typeface="+mn-ea"/>
              </a:rPr>
              <a:t>将吴木泉师兄的</a:t>
            </a:r>
            <a:r>
              <a:rPr lang="en-US" altLang="zh-CN" dirty="0" smtClean="0">
                <a:latin typeface="+mn-ea"/>
                <a:ea typeface="+mn-ea"/>
              </a:rPr>
              <a:t>/home/users/</a:t>
            </a:r>
            <a:r>
              <a:rPr lang="en-US" altLang="zh-CN" dirty="0" err="1" smtClean="0">
                <a:latin typeface="+mn-ea"/>
                <a:ea typeface="+mn-ea"/>
              </a:rPr>
              <a:t>wmq</a:t>
            </a:r>
            <a:r>
              <a:rPr lang="en-US" altLang="zh-CN" dirty="0" smtClean="0">
                <a:latin typeface="+mn-ea"/>
                <a:ea typeface="+mn-ea"/>
              </a:rPr>
              <a:t>/.</a:t>
            </a:r>
            <a:r>
              <a:rPr lang="en-US" altLang="zh-CN" dirty="0" err="1" smtClean="0">
                <a:latin typeface="+mn-ea"/>
                <a:ea typeface="+mn-ea"/>
              </a:rPr>
              <a:t>bashrc</a:t>
            </a:r>
            <a:r>
              <a:rPr lang="zh-CN" altLang="en-US" dirty="0" smtClean="0">
                <a:latin typeface="+mn-ea"/>
                <a:ea typeface="+mn-ea"/>
              </a:rPr>
              <a:t>拷贝到自己的对应文件夹中</a:t>
            </a:r>
            <a:endParaRPr lang="en-US" altLang="zh-CN" dirty="0" smtClean="0">
              <a:latin typeface="+mn-ea"/>
              <a:ea typeface="+mn-ea"/>
            </a:endParaRPr>
          </a:p>
          <a:p>
            <a:pPr marL="514350" lvl="1" indent="0">
              <a:buNone/>
            </a:pPr>
            <a:r>
              <a:rPr lang="en-US" altLang="zh-CN" dirty="0">
                <a:latin typeface="+mn-ea"/>
                <a:ea typeface="+mn-ea"/>
              </a:rPr>
              <a:t> </a:t>
            </a:r>
            <a:r>
              <a:rPr lang="en-US" altLang="zh-CN" dirty="0" smtClean="0">
                <a:latin typeface="+mn-ea"/>
                <a:ea typeface="+mn-ea"/>
              </a:rPr>
              <a:t>   </a:t>
            </a:r>
            <a:r>
              <a:rPr lang="zh-CN" altLang="en-US" dirty="0" smtClean="0">
                <a:latin typeface="+mn-ea"/>
                <a:ea typeface="+mn-ea"/>
              </a:rPr>
              <a:t>（如</a:t>
            </a:r>
            <a:r>
              <a:rPr lang="en-US" altLang="zh-CN" dirty="0" smtClean="0">
                <a:latin typeface="+mn-ea"/>
                <a:ea typeface="+mn-ea"/>
              </a:rPr>
              <a:t>/home/users/</a:t>
            </a:r>
            <a:r>
              <a:rPr lang="en-US" altLang="zh-CN" dirty="0" err="1" smtClean="0">
                <a:latin typeface="+mn-ea"/>
                <a:ea typeface="+mn-ea"/>
              </a:rPr>
              <a:t>zhangjy</a:t>
            </a:r>
            <a:r>
              <a:rPr lang="zh-CN" altLang="en-US" dirty="0" smtClean="0">
                <a:latin typeface="+mn-ea"/>
                <a:ea typeface="+mn-ea"/>
              </a:rPr>
              <a:t>）</a:t>
            </a:r>
            <a:endParaRPr lang="en-US" altLang="zh-CN" dirty="0" smtClean="0">
              <a:latin typeface="+mn-ea"/>
              <a:ea typeface="+mn-ea"/>
            </a:endParaRPr>
          </a:p>
          <a:p>
            <a:pPr marL="800100" lvl="1"/>
            <a:r>
              <a:rPr lang="zh-CN" altLang="en-US" dirty="0" smtClean="0">
                <a:latin typeface="+mn-ea"/>
                <a:ea typeface="+mn-ea"/>
              </a:rPr>
              <a:t>退出服务器，重新登陆</a:t>
            </a:r>
            <a:endParaRPr lang="en-US" altLang="zh-CN" dirty="0" smtClean="0">
              <a:latin typeface="+mn-ea"/>
              <a:ea typeface="+mn-ea"/>
            </a:endParaRPr>
          </a:p>
          <a:p>
            <a:pPr marL="800100" lvl="1"/>
            <a:endParaRPr lang="en-US" altLang="zh-CN" dirty="0" smtClean="0">
              <a:latin typeface="+mn-ea"/>
              <a:ea typeface="+mn-ea"/>
            </a:endParaRPr>
          </a:p>
          <a:p>
            <a:pPr marL="400050"/>
            <a:r>
              <a:rPr lang="zh-CN" altLang="en-US" sz="1800" b="0" dirty="0">
                <a:latin typeface="+mn-ea"/>
                <a:ea typeface="+mn-ea"/>
              </a:rPr>
              <a:t>所需</a:t>
            </a:r>
            <a:r>
              <a:rPr lang="zh-CN" altLang="en-US" sz="1800" b="0" dirty="0" smtClean="0">
                <a:latin typeface="+mn-ea"/>
                <a:ea typeface="+mn-ea"/>
              </a:rPr>
              <a:t>文件位置：</a:t>
            </a:r>
            <a:r>
              <a:rPr lang="en-US" altLang="zh-CN" sz="1800" b="0" dirty="0">
                <a:latin typeface="+mn-ea"/>
                <a:ea typeface="+mn-ea"/>
              </a:rPr>
              <a:t>/scratch/</a:t>
            </a:r>
            <a:r>
              <a:rPr lang="en-US" altLang="zh-CN" sz="1800" b="0" dirty="0" err="1">
                <a:latin typeface="+mn-ea"/>
                <a:ea typeface="+mn-ea"/>
              </a:rPr>
              <a:t>zhangjy</a:t>
            </a:r>
            <a:r>
              <a:rPr lang="en-US" altLang="zh-CN" sz="1800" b="0" dirty="0">
                <a:latin typeface="+mn-ea"/>
                <a:ea typeface="+mn-ea"/>
              </a:rPr>
              <a:t>/</a:t>
            </a:r>
            <a:r>
              <a:rPr lang="en-US" altLang="zh-CN" sz="1800" b="0" dirty="0" err="1">
                <a:latin typeface="+mn-ea"/>
                <a:ea typeface="+mn-ea"/>
              </a:rPr>
              <a:t>inonefile</a:t>
            </a:r>
            <a:endParaRPr lang="en-US" altLang="zh-CN" sz="1800" b="0" dirty="0" smtClean="0">
              <a:latin typeface="+mn-ea"/>
              <a:ea typeface="+mn-ea"/>
            </a:endParaRPr>
          </a:p>
          <a:p>
            <a:pPr lvl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2800" dirty="0">
                <a:latin typeface="+mn-ea"/>
                <a:ea typeface="+mn-ea"/>
              </a:rPr>
              <a:t>压强约束</a:t>
            </a:r>
            <a:r>
              <a:rPr lang="zh-CN" altLang="en-US" sz="2800" dirty="0" smtClean="0">
                <a:latin typeface="+mn-ea"/>
                <a:ea typeface="+mn-ea"/>
              </a:rPr>
              <a:t>的平衡</a:t>
            </a:r>
            <a:endParaRPr lang="zh-CN" altLang="en-US" sz="2800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+mn-ea"/>
                <a:ea typeface="+mn-ea"/>
              </a:rPr>
              <a:t>打开</a:t>
            </a:r>
            <a:r>
              <a:rPr lang="en-US" altLang="zh-CN" dirty="0" err="1" smtClean="0">
                <a:latin typeface="+mn-ea"/>
                <a:ea typeface="+mn-ea"/>
              </a:rPr>
              <a:t>inone</a:t>
            </a:r>
            <a:r>
              <a:rPr lang="zh-CN" altLang="en-US" dirty="0" smtClean="0">
                <a:latin typeface="+mn-ea"/>
                <a:ea typeface="+mn-ea"/>
              </a:rPr>
              <a:t>文件，找到对应的</a:t>
            </a:r>
            <a:r>
              <a:rPr lang="en-US" altLang="zh-CN" dirty="0" err="1" smtClean="0">
                <a:latin typeface="+mn-ea"/>
                <a:ea typeface="+mn-ea"/>
              </a:rPr>
              <a:t>Te</a:t>
            </a:r>
            <a:r>
              <a:rPr lang="zh-CN" altLang="en-US" dirty="0" smtClean="0">
                <a:latin typeface="+mn-ea"/>
                <a:ea typeface="+mn-ea"/>
              </a:rPr>
              <a:t>、</a:t>
            </a:r>
            <a:r>
              <a:rPr lang="en-US" altLang="zh-CN" dirty="0" err="1" smtClean="0">
                <a:latin typeface="+mn-ea"/>
                <a:ea typeface="+mn-ea"/>
              </a:rPr>
              <a:t>Ti</a:t>
            </a:r>
            <a:r>
              <a:rPr lang="zh-CN" altLang="en-US" dirty="0" smtClean="0">
                <a:latin typeface="+mn-ea"/>
                <a:ea typeface="+mn-ea"/>
              </a:rPr>
              <a:t>、</a:t>
            </a:r>
            <a:r>
              <a:rPr lang="en-US" altLang="zh-CN" dirty="0" smtClean="0">
                <a:latin typeface="+mn-ea"/>
                <a:ea typeface="+mn-ea"/>
              </a:rPr>
              <a:t>ne</a:t>
            </a:r>
            <a:r>
              <a:rPr lang="zh-CN" altLang="en-US" dirty="0" smtClean="0">
                <a:latin typeface="+mn-ea"/>
                <a:ea typeface="+mn-ea"/>
              </a:rPr>
              <a:t>位置</a:t>
            </a:r>
            <a:endParaRPr lang="en-US" altLang="zh-CN" dirty="0" smtClean="0">
              <a:latin typeface="+mn-ea"/>
              <a:ea typeface="+mn-ea"/>
            </a:endParaRPr>
          </a:p>
          <a:p>
            <a:r>
              <a:rPr lang="zh-CN" altLang="en-US" dirty="0" smtClean="0">
                <a:latin typeface="+mn-ea"/>
                <a:ea typeface="+mn-ea"/>
              </a:rPr>
              <a:t>将前面获得的</a:t>
            </a:r>
            <a:r>
              <a:rPr lang="en-US" altLang="zh-CN" dirty="0" err="1" smtClean="0">
                <a:latin typeface="+mn-ea"/>
                <a:ea typeface="+mn-ea"/>
              </a:rPr>
              <a:t>Te</a:t>
            </a:r>
            <a:r>
              <a:rPr lang="zh-CN" altLang="en-US" dirty="0" smtClean="0">
                <a:latin typeface="+mn-ea"/>
                <a:ea typeface="+mn-ea"/>
              </a:rPr>
              <a:t>、</a:t>
            </a:r>
            <a:r>
              <a:rPr lang="en-US" altLang="zh-CN" dirty="0" err="1" smtClean="0">
                <a:latin typeface="+mn-ea"/>
                <a:ea typeface="+mn-ea"/>
              </a:rPr>
              <a:t>Ti</a:t>
            </a:r>
            <a:r>
              <a:rPr lang="zh-CN" altLang="en-US" dirty="0" smtClean="0">
                <a:latin typeface="+mn-ea"/>
                <a:ea typeface="+mn-ea"/>
              </a:rPr>
              <a:t>、</a:t>
            </a:r>
            <a:r>
              <a:rPr lang="en-US" altLang="zh-CN" dirty="0" smtClean="0">
                <a:latin typeface="+mn-ea"/>
                <a:ea typeface="+mn-ea"/>
              </a:rPr>
              <a:t>ne</a:t>
            </a:r>
            <a:r>
              <a:rPr lang="zh-CN" altLang="en-US" dirty="0" smtClean="0">
                <a:latin typeface="+mn-ea"/>
                <a:ea typeface="+mn-ea"/>
              </a:rPr>
              <a:t>分别粘贴至</a:t>
            </a:r>
            <a:r>
              <a:rPr lang="en-US" altLang="zh-CN" dirty="0" err="1" smtClean="0">
                <a:latin typeface="+mn-ea"/>
                <a:ea typeface="+mn-ea"/>
              </a:rPr>
              <a:t>inone</a:t>
            </a:r>
            <a:r>
              <a:rPr lang="zh-CN" altLang="en-US" dirty="0" smtClean="0">
                <a:latin typeface="+mn-ea"/>
                <a:ea typeface="+mn-ea"/>
              </a:rPr>
              <a:t>中对应的位置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r>
              <a:rPr lang="en-US" altLang="zh-CN" dirty="0" smtClean="0">
                <a:latin typeface="+mn-ea"/>
                <a:ea typeface="+mn-ea"/>
              </a:rPr>
              <a:t>Ne: RENEIN-rho</a:t>
            </a:r>
            <a:r>
              <a:rPr lang="zh-CN" altLang="en-US" dirty="0" smtClean="0">
                <a:latin typeface="+mn-ea"/>
                <a:ea typeface="+mn-ea"/>
              </a:rPr>
              <a:t>，</a:t>
            </a:r>
            <a:r>
              <a:rPr lang="en-US" altLang="zh-CN" dirty="0" smtClean="0">
                <a:latin typeface="+mn-ea"/>
                <a:ea typeface="+mn-ea"/>
              </a:rPr>
              <a:t>ENEIN-ne (</a:t>
            </a:r>
            <a:r>
              <a:rPr lang="zh-CN" altLang="en-US" dirty="0">
                <a:latin typeface="+mn-ea"/>
                <a:ea typeface="+mn-ea"/>
              </a:rPr>
              <a:t>注意是</a:t>
            </a:r>
            <a:r>
              <a:rPr lang="en-US" altLang="zh-CN" dirty="0">
                <a:latin typeface="+mn-ea"/>
                <a:ea typeface="+mn-ea"/>
              </a:rPr>
              <a:t>E+13</a:t>
            </a:r>
            <a:r>
              <a:rPr lang="en-US" altLang="zh-CN" dirty="0" smtClean="0">
                <a:latin typeface="+mn-ea"/>
                <a:ea typeface="+mn-ea"/>
              </a:rPr>
              <a:t>)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r>
              <a:rPr lang="en-US" altLang="zh-CN" dirty="0" err="1" smtClean="0">
                <a:latin typeface="+mn-ea"/>
                <a:ea typeface="+mn-ea"/>
              </a:rPr>
              <a:t>Te</a:t>
            </a:r>
            <a:r>
              <a:rPr lang="en-US" altLang="zh-CN" dirty="0" smtClean="0">
                <a:latin typeface="+mn-ea"/>
                <a:ea typeface="+mn-ea"/>
              </a:rPr>
              <a:t>: RTEIN-rho</a:t>
            </a:r>
            <a:r>
              <a:rPr lang="zh-CN" altLang="en-US" dirty="0" smtClean="0">
                <a:latin typeface="+mn-ea"/>
                <a:ea typeface="+mn-ea"/>
              </a:rPr>
              <a:t>，</a:t>
            </a:r>
            <a:r>
              <a:rPr lang="en-US" altLang="zh-CN" dirty="0" smtClean="0">
                <a:latin typeface="+mn-ea"/>
                <a:ea typeface="+mn-ea"/>
              </a:rPr>
              <a:t>TEIN-</a:t>
            </a:r>
            <a:r>
              <a:rPr lang="en-US" altLang="zh-CN" dirty="0" err="1" smtClean="0">
                <a:latin typeface="+mn-ea"/>
                <a:ea typeface="+mn-ea"/>
              </a:rPr>
              <a:t>Te</a:t>
            </a:r>
            <a:r>
              <a:rPr lang="en-US" altLang="zh-CN" dirty="0" smtClean="0">
                <a:latin typeface="+mn-ea"/>
                <a:ea typeface="+mn-ea"/>
              </a:rPr>
              <a:t> 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r>
              <a:rPr lang="en-US" altLang="zh-CN" dirty="0" err="1" smtClean="0">
                <a:latin typeface="+mn-ea"/>
                <a:ea typeface="+mn-ea"/>
              </a:rPr>
              <a:t>Ti</a:t>
            </a:r>
            <a:r>
              <a:rPr lang="zh-CN" altLang="en-US" dirty="0" smtClean="0">
                <a:latin typeface="+mn-ea"/>
                <a:ea typeface="+mn-ea"/>
              </a:rPr>
              <a:t>：</a:t>
            </a:r>
            <a:r>
              <a:rPr lang="en-US" altLang="zh-CN" dirty="0" smtClean="0">
                <a:latin typeface="+mn-ea"/>
                <a:ea typeface="+mn-ea"/>
              </a:rPr>
              <a:t>RTIIN-rho</a:t>
            </a:r>
            <a:r>
              <a:rPr lang="zh-CN" altLang="en-US" dirty="0" smtClean="0">
                <a:latin typeface="+mn-ea"/>
                <a:ea typeface="+mn-ea"/>
              </a:rPr>
              <a:t>，</a:t>
            </a:r>
            <a:r>
              <a:rPr lang="en-US" altLang="zh-CN" dirty="0" smtClean="0">
                <a:latin typeface="+mn-ea"/>
                <a:ea typeface="+mn-ea"/>
              </a:rPr>
              <a:t>TIIN-</a:t>
            </a:r>
            <a:r>
              <a:rPr lang="en-US" altLang="zh-CN" dirty="0" err="1" smtClean="0">
                <a:latin typeface="+mn-ea"/>
                <a:ea typeface="+mn-ea"/>
              </a:rPr>
              <a:t>Ti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2800" dirty="0" err="1" smtClean="0">
                <a:latin typeface="+mn-ea"/>
                <a:ea typeface="+mn-ea"/>
              </a:rPr>
              <a:t>inone</a:t>
            </a:r>
            <a:r>
              <a:rPr lang="zh-CN" altLang="en-US" sz="2800" dirty="0" smtClean="0">
                <a:latin typeface="+mn-ea"/>
                <a:ea typeface="+mn-ea"/>
              </a:rPr>
              <a:t>文件的准备</a:t>
            </a:r>
            <a:endParaRPr lang="zh-CN" altLang="en-US" sz="2800" dirty="0">
              <a:latin typeface="+mn-ea"/>
              <a:ea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086841"/>
            <a:ext cx="4040572" cy="329367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3351" y="3086841"/>
            <a:ext cx="4085297" cy="330773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1427" y="3088126"/>
            <a:ext cx="4074238" cy="3306448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258458" y="5574535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ne</a:t>
            </a:r>
            <a:endParaRPr lang="zh-CN" altLang="en-US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031750" y="5574535"/>
            <a:ext cx="440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 smtClean="0">
                <a:solidFill>
                  <a:srgbClr val="FF0000"/>
                </a:solidFill>
                <a:latin typeface="+mn-ea"/>
                <a:ea typeface="+mn-ea"/>
              </a:rPr>
              <a:t>Te</a:t>
            </a:r>
            <a:endParaRPr lang="zh-CN" altLang="en-US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241230" y="5574535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 smtClean="0">
                <a:solidFill>
                  <a:srgbClr val="FF0000"/>
                </a:solidFill>
                <a:latin typeface="+mn-ea"/>
                <a:ea typeface="+mn-ea"/>
              </a:rPr>
              <a:t>Ti</a:t>
            </a:r>
            <a:endParaRPr lang="zh-CN" altLang="en-US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>
                <a:latin typeface="+mn-ea"/>
                <a:ea typeface="+mn-ea"/>
              </a:rPr>
              <a:t>Te</a:t>
            </a:r>
            <a:r>
              <a:rPr lang="zh-CN" altLang="en-US" dirty="0" smtClean="0">
                <a:latin typeface="+mn-ea"/>
                <a:ea typeface="+mn-ea"/>
              </a:rPr>
              <a:t>、</a:t>
            </a:r>
            <a:r>
              <a:rPr lang="en-US" altLang="zh-CN" dirty="0" err="1" smtClean="0">
                <a:latin typeface="+mn-ea"/>
                <a:ea typeface="+mn-ea"/>
              </a:rPr>
              <a:t>Ti</a:t>
            </a:r>
            <a:r>
              <a:rPr lang="zh-CN" altLang="en-US" dirty="0" smtClean="0">
                <a:latin typeface="+mn-ea"/>
                <a:ea typeface="+mn-ea"/>
              </a:rPr>
              <a:t>、</a:t>
            </a:r>
            <a:r>
              <a:rPr lang="en-US" altLang="zh-CN" dirty="0" smtClean="0">
                <a:latin typeface="+mn-ea"/>
                <a:ea typeface="+mn-ea"/>
              </a:rPr>
              <a:t>ne</a:t>
            </a:r>
            <a:r>
              <a:rPr lang="zh-CN" altLang="en-US" dirty="0" smtClean="0">
                <a:latin typeface="+mn-ea"/>
                <a:ea typeface="+mn-ea"/>
              </a:rPr>
              <a:t>数据数量更改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r>
              <a:rPr lang="zh-CN" altLang="en-US" dirty="0" smtClean="0">
                <a:latin typeface="+mn-ea"/>
                <a:ea typeface="+mn-ea"/>
              </a:rPr>
              <a:t>在</a:t>
            </a:r>
            <a:r>
              <a:rPr lang="en-US" altLang="zh-CN" dirty="0" err="1" smtClean="0">
                <a:latin typeface="+mn-ea"/>
                <a:ea typeface="+mn-ea"/>
              </a:rPr>
              <a:t>inone</a:t>
            </a:r>
            <a:r>
              <a:rPr lang="zh-CN" altLang="en-US" dirty="0" smtClean="0">
                <a:latin typeface="+mn-ea"/>
                <a:ea typeface="+mn-ea"/>
              </a:rPr>
              <a:t>文件中，按各数据的数据量进行相应更改（图</a:t>
            </a:r>
            <a:r>
              <a:rPr lang="en-US" altLang="zh-CN" dirty="0" smtClean="0">
                <a:latin typeface="+mn-ea"/>
                <a:ea typeface="+mn-ea"/>
              </a:rPr>
              <a:t>1</a:t>
            </a:r>
            <a:r>
              <a:rPr lang="zh-CN" altLang="en-US" dirty="0" smtClean="0">
                <a:latin typeface="+mn-ea"/>
                <a:ea typeface="+mn-ea"/>
              </a:rPr>
              <a:t>）</a:t>
            </a:r>
            <a:endParaRPr lang="en-US" altLang="zh-CN" dirty="0" smtClean="0">
              <a:latin typeface="+mn-ea"/>
              <a:ea typeface="+mn-ea"/>
            </a:endParaRPr>
          </a:p>
          <a:p>
            <a:r>
              <a:rPr lang="zh-CN" altLang="en-US" dirty="0" smtClean="0">
                <a:latin typeface="+mn-ea"/>
                <a:ea typeface="+mn-ea"/>
              </a:rPr>
              <a:t>在</a:t>
            </a:r>
            <a:r>
              <a:rPr lang="en-US" altLang="zh-CN" dirty="0" err="1" smtClean="0">
                <a:latin typeface="+mn-ea"/>
                <a:ea typeface="+mn-ea"/>
              </a:rPr>
              <a:t>inone</a:t>
            </a:r>
            <a:r>
              <a:rPr lang="zh-CN" altLang="en-US" dirty="0" smtClean="0">
                <a:latin typeface="+mn-ea"/>
                <a:ea typeface="+mn-ea"/>
              </a:rPr>
              <a:t>文件中更改</a:t>
            </a:r>
            <a:r>
              <a:rPr lang="en-US" altLang="zh-CN" dirty="0" smtClean="0">
                <a:latin typeface="+mn-ea"/>
                <a:ea typeface="+mn-ea"/>
              </a:rPr>
              <a:t>g-file</a:t>
            </a:r>
            <a:r>
              <a:rPr lang="zh-CN" altLang="en-US" dirty="0" smtClean="0">
                <a:latin typeface="+mn-ea"/>
                <a:ea typeface="+mn-ea"/>
              </a:rPr>
              <a:t>名称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r>
              <a:rPr lang="zh-CN" altLang="en-US" dirty="0" smtClean="0">
                <a:latin typeface="+mn-ea"/>
                <a:ea typeface="+mn-ea"/>
              </a:rPr>
              <a:t>如图</a:t>
            </a:r>
            <a:r>
              <a:rPr lang="en-US" altLang="zh-CN" dirty="0" smtClean="0">
                <a:latin typeface="+mn-ea"/>
                <a:ea typeface="+mn-ea"/>
              </a:rPr>
              <a:t>2</a:t>
            </a:r>
            <a:r>
              <a:rPr lang="zh-CN" altLang="en-US" dirty="0" smtClean="0">
                <a:latin typeface="+mn-ea"/>
                <a:ea typeface="+mn-ea"/>
              </a:rPr>
              <a:t>所示，更改为所需的</a:t>
            </a:r>
            <a:r>
              <a:rPr lang="en-US" altLang="zh-CN" dirty="0" smtClean="0">
                <a:latin typeface="+mn-ea"/>
                <a:ea typeface="+mn-ea"/>
              </a:rPr>
              <a:t>g-file</a:t>
            </a:r>
            <a:r>
              <a:rPr lang="zh-CN" altLang="en-US" dirty="0" smtClean="0">
                <a:latin typeface="+mn-ea"/>
                <a:ea typeface="+mn-ea"/>
              </a:rPr>
              <a:t>名称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2800" dirty="0" err="1">
                <a:latin typeface="+mj-ea"/>
                <a:ea typeface="+mj-ea"/>
              </a:rPr>
              <a:t>inone</a:t>
            </a:r>
            <a:r>
              <a:rPr lang="zh-CN" altLang="en-US" sz="2800" dirty="0">
                <a:latin typeface="+mj-ea"/>
                <a:ea typeface="+mj-ea"/>
              </a:rPr>
              <a:t>文件的</a:t>
            </a:r>
            <a:r>
              <a:rPr lang="zh-CN" altLang="en-US" sz="2800" dirty="0" smtClean="0">
                <a:latin typeface="+mj-ea"/>
                <a:ea typeface="+mj-ea"/>
              </a:rPr>
              <a:t>准备</a:t>
            </a:r>
            <a:endParaRPr lang="zh-CN" altLang="en-US" sz="2800" dirty="0">
              <a:latin typeface="+mj-ea"/>
              <a:ea typeface="+mj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3203" y="2776140"/>
            <a:ext cx="4456151" cy="38030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925" y="2776140"/>
            <a:ext cx="4491318" cy="38360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373697" y="4308325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  <a:latin typeface="+mn-ea"/>
                <a:ea typeface="+mn-ea"/>
              </a:rPr>
              <a:t>1</a:t>
            </a:r>
            <a:endParaRPr lang="zh-CN" altLang="en-US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628742" y="4308325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  <a:latin typeface="+mn-ea"/>
                <a:ea typeface="+mn-ea"/>
              </a:rPr>
              <a:t>2</a:t>
            </a:r>
            <a:endParaRPr lang="zh-CN" altLang="en-US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1998949" y="3142344"/>
          <a:ext cx="8127999" cy="2933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/>
                <a:gridCol w="2709333"/>
                <a:gridCol w="2709333"/>
              </a:tblGrid>
              <a:tr h="426088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+mn-ea"/>
                          <a:ea typeface="+mn-ea"/>
                        </a:rPr>
                        <a:t>同向束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+mn-ea"/>
                          <a:ea typeface="+mn-ea"/>
                        </a:rPr>
                        <a:t>反向束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  <a:tr h="1253466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+mn-ea"/>
                          <a:ea typeface="+mn-ea"/>
                        </a:rPr>
                        <a:t>左源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  <a:tr h="1253466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+mn-ea"/>
                          <a:ea typeface="+mn-ea"/>
                        </a:rPr>
                        <a:t>右源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latin typeface="+mn-ea"/>
                <a:ea typeface="+mn-ea"/>
              </a:rPr>
              <a:t>nubeam-new.dat</a:t>
            </a:r>
            <a:r>
              <a:rPr lang="zh-CN" altLang="en-US" dirty="0" smtClean="0">
                <a:latin typeface="+mn-ea"/>
                <a:ea typeface="+mn-ea"/>
              </a:rPr>
              <a:t>文件是中性束参数文件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r>
              <a:rPr lang="zh-CN" altLang="en-US" dirty="0">
                <a:latin typeface="+mn-ea"/>
                <a:ea typeface="+mn-ea"/>
              </a:rPr>
              <a:t>文件</a:t>
            </a:r>
            <a:r>
              <a:rPr lang="zh-CN" altLang="en-US" dirty="0" smtClean="0">
                <a:latin typeface="+mn-ea"/>
                <a:ea typeface="+mn-ea"/>
              </a:rPr>
              <a:t>中</a:t>
            </a:r>
            <a:r>
              <a:rPr lang="en-US" altLang="zh-CN" dirty="0" smtClean="0">
                <a:latin typeface="+mn-ea"/>
                <a:ea typeface="+mn-ea"/>
              </a:rPr>
              <a:t>EINJA</a:t>
            </a:r>
            <a:r>
              <a:rPr lang="zh-CN" altLang="en-US" dirty="0" smtClean="0">
                <a:latin typeface="+mn-ea"/>
                <a:ea typeface="+mn-ea"/>
              </a:rPr>
              <a:t>为束能量，</a:t>
            </a:r>
            <a:r>
              <a:rPr lang="en-US" altLang="zh-CN" dirty="0" smtClean="0">
                <a:latin typeface="+mn-ea"/>
                <a:ea typeface="+mn-ea"/>
              </a:rPr>
              <a:t>PINJA</a:t>
            </a:r>
            <a:r>
              <a:rPr lang="zh-CN" altLang="en-US" dirty="0" smtClean="0">
                <a:latin typeface="+mn-ea"/>
                <a:ea typeface="+mn-ea"/>
              </a:rPr>
              <a:t>为注入功率（</a:t>
            </a:r>
            <a:r>
              <a:rPr lang="en-US" altLang="zh-CN" dirty="0">
                <a:latin typeface="+mn-ea"/>
                <a:ea typeface="+mn-ea"/>
              </a:rPr>
              <a:t>W</a:t>
            </a:r>
            <a:r>
              <a:rPr lang="zh-CN" altLang="en-US" dirty="0" smtClean="0">
                <a:latin typeface="+mn-ea"/>
                <a:ea typeface="+mn-ea"/>
              </a:rPr>
              <a:t>）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r>
              <a:rPr lang="zh-CN" altLang="en-US" dirty="0" smtClean="0">
                <a:latin typeface="+mn-ea"/>
                <a:ea typeface="+mn-ea"/>
              </a:rPr>
              <a:t>中性束有</a:t>
            </a:r>
            <a:r>
              <a:rPr lang="zh-CN" altLang="en-US" dirty="0">
                <a:latin typeface="+mn-ea"/>
                <a:ea typeface="+mn-ea"/>
              </a:rPr>
              <a:t>同</a:t>
            </a:r>
            <a:r>
              <a:rPr lang="zh-CN" altLang="en-US" dirty="0" smtClean="0">
                <a:latin typeface="+mn-ea"/>
                <a:ea typeface="+mn-ea"/>
              </a:rPr>
              <a:t>向束左源（</a:t>
            </a:r>
            <a:r>
              <a:rPr lang="en-US" altLang="zh-CN" dirty="0" smtClean="0">
                <a:latin typeface="+mn-ea"/>
                <a:ea typeface="+mn-ea"/>
              </a:rPr>
              <a:t>NLCO(1)=T</a:t>
            </a:r>
            <a:r>
              <a:rPr lang="zh-CN" altLang="en-US" dirty="0" smtClean="0">
                <a:latin typeface="+mn-ea"/>
                <a:ea typeface="+mn-ea"/>
              </a:rPr>
              <a:t>）、右源</a:t>
            </a:r>
            <a:r>
              <a:rPr lang="en-US" altLang="zh-CN" dirty="0" smtClean="0">
                <a:latin typeface="+mn-ea"/>
                <a:ea typeface="+mn-ea"/>
              </a:rPr>
              <a:t>(NLCO(2)=T)</a:t>
            </a:r>
            <a:r>
              <a:rPr lang="zh-CN" altLang="en-US" dirty="0" smtClean="0">
                <a:latin typeface="+mn-ea"/>
                <a:ea typeface="+mn-ea"/>
              </a:rPr>
              <a:t>，反向束左源</a:t>
            </a:r>
            <a:r>
              <a:rPr lang="en-US" altLang="zh-CN" dirty="0" smtClean="0">
                <a:latin typeface="+mn-ea"/>
                <a:ea typeface="+mn-ea"/>
              </a:rPr>
              <a:t>(NLCO(3)=F)</a:t>
            </a:r>
            <a:r>
              <a:rPr lang="zh-CN" altLang="en-US" dirty="0" smtClean="0">
                <a:latin typeface="+mn-ea"/>
                <a:ea typeface="+mn-ea"/>
              </a:rPr>
              <a:t>、右源</a:t>
            </a:r>
            <a:r>
              <a:rPr lang="en-US" altLang="zh-CN" dirty="0" smtClean="0">
                <a:latin typeface="+mn-ea"/>
                <a:ea typeface="+mn-ea"/>
              </a:rPr>
              <a:t>(NLCO(4)=F)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r>
              <a:rPr lang="zh-CN" altLang="en-US" dirty="0" smtClean="0">
                <a:latin typeface="+mn-ea"/>
                <a:ea typeface="+mn-ea"/>
              </a:rPr>
              <a:t>根据实验设置，更改各个束的束能量和注入功率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2800" dirty="0" smtClean="0">
                <a:latin typeface="+mn-ea"/>
                <a:ea typeface="+mn-ea"/>
              </a:rPr>
              <a:t>nubeam-new.dat</a:t>
            </a:r>
            <a:r>
              <a:rPr lang="zh-CN" altLang="en-US" sz="2800" dirty="0" smtClean="0">
                <a:latin typeface="+mn-ea"/>
                <a:ea typeface="+mn-ea"/>
              </a:rPr>
              <a:t>准备</a:t>
            </a:r>
            <a:endParaRPr lang="zh-CN" altLang="en-US" sz="2800" dirty="0">
              <a:latin typeface="+mn-ea"/>
              <a:ea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1113" y="5146237"/>
            <a:ext cx="2352675" cy="64729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0163" y="3959510"/>
            <a:ext cx="2333625" cy="5334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232" y="3959510"/>
            <a:ext cx="2171700" cy="5143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6232" y="5146237"/>
            <a:ext cx="2171700" cy="571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+mn-ea"/>
                <a:ea typeface="+mn-ea"/>
              </a:rPr>
              <a:t>文件准备就绪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r>
              <a:rPr lang="zh-CN" altLang="en-US" dirty="0" smtClean="0">
                <a:latin typeface="+mn-ea"/>
                <a:ea typeface="+mn-ea"/>
              </a:rPr>
              <a:t>将</a:t>
            </a:r>
            <a:r>
              <a:rPr lang="en-US" altLang="zh-CN" dirty="0" smtClean="0">
                <a:latin typeface="+mn-ea"/>
                <a:ea typeface="+mn-ea"/>
              </a:rPr>
              <a:t>g-file</a:t>
            </a:r>
            <a:r>
              <a:rPr lang="zh-CN" altLang="en-US" dirty="0" smtClean="0">
                <a:latin typeface="+mn-ea"/>
                <a:ea typeface="+mn-ea"/>
              </a:rPr>
              <a:t>、</a:t>
            </a:r>
            <a:r>
              <a:rPr lang="en-US" altLang="zh-CN" dirty="0" err="1" smtClean="0">
                <a:latin typeface="+mn-ea"/>
                <a:ea typeface="+mn-ea"/>
              </a:rPr>
              <a:t>inone</a:t>
            </a:r>
            <a:r>
              <a:rPr lang="zh-CN" altLang="en-US" dirty="0" smtClean="0">
                <a:latin typeface="+mn-ea"/>
                <a:ea typeface="+mn-ea"/>
              </a:rPr>
              <a:t>、</a:t>
            </a:r>
            <a:r>
              <a:rPr lang="en-US" altLang="zh-CN" dirty="0" smtClean="0">
                <a:latin typeface="+mn-ea"/>
                <a:ea typeface="+mn-ea"/>
              </a:rPr>
              <a:t>nubeam-new.dat</a:t>
            </a:r>
            <a:r>
              <a:rPr lang="zh-CN" altLang="en-US" dirty="0" smtClean="0">
                <a:latin typeface="+mn-ea"/>
                <a:ea typeface="+mn-ea"/>
              </a:rPr>
              <a:t>和</a:t>
            </a:r>
            <a:r>
              <a:rPr lang="en-US" altLang="zh-CN" dirty="0" err="1" smtClean="0">
                <a:latin typeface="+mn-ea"/>
                <a:ea typeface="+mn-ea"/>
              </a:rPr>
              <a:t>subonetwo_NUBEAM.pbs</a:t>
            </a:r>
            <a:r>
              <a:rPr lang="zh-CN" altLang="en-US" dirty="0" smtClean="0">
                <a:latin typeface="+mn-ea"/>
                <a:ea typeface="+mn-ea"/>
              </a:rPr>
              <a:t>放在同一个文件夹内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r>
              <a:rPr lang="en-US" altLang="zh-CN" dirty="0" smtClean="0">
                <a:latin typeface="+mn-ea"/>
                <a:ea typeface="+mn-ea"/>
              </a:rPr>
              <a:t>Open in terminal</a:t>
            </a:r>
            <a:r>
              <a:rPr lang="zh-CN" altLang="en-US" dirty="0" smtClean="0">
                <a:latin typeface="+mn-ea"/>
                <a:ea typeface="+mn-ea"/>
              </a:rPr>
              <a:t>，提交任务</a:t>
            </a:r>
            <a:endParaRPr lang="en-US" altLang="zh-CN" dirty="0" smtClean="0">
              <a:latin typeface="+mn-ea"/>
              <a:ea typeface="+mn-ea"/>
            </a:endParaRPr>
          </a:p>
          <a:p>
            <a:pPr marL="457200" lvl="1" indent="0">
              <a:buNone/>
            </a:pPr>
            <a:r>
              <a:rPr lang="en-US" altLang="zh-CN" dirty="0" smtClean="0">
                <a:latin typeface="+mn-ea"/>
                <a:ea typeface="+mn-ea"/>
              </a:rPr>
              <a:t>    </a:t>
            </a:r>
            <a:r>
              <a:rPr lang="en-US" altLang="zh-CN" dirty="0" err="1" smtClean="0">
                <a:latin typeface="+mn-ea"/>
                <a:ea typeface="+mn-ea"/>
              </a:rPr>
              <a:t>qsub</a:t>
            </a:r>
            <a:r>
              <a:rPr lang="en-US" altLang="zh-CN" dirty="0" smtClean="0">
                <a:latin typeface="+mn-ea"/>
                <a:ea typeface="+mn-ea"/>
              </a:rPr>
              <a:t> </a:t>
            </a:r>
            <a:r>
              <a:rPr lang="en-US" altLang="zh-CN" dirty="0" err="1" smtClean="0">
                <a:latin typeface="+mn-ea"/>
                <a:ea typeface="+mn-ea"/>
              </a:rPr>
              <a:t>subonetwo_nubeam.pbs</a:t>
            </a:r>
            <a:endParaRPr lang="en-US" altLang="zh-CN" dirty="0" smtClean="0">
              <a:latin typeface="+mn-ea"/>
              <a:ea typeface="+mn-ea"/>
            </a:endParaRPr>
          </a:p>
          <a:p>
            <a:pPr marL="457200" lvl="1" indent="0">
              <a:buNone/>
            </a:pPr>
            <a:r>
              <a:rPr lang="en-US" altLang="zh-CN" dirty="0">
                <a:latin typeface="+mn-ea"/>
                <a:ea typeface="+mn-ea"/>
              </a:rPr>
              <a:t> </a:t>
            </a:r>
            <a:r>
              <a:rPr lang="en-US" altLang="zh-CN" dirty="0" smtClean="0">
                <a:latin typeface="+mn-ea"/>
                <a:ea typeface="+mn-ea"/>
              </a:rPr>
              <a:t>   </a:t>
            </a:r>
            <a:r>
              <a:rPr lang="zh-CN" altLang="en-US" dirty="0" smtClean="0">
                <a:latin typeface="+mn-ea"/>
                <a:ea typeface="+mn-ea"/>
              </a:rPr>
              <a:t>则开始排队，等待得到计算结果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r>
              <a:rPr lang="en-US" altLang="zh-CN" dirty="0" smtClean="0">
                <a:latin typeface="+mn-ea"/>
                <a:ea typeface="+mn-ea"/>
              </a:rPr>
              <a:t>FYI</a:t>
            </a:r>
            <a:r>
              <a:rPr lang="zh-CN" altLang="en-US" dirty="0" smtClean="0">
                <a:latin typeface="+mn-ea"/>
                <a:ea typeface="+mn-ea"/>
              </a:rPr>
              <a:t>：</a:t>
            </a:r>
            <a:r>
              <a:rPr lang="en-US" altLang="zh-CN" dirty="0" err="1" smtClean="0">
                <a:latin typeface="+mn-ea"/>
                <a:ea typeface="+mn-ea"/>
              </a:rPr>
              <a:t>qstat</a:t>
            </a:r>
            <a:r>
              <a:rPr lang="zh-CN" altLang="en-US" dirty="0" smtClean="0">
                <a:latin typeface="+mn-ea"/>
                <a:ea typeface="+mn-ea"/>
              </a:rPr>
              <a:t>命令查看排队状态，</a:t>
            </a:r>
            <a:r>
              <a:rPr lang="en-US" altLang="zh-CN" dirty="0" err="1" smtClean="0">
                <a:latin typeface="+mn-ea"/>
                <a:ea typeface="+mn-ea"/>
              </a:rPr>
              <a:t>qdel</a:t>
            </a:r>
            <a:r>
              <a:rPr lang="en-US" altLang="zh-CN" dirty="0" smtClean="0">
                <a:latin typeface="+mn-ea"/>
                <a:ea typeface="+mn-ea"/>
              </a:rPr>
              <a:t> </a:t>
            </a:r>
            <a:r>
              <a:rPr lang="zh-CN" altLang="en-US" dirty="0" smtClean="0">
                <a:latin typeface="+mn-ea"/>
                <a:ea typeface="+mn-ea"/>
              </a:rPr>
              <a:t>任务</a:t>
            </a:r>
            <a:r>
              <a:rPr lang="en-US" altLang="zh-CN" dirty="0" smtClean="0">
                <a:latin typeface="+mn-ea"/>
                <a:ea typeface="+mn-ea"/>
              </a:rPr>
              <a:t>ID</a:t>
            </a:r>
            <a:r>
              <a:rPr lang="zh-CN" altLang="en-US" dirty="0" smtClean="0">
                <a:latin typeface="+mn-ea"/>
                <a:ea typeface="+mn-ea"/>
              </a:rPr>
              <a:t>：取消排队任务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endParaRPr lang="en-US" altLang="zh-CN" dirty="0">
              <a:latin typeface="+mn-ea"/>
              <a:ea typeface="+mn-ea"/>
            </a:endParaRPr>
          </a:p>
          <a:p>
            <a:r>
              <a:rPr lang="zh-CN" altLang="en-US" dirty="0" smtClean="0">
                <a:latin typeface="+mn-ea"/>
                <a:ea typeface="+mn-ea"/>
              </a:rPr>
              <a:t>计算结果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r>
              <a:rPr lang="zh-CN" altLang="en-US" dirty="0">
                <a:latin typeface="+mn-ea"/>
                <a:ea typeface="+mn-ea"/>
              </a:rPr>
              <a:t>会</a:t>
            </a:r>
            <a:r>
              <a:rPr lang="zh-CN" altLang="en-US" dirty="0" smtClean="0">
                <a:latin typeface="+mn-ea"/>
                <a:ea typeface="+mn-ea"/>
              </a:rPr>
              <a:t>得到一个新的</a:t>
            </a:r>
            <a:r>
              <a:rPr lang="en-US" altLang="zh-CN" dirty="0" err="1" smtClean="0">
                <a:latin typeface="+mn-ea"/>
                <a:ea typeface="+mn-ea"/>
              </a:rPr>
              <a:t>gfile</a:t>
            </a:r>
            <a:r>
              <a:rPr lang="zh-CN" altLang="en-US" dirty="0" smtClean="0">
                <a:latin typeface="+mn-ea"/>
                <a:ea typeface="+mn-ea"/>
              </a:rPr>
              <a:t>，</a:t>
            </a:r>
            <a:r>
              <a:rPr lang="en-US" altLang="zh-CN" dirty="0" smtClean="0">
                <a:latin typeface="+mn-ea"/>
                <a:ea typeface="+mn-ea"/>
              </a:rPr>
              <a:t>g0.05610</a:t>
            </a:r>
            <a:r>
              <a:rPr lang="zh-CN" altLang="en-US" dirty="0" smtClean="0">
                <a:latin typeface="+mn-ea"/>
                <a:ea typeface="+mn-ea"/>
              </a:rPr>
              <a:t>，即为加了</a:t>
            </a:r>
            <a:r>
              <a:rPr lang="en-US" altLang="zh-CN" dirty="0" smtClean="0">
                <a:latin typeface="+mn-ea"/>
                <a:ea typeface="+mn-ea"/>
              </a:rPr>
              <a:t>P</a:t>
            </a:r>
            <a:r>
              <a:rPr lang="zh-CN" altLang="en-US" dirty="0" smtClean="0">
                <a:latin typeface="+mn-ea"/>
                <a:ea typeface="+mn-ea"/>
              </a:rPr>
              <a:t>约束的结果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r>
              <a:rPr lang="zh-CN" altLang="en-US" dirty="0" smtClean="0">
                <a:latin typeface="+mn-ea"/>
                <a:ea typeface="+mn-ea"/>
              </a:rPr>
              <a:t>用</a:t>
            </a:r>
            <a:r>
              <a:rPr lang="en-US" altLang="zh-CN" dirty="0" smtClean="0">
                <a:latin typeface="+mn-ea"/>
                <a:ea typeface="+mn-ea"/>
              </a:rPr>
              <a:t>OMFIT</a:t>
            </a:r>
            <a:r>
              <a:rPr lang="zh-CN" altLang="en-US" dirty="0" smtClean="0">
                <a:latin typeface="+mn-ea"/>
                <a:ea typeface="+mn-ea"/>
              </a:rPr>
              <a:t>中的</a:t>
            </a:r>
            <a:r>
              <a:rPr lang="en-US" altLang="zh-CN" dirty="0" smtClean="0">
                <a:latin typeface="+mn-ea"/>
                <a:ea typeface="+mn-ea"/>
              </a:rPr>
              <a:t>EFIT</a:t>
            </a:r>
            <a:r>
              <a:rPr lang="zh-CN" altLang="en-US" dirty="0" smtClean="0">
                <a:latin typeface="+mn-ea"/>
                <a:ea typeface="+mn-ea"/>
              </a:rPr>
              <a:t>代入该</a:t>
            </a:r>
            <a:r>
              <a:rPr lang="en-US" altLang="zh-CN" dirty="0" smtClean="0">
                <a:latin typeface="+mn-ea"/>
                <a:ea typeface="+mn-ea"/>
              </a:rPr>
              <a:t>g-file</a:t>
            </a:r>
            <a:r>
              <a:rPr lang="zh-CN" altLang="en-US" dirty="0" smtClean="0">
                <a:latin typeface="+mn-ea"/>
                <a:ea typeface="+mn-ea"/>
              </a:rPr>
              <a:t>，</a:t>
            </a:r>
            <a:r>
              <a:rPr lang="en-US" altLang="zh-CN" dirty="0" smtClean="0">
                <a:latin typeface="+mn-ea"/>
                <a:ea typeface="+mn-ea"/>
              </a:rPr>
              <a:t>run EFIT</a:t>
            </a:r>
            <a:r>
              <a:rPr lang="zh-CN" altLang="en-US" dirty="0" smtClean="0">
                <a:latin typeface="+mn-ea"/>
                <a:ea typeface="+mn-ea"/>
              </a:rPr>
              <a:t>即可</a:t>
            </a:r>
            <a:endParaRPr lang="en-US" altLang="zh-CN" dirty="0" smtClean="0">
              <a:latin typeface="+mn-ea"/>
              <a:ea typeface="+mn-ea"/>
            </a:endParaRPr>
          </a:p>
          <a:p>
            <a:pPr lvl="1"/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2800" dirty="0" smtClean="0">
                <a:latin typeface="+mn-ea"/>
                <a:ea typeface="+mn-ea"/>
              </a:rPr>
              <a:t>提交</a:t>
            </a:r>
            <a:r>
              <a:rPr lang="en-US" altLang="zh-CN" sz="2800" dirty="0" err="1" smtClean="0">
                <a:latin typeface="+mn-ea"/>
                <a:ea typeface="+mn-ea"/>
              </a:rPr>
              <a:t>onetwo</a:t>
            </a:r>
            <a:r>
              <a:rPr lang="zh-CN" altLang="en-US" sz="2800" dirty="0" smtClean="0">
                <a:latin typeface="+mn-ea"/>
                <a:ea typeface="+mn-ea"/>
              </a:rPr>
              <a:t>任务</a:t>
            </a:r>
            <a:endParaRPr lang="zh-CN" altLang="en-US" sz="2800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796887" y="1805543"/>
            <a:ext cx="10972800" cy="4754563"/>
          </a:xfrm>
        </p:spPr>
        <p:txBody>
          <a:bodyPr/>
          <a:lstStyle/>
          <a:p>
            <a:r>
              <a:rPr lang="zh-CN" altLang="en-US" dirty="0" smtClean="0">
                <a:latin typeface="+mn-ea"/>
                <a:ea typeface="+mn-ea"/>
              </a:rPr>
              <a:t>首先要感谢吴木泉师兄全程的教学和指导！</a:t>
            </a:r>
            <a:endParaRPr lang="en-US" altLang="zh-CN" dirty="0" smtClean="0">
              <a:latin typeface="+mn-ea"/>
              <a:ea typeface="+mn-ea"/>
            </a:endParaRPr>
          </a:p>
          <a:p>
            <a:endParaRPr lang="en-US" altLang="zh-CN" dirty="0" smtClean="0">
              <a:latin typeface="+mn-ea"/>
              <a:ea typeface="+mn-ea"/>
            </a:endParaRPr>
          </a:p>
          <a:p>
            <a:r>
              <a:rPr lang="zh-CN" altLang="en-US" dirty="0">
                <a:latin typeface="+mn-ea"/>
                <a:ea typeface="+mn-ea"/>
              </a:rPr>
              <a:t>此项</a:t>
            </a:r>
            <a:r>
              <a:rPr lang="zh-CN" altLang="en-US" dirty="0" smtClean="0">
                <a:latin typeface="+mn-ea"/>
                <a:ea typeface="+mn-ea"/>
              </a:rPr>
              <a:t>工作是我目前所掌握的知识，仅供大家参考；</a:t>
            </a:r>
            <a:endParaRPr lang="en-US" altLang="zh-CN" dirty="0" smtClean="0">
              <a:latin typeface="+mn-ea"/>
              <a:ea typeface="+mn-ea"/>
            </a:endParaRPr>
          </a:p>
          <a:p>
            <a:endParaRPr lang="en-US" altLang="zh-CN" dirty="0" smtClean="0">
              <a:latin typeface="+mn-ea"/>
              <a:ea typeface="+mn-ea"/>
            </a:endParaRPr>
          </a:p>
          <a:p>
            <a:r>
              <a:rPr lang="zh-CN" altLang="en-US" dirty="0" smtClean="0">
                <a:latin typeface="+mn-ea"/>
                <a:ea typeface="+mn-ea"/>
              </a:rPr>
              <a:t>加</a:t>
            </a:r>
            <a:r>
              <a:rPr lang="en-US" altLang="zh-CN" dirty="0" smtClean="0">
                <a:latin typeface="+mn-ea"/>
                <a:ea typeface="+mn-ea"/>
              </a:rPr>
              <a:t>POINT</a:t>
            </a:r>
            <a:r>
              <a:rPr lang="zh-CN" altLang="en-US" dirty="0" smtClean="0">
                <a:latin typeface="+mn-ea"/>
                <a:ea typeface="+mn-ea"/>
              </a:rPr>
              <a:t>约束的平衡已有相应的文档，此处未单独列出；</a:t>
            </a:r>
            <a:endParaRPr lang="en-US" altLang="zh-CN" dirty="0" smtClean="0">
              <a:latin typeface="+mn-ea"/>
              <a:ea typeface="+mn-ea"/>
            </a:endParaRPr>
          </a:p>
          <a:p>
            <a:endParaRPr lang="en-US" altLang="zh-CN" dirty="0" smtClean="0">
              <a:latin typeface="+mn-ea"/>
              <a:ea typeface="+mn-ea"/>
            </a:endParaRPr>
          </a:p>
          <a:p>
            <a:r>
              <a:rPr lang="zh-CN" altLang="en-US" dirty="0">
                <a:latin typeface="+mn-ea"/>
                <a:ea typeface="+mn-ea"/>
              </a:rPr>
              <a:t>若</a:t>
            </a:r>
            <a:r>
              <a:rPr lang="zh-CN" altLang="en-US" dirty="0" smtClean="0">
                <a:latin typeface="+mn-ea"/>
                <a:ea typeface="+mn-ea"/>
              </a:rPr>
              <a:t>有</a:t>
            </a:r>
            <a:r>
              <a:rPr lang="zh-CN" altLang="en-US" dirty="0">
                <a:latin typeface="+mn-ea"/>
                <a:ea typeface="+mn-ea"/>
              </a:rPr>
              <a:t>任何</a:t>
            </a:r>
            <a:r>
              <a:rPr lang="zh-CN" altLang="en-US" dirty="0" smtClean="0">
                <a:latin typeface="+mn-ea"/>
                <a:ea typeface="+mn-ea"/>
              </a:rPr>
              <a:t>不妥之处，欢迎大家批评指正，踊跃交流！</a:t>
            </a:r>
            <a:endParaRPr lang="en-US" altLang="zh-CN" dirty="0" smtClean="0">
              <a:latin typeface="+mn-ea"/>
              <a:ea typeface="+mn-ea"/>
            </a:endParaRPr>
          </a:p>
          <a:p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2800" dirty="0" smtClean="0">
                <a:latin typeface="+mn-ea"/>
                <a:ea typeface="+mn-ea"/>
              </a:rPr>
              <a:t>结语</a:t>
            </a:r>
            <a:endParaRPr lang="zh-CN" altLang="en-US" sz="280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组会报告模板DIII-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奥斯汀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组会模板</Template>
  <TotalTime>0</TotalTime>
  <Words>3427</Words>
  <Application>WPS 演示</Application>
  <PresentationFormat>宽屏</PresentationFormat>
  <Paragraphs>302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39" baseType="lpstr">
      <vt:lpstr>Arial</vt:lpstr>
      <vt:lpstr>宋体</vt:lpstr>
      <vt:lpstr>Wingdings</vt:lpstr>
      <vt:lpstr>Century Gothic</vt:lpstr>
      <vt:lpstr>MS PGothic</vt:lpstr>
      <vt:lpstr>Arial</vt:lpstr>
      <vt:lpstr>Lucida Grande</vt:lpstr>
      <vt:lpstr>Times</vt:lpstr>
      <vt:lpstr>微软雅黑</vt:lpstr>
      <vt:lpstr>Arial Unicode MS</vt:lpstr>
      <vt:lpstr>Times New Roman</vt:lpstr>
      <vt:lpstr>等线</vt:lpstr>
      <vt:lpstr>组会报告模板DIII-D</vt:lpstr>
      <vt:lpstr>1_Office Theme</vt:lpstr>
      <vt:lpstr>压强约束的平衡</vt:lpstr>
      <vt:lpstr>Outline</vt:lpstr>
      <vt:lpstr>PowerPoint 演示文稿</vt:lpstr>
      <vt:lpstr>准备条件</vt:lpstr>
      <vt:lpstr>dataFile</vt:lpstr>
      <vt:lpstr>获取g-file</vt:lpstr>
      <vt:lpstr>坐标变换：RZmap.py</vt:lpstr>
      <vt:lpstr>OMFIT</vt:lpstr>
      <vt:lpstr>拟合-导入归一化坐标数据</vt:lpstr>
      <vt:lpstr>开始拟合</vt:lpstr>
      <vt:lpstr>拟合</vt:lpstr>
      <vt:lpstr>Ti 拟合</vt:lpstr>
      <vt:lpstr>PowerPoint 演示文稿</vt:lpstr>
      <vt:lpstr>ne拟合准备</vt:lpstr>
      <vt:lpstr>首次拟合</vt:lpstr>
      <vt:lpstr>获取拟合结果的POINT信号值</vt:lpstr>
      <vt:lpstr>POINT信号对比</vt:lpstr>
      <vt:lpstr>POINT信号对比</vt:lpstr>
      <vt:lpstr>PowerPoint 演示文稿</vt:lpstr>
      <vt:lpstr>压强约束的平衡</vt:lpstr>
      <vt:lpstr>inone文件的准备</vt:lpstr>
      <vt:lpstr>inone文件的准备</vt:lpstr>
      <vt:lpstr>nubeam-new.dat准备</vt:lpstr>
      <vt:lpstr>提交onetwo任务</vt:lpstr>
      <vt:lpstr>结语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EFIT</dc:title>
  <dc:creator>Jiayuan Zhang</dc:creator>
  <cp:lastModifiedBy>晨阳</cp:lastModifiedBy>
  <cp:revision>66</cp:revision>
  <dcterms:created xsi:type="dcterms:W3CDTF">2020-06-24T07:21:00Z</dcterms:created>
  <dcterms:modified xsi:type="dcterms:W3CDTF">2020-12-28T09:00:30Z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2052-11.3.0.9228</vt:lpwstr>
  </property>
</Properties>
</file>