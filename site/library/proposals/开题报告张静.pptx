
<file path=[Content_Types].xml><?xml version="1.0" encoding="utf-8"?>
<Types xmlns="http://schemas.openxmlformats.org/package/2006/content-types">
  <Default Extension="jpeg" ContentType="image/jpe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9"/>
  </p:notesMasterIdLst>
  <p:sldIdLst>
    <p:sldId id="256" r:id="rId6"/>
    <p:sldId id="287" r:id="rId7"/>
    <p:sldId id="318" r:id="rId8"/>
    <p:sldId id="325" r:id="rId10"/>
    <p:sldId id="311" r:id="rId11"/>
    <p:sldId id="322" r:id="rId12"/>
    <p:sldId id="327" r:id="rId13"/>
    <p:sldId id="294" r:id="rId14"/>
    <p:sldId id="295" r:id="rId1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CC6600"/>
    <a:srgbClr val="150AEC"/>
    <a:srgbClr val="2509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7361" autoAdjust="0"/>
  </p:normalViewPr>
  <p:slideViewPr>
    <p:cSldViewPr>
      <p:cViewPr varScale="1">
        <p:scale>
          <a:sx n="88" d="100"/>
          <a:sy n="88" d="100"/>
        </p:scale>
        <p:origin x="1464" y="84"/>
      </p:cViewPr>
      <p:guideLst>
        <p:guide orient="horz" pos="2074"/>
        <p:guide pos="28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r">
              <a:defRPr sz="1200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1pPr>
          </a:lstStyle>
          <a:p>
            <a:pPr>
              <a:defRPr/>
            </a:pPr>
            <a:fld id="{BF31FEBA-DA66-456D-8884-F8B4D7DC34EA}" type="datetimeFigureOut">
              <a:rPr lang="zh-CN" altLang="en-US"/>
            </a:fld>
            <a:endParaRPr lang="zh-CN" altLang="en-US"/>
          </a:p>
        </p:txBody>
      </p:sp>
      <p:sp>
        <p:nvSpPr>
          <p:cNvPr id="1741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5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512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C7E43EF-8B16-4DA9-9049-C163E8FFED9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eaLnBrk="0" fontAlgn="base" latinLnBrk="0" hangingPunct="0"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6pPr>
    <a:lvl7pPr marL="2743200" lvl="6" indent="0" algn="l" defTabSz="914400" eaLnBrk="0" fontAlgn="base" latinLnBrk="0" hangingPunct="0"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7pPr>
    <a:lvl8pPr marL="3200400" lvl="7" indent="0" algn="l" defTabSz="914400" eaLnBrk="0" fontAlgn="base" latinLnBrk="0" hangingPunct="0"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8pPr>
    <a:lvl9pPr marL="3657600" lvl="8" indent="0" algn="l" defTabSz="914400" eaLnBrk="0" fontAlgn="base" latinLnBrk="0" hangingPunct="0"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0724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fld id="{48EC68FD-1A16-4D32-8858-A904D4525A8D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251087-C3FB-4108-9806-7C53EECEA5A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251087-C3FB-4108-9806-7C53EECEA5A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、选题方向调研，调研</a:t>
            </a:r>
            <a:r>
              <a:rPr lang="en-US" altLang="zh-CN" dirty="0" smtClean="0"/>
              <a:t>NSTX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ASDEX-U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DIII-D</a:t>
            </a:r>
            <a:r>
              <a:rPr lang="zh-CN" altLang="en-US" dirty="0" smtClean="0"/>
              <a:t>、</a:t>
            </a:r>
            <a:r>
              <a:rPr lang="en-US" altLang="zh-CN" dirty="0" smtClean="0"/>
              <a:t>EAST</a:t>
            </a:r>
            <a:r>
              <a:rPr lang="zh-CN" altLang="en-US" dirty="0" smtClean="0"/>
              <a:t>等托卡马克装置在快离子方面的实验研究和分析，总结已经取得的成果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、参与</a:t>
            </a:r>
            <a:r>
              <a:rPr lang="en-US" altLang="zh-CN" dirty="0" smtClean="0"/>
              <a:t>EAST</a:t>
            </a:r>
            <a:r>
              <a:rPr lang="zh-CN" altLang="en-US" dirty="0" smtClean="0"/>
              <a:t>实验，做好实验前期准备工作，搭建</a:t>
            </a:r>
            <a:r>
              <a:rPr lang="en-US" altLang="zh-CN" dirty="0" smtClean="0"/>
              <a:t>f-FIDA</a:t>
            </a:r>
            <a:r>
              <a:rPr lang="zh-CN" altLang="en-US" dirty="0" smtClean="0"/>
              <a:t>诊断装置，在这轮实验中进行测试，研究</a:t>
            </a:r>
            <a:r>
              <a:rPr lang="en-US" altLang="zh-CN" dirty="0" smtClean="0"/>
              <a:t>EAST</a:t>
            </a:r>
            <a:r>
              <a:rPr lang="zh-CN" altLang="en-US" dirty="0" smtClean="0"/>
              <a:t>上快离子分布特性，并对实验所得数据进行频谱分析</a:t>
            </a:r>
            <a:endParaRPr lang="zh-CN" altLang="en-US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、结合</a:t>
            </a:r>
            <a:r>
              <a:rPr lang="en-US" altLang="zh-CN" dirty="0" smtClean="0"/>
              <a:t>f-FIDA</a:t>
            </a:r>
            <a:r>
              <a:rPr lang="zh-CN" altLang="en-US" dirty="0" smtClean="0"/>
              <a:t>诊断数据和频谱分析的结果，分析等离子体中的不稳定性</a:t>
            </a:r>
            <a:endParaRPr lang="zh-CN" altLang="en-US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、总结已完成工作，完成毕业论文的撰写</a:t>
            </a:r>
            <a:endParaRPr lang="zh-CN" altLang="en-US" dirty="0" smtClean="0"/>
          </a:p>
          <a:p>
            <a:endParaRPr lang="zh-CN" altLang="en-US" dirty="0" smtClean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0E830A3-0145-40EF-96CB-CB2E0C5782F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/>
          <a:lstStyle>
            <a:lvl1pPr algn="ctr"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990600"/>
            <a:ext cx="4331208" cy="50292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0392" y="990600"/>
            <a:ext cx="4331208" cy="50292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95250"/>
            <a:ext cx="2209800" cy="592455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" y="95250"/>
            <a:ext cx="6501296" cy="592455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/>
          <a:lstStyle>
            <a:lvl1pPr algn="ctr"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990600"/>
            <a:ext cx="4331208" cy="50292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0392" y="990600"/>
            <a:ext cx="4331208" cy="50292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95250"/>
            <a:ext cx="2209800" cy="592455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" y="95250"/>
            <a:ext cx="6501296" cy="592455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/>
          <a:lstStyle>
            <a:lvl1pPr algn="ctr"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990600"/>
            <a:ext cx="4331208" cy="50292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0392" y="990600"/>
            <a:ext cx="4331208" cy="50292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95250"/>
            <a:ext cx="2209800" cy="592455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" y="95250"/>
            <a:ext cx="6501296" cy="592455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/>
          <a:lstStyle>
            <a:lvl1pPr algn="ctr"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990600"/>
            <a:ext cx="4331208" cy="50292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0392" y="990600"/>
            <a:ext cx="4331208" cy="50292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95250"/>
            <a:ext cx="2209800" cy="592455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" y="95250"/>
            <a:ext cx="6501296" cy="592455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2.jpe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4" Type="http://schemas.openxmlformats.org/officeDocument/2006/relationships/theme" Target="../theme/theme4.xml"/><Relationship Id="rId13" Type="http://schemas.openxmlformats.org/officeDocument/2006/relationships/image" Target="../media/image3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52400" y="990600"/>
            <a:ext cx="8839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228600" y="95250"/>
            <a:ext cx="7924800" cy="781050"/>
          </a:xfrm>
          <a:prstGeom prst="rect">
            <a:avLst/>
          </a:prstGeom>
          <a:solidFill>
            <a:srgbClr val="003366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8" name="Rectangle 27"/>
          <p:cNvSpPr>
            <a:spLocks noChangeArrowheads="1"/>
          </p:cNvSpPr>
          <p:nvPr/>
        </p:nvSpPr>
        <p:spPr bwMode="auto">
          <a:xfrm>
            <a:off x="76200" y="876300"/>
            <a:ext cx="8220075" cy="114300"/>
          </a:xfrm>
          <a:prstGeom prst="rect">
            <a:avLst/>
          </a:prstGeom>
          <a:gradFill rotWithShape="1">
            <a:gsLst>
              <a:gs pos="0">
                <a:srgbClr val="003366">
                  <a:alpha val="85999"/>
                </a:srgbClr>
              </a:gs>
              <a:gs pos="100000">
                <a:schemeClr val="bg1"/>
              </a:gs>
            </a:gsLst>
            <a:lin ang="5400000" scaled="1"/>
          </a:gradFill>
          <a:ln w="6350">
            <a:solidFill>
              <a:schemeClr val="bg1"/>
            </a:solidFill>
            <a:miter lim="800000"/>
          </a:ln>
        </p:spPr>
        <p:txBody>
          <a:bodyPr wrap="none" lIns="91429" tIns="45714" rIns="91429" bIns="45714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3100" b="1" baseline="-25000">
              <a:ea typeface="MS PGothic" panose="020B0600070205080204" pitchFamily="34" charset="-128"/>
            </a:endParaRPr>
          </a:p>
        </p:txBody>
      </p:sp>
      <p:pic>
        <p:nvPicPr>
          <p:cNvPr id="1029" name="Picture 20" descr="NM 2-2-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19050"/>
            <a:ext cx="8382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矩形 1"/>
          <p:cNvSpPr>
            <a:spLocks noChangeArrowheads="1"/>
          </p:cNvSpPr>
          <p:nvPr/>
        </p:nvSpPr>
        <p:spPr bwMode="auto">
          <a:xfrm>
            <a:off x="8264525" y="666750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C00000"/>
                </a:solidFill>
                <a:ea typeface="MS PGothic" panose="020B0600070205080204" pitchFamily="34" charset="-128"/>
              </a:rPr>
              <a:t>ASIPP</a:t>
            </a:r>
            <a:endParaRPr lang="en-US" altLang="zh-CN" sz="2000" b="1" i="1">
              <a:solidFill>
                <a:srgbClr val="C00000"/>
              </a:solidFill>
              <a:ea typeface="MS PGothic" panose="020B0600070205080204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•"/>
        <a:defRPr sz="2000" b="1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7"/>
          <p:cNvSpPr>
            <a:spLocks noChangeArrowheads="1"/>
          </p:cNvSpPr>
          <p:nvPr/>
        </p:nvSpPr>
        <p:spPr bwMode="auto">
          <a:xfrm>
            <a:off x="76200" y="876300"/>
            <a:ext cx="8220075" cy="114300"/>
          </a:xfrm>
          <a:prstGeom prst="rect">
            <a:avLst/>
          </a:prstGeom>
          <a:gradFill rotWithShape="1">
            <a:gsLst>
              <a:gs pos="0">
                <a:srgbClr val="003366">
                  <a:alpha val="85999"/>
                </a:srgbClr>
              </a:gs>
              <a:gs pos="100000">
                <a:schemeClr val="bg1"/>
              </a:gs>
            </a:gsLst>
            <a:lin ang="5400000" scaled="1"/>
          </a:gradFill>
          <a:ln w="6350">
            <a:solidFill>
              <a:schemeClr val="bg1"/>
            </a:solidFill>
            <a:miter lim="800000"/>
          </a:ln>
        </p:spPr>
        <p:txBody>
          <a:bodyPr wrap="none" lIns="91429" tIns="45714" rIns="91429" bIns="45714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3100" b="1" baseline="-25000">
              <a:ea typeface="MS PGothic" panose="020B0600070205080204" pitchFamily="34" charset="-128"/>
            </a:endParaRPr>
          </a:p>
        </p:txBody>
      </p:sp>
      <p:pic>
        <p:nvPicPr>
          <p:cNvPr id="2051" name="Picture 20" descr="NM 2-2-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19050"/>
            <a:ext cx="8382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矩形 1"/>
          <p:cNvSpPr>
            <a:spLocks noChangeArrowheads="1"/>
          </p:cNvSpPr>
          <p:nvPr/>
        </p:nvSpPr>
        <p:spPr bwMode="auto">
          <a:xfrm>
            <a:off x="8264525" y="666750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C00000"/>
                </a:solidFill>
                <a:ea typeface="MS PGothic" panose="020B0600070205080204" pitchFamily="34" charset="-128"/>
              </a:rPr>
              <a:t>ASIPP</a:t>
            </a:r>
            <a:endParaRPr lang="en-US" altLang="zh-CN" sz="2000" b="1" i="1">
              <a:solidFill>
                <a:srgbClr val="C00000"/>
              </a:solidFill>
              <a:ea typeface="MS PGothic" panose="020B0600070205080204" pitchFamily="34" charset="-128"/>
            </a:endParaRPr>
          </a:p>
        </p:txBody>
      </p:sp>
      <p:pic>
        <p:nvPicPr>
          <p:cNvPr id="2053" name="Picture 2056" descr="ilandsmall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30850"/>
            <a:ext cx="9144000" cy="134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4" name="矩形 7"/>
          <p:cNvSpPr>
            <a:spLocks noChangeArrowheads="1"/>
          </p:cNvSpPr>
          <p:nvPr/>
        </p:nvSpPr>
        <p:spPr bwMode="auto">
          <a:xfrm>
            <a:off x="1066800" y="5630863"/>
            <a:ext cx="6858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791C03"/>
                </a:solidFill>
                <a:latin typeface="Century Gothic" panose="020B0502020202020204" pitchFamily="34" charset="0"/>
                <a:ea typeface="楷体_GB2312" pitchFamily="1" charset="-122"/>
              </a:rPr>
              <a:t>Institute of Plasma Physics, Chinese Academy of Sciences</a:t>
            </a:r>
            <a:endParaRPr lang="en-US" altLang="zh-CN">
              <a:solidFill>
                <a:srgbClr val="791C03"/>
              </a:solidFill>
              <a:latin typeface="Century Gothic" panose="020B0502020202020204" pitchFamily="34" charset="0"/>
              <a:ea typeface="楷体_GB2312" pitchFamily="1" charset="-122"/>
            </a:endParaRPr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52400" y="990600"/>
            <a:ext cx="8839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6" name="Rectangle 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228600" y="95250"/>
            <a:ext cx="7924800" cy="781050"/>
          </a:xfrm>
          <a:prstGeom prst="rect">
            <a:avLst/>
          </a:prstGeom>
          <a:solidFill>
            <a:srgbClr val="003366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•"/>
        <a:defRPr sz="2000" b="1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7"/>
          <p:cNvSpPr>
            <a:spLocks noChangeArrowheads="1"/>
          </p:cNvSpPr>
          <p:nvPr/>
        </p:nvSpPr>
        <p:spPr bwMode="auto">
          <a:xfrm>
            <a:off x="76200" y="876300"/>
            <a:ext cx="8220075" cy="114300"/>
          </a:xfrm>
          <a:prstGeom prst="rect">
            <a:avLst/>
          </a:prstGeom>
          <a:gradFill rotWithShape="1">
            <a:gsLst>
              <a:gs pos="0">
                <a:srgbClr val="003366">
                  <a:alpha val="85999"/>
                </a:srgbClr>
              </a:gs>
              <a:gs pos="100000">
                <a:schemeClr val="bg1"/>
              </a:gs>
            </a:gsLst>
            <a:lin ang="5400000" scaled="1"/>
          </a:gradFill>
          <a:ln w="6350">
            <a:solidFill>
              <a:schemeClr val="bg1"/>
            </a:solidFill>
            <a:miter lim="800000"/>
          </a:ln>
        </p:spPr>
        <p:txBody>
          <a:bodyPr wrap="none" lIns="91429" tIns="45714" rIns="91429" bIns="45714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3100" b="1" baseline="-25000">
              <a:ea typeface="MS PGothic" panose="020B0600070205080204" pitchFamily="34" charset="-128"/>
            </a:endParaRPr>
          </a:p>
        </p:txBody>
      </p:sp>
      <p:pic>
        <p:nvPicPr>
          <p:cNvPr id="3075" name="Picture 20" descr="NM 2-2-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19050"/>
            <a:ext cx="8382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矩形 1"/>
          <p:cNvSpPr>
            <a:spLocks noChangeArrowheads="1"/>
          </p:cNvSpPr>
          <p:nvPr/>
        </p:nvSpPr>
        <p:spPr bwMode="auto">
          <a:xfrm>
            <a:off x="8264525" y="666750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C00000"/>
                </a:solidFill>
                <a:ea typeface="MS PGothic" panose="020B0600070205080204" pitchFamily="34" charset="-128"/>
              </a:rPr>
              <a:t>ASIPP</a:t>
            </a:r>
            <a:endParaRPr lang="en-US" altLang="zh-CN" sz="2000" b="1" i="1">
              <a:solidFill>
                <a:srgbClr val="C00000"/>
              </a:solidFill>
              <a:ea typeface="MS PGothic" panose="020B0600070205080204" pitchFamily="34" charset="-128"/>
            </a:endParaRPr>
          </a:p>
        </p:txBody>
      </p:sp>
      <p:sp>
        <p:nvSpPr>
          <p:cNvPr id="3077" name="Rectangle 13"/>
          <p:cNvSpPr>
            <a:spLocks noChangeArrowheads="1"/>
          </p:cNvSpPr>
          <p:nvPr/>
        </p:nvSpPr>
        <p:spPr bwMode="auto">
          <a:xfrm>
            <a:off x="0" y="6484938"/>
            <a:ext cx="838200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154FC891-B6CC-4BB2-849A-E10B62D0231B}" type="slidenum">
              <a:rPr lang="en-US" altLang="zh-CN" sz="1000">
                <a:solidFill>
                  <a:srgbClr val="000090"/>
                </a:solidFill>
                <a:latin typeface="Century Gothic" panose="020B0502020202020204" pitchFamily="34" charset="0"/>
              </a:rPr>
            </a:fld>
            <a:endParaRPr lang="en-US" altLang="zh-CN" sz="1000">
              <a:solidFill>
                <a:srgbClr val="000090"/>
              </a:solidFill>
              <a:latin typeface="Century Gothic" panose="020B0502020202020204" pitchFamily="34" charset="0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52400" y="990600"/>
            <a:ext cx="8839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228600" y="95250"/>
            <a:ext cx="7924800" cy="781050"/>
          </a:xfrm>
          <a:prstGeom prst="rect">
            <a:avLst/>
          </a:prstGeom>
          <a:solidFill>
            <a:srgbClr val="003366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•"/>
        <a:defRPr sz="2000" b="1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7"/>
          <p:cNvSpPr>
            <a:spLocks noChangeArrowheads="1"/>
          </p:cNvSpPr>
          <p:nvPr/>
        </p:nvSpPr>
        <p:spPr bwMode="auto">
          <a:xfrm>
            <a:off x="76200" y="876300"/>
            <a:ext cx="8220075" cy="114300"/>
          </a:xfrm>
          <a:prstGeom prst="rect">
            <a:avLst/>
          </a:prstGeom>
          <a:gradFill rotWithShape="1">
            <a:gsLst>
              <a:gs pos="0">
                <a:srgbClr val="003366">
                  <a:alpha val="85999"/>
                </a:srgbClr>
              </a:gs>
              <a:gs pos="100000">
                <a:schemeClr val="bg1"/>
              </a:gs>
            </a:gsLst>
            <a:lin ang="5400000" scaled="1"/>
          </a:gradFill>
          <a:ln w="6350">
            <a:solidFill>
              <a:schemeClr val="bg1"/>
            </a:solidFill>
            <a:miter lim="800000"/>
          </a:ln>
        </p:spPr>
        <p:txBody>
          <a:bodyPr wrap="none" lIns="91429" tIns="45714" rIns="91429" bIns="45714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3100" b="1" baseline="-25000">
              <a:ea typeface="MS PGothic" panose="020B0600070205080204" pitchFamily="34" charset="-128"/>
            </a:endParaRPr>
          </a:p>
        </p:txBody>
      </p:sp>
      <p:pic>
        <p:nvPicPr>
          <p:cNvPr id="4099" name="Picture 20" descr="NM 2-2-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19050"/>
            <a:ext cx="8382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矩形 1"/>
          <p:cNvSpPr>
            <a:spLocks noChangeArrowheads="1"/>
          </p:cNvSpPr>
          <p:nvPr/>
        </p:nvSpPr>
        <p:spPr bwMode="auto">
          <a:xfrm>
            <a:off x="8264525" y="666750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>
                <a:solidFill>
                  <a:srgbClr val="C00000"/>
                </a:solidFill>
                <a:ea typeface="MS PGothic" panose="020B0600070205080204" pitchFamily="34" charset="-128"/>
              </a:rPr>
              <a:t>ASIPP</a:t>
            </a:r>
            <a:endParaRPr lang="en-US" altLang="zh-CN" sz="2000" b="1" i="1">
              <a:solidFill>
                <a:srgbClr val="C00000"/>
              </a:solidFill>
              <a:ea typeface="MS PGothic" panose="020B0600070205080204" pitchFamily="34" charset="-128"/>
            </a:endParaRPr>
          </a:p>
        </p:txBody>
      </p:sp>
      <p:pic>
        <p:nvPicPr>
          <p:cNvPr id="4101" name="Picture 13" descr="NSTX_log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3175"/>
            <a:ext cx="0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Rectangle 13"/>
          <p:cNvSpPr>
            <a:spLocks noChangeArrowheads="1"/>
          </p:cNvSpPr>
          <p:nvPr/>
        </p:nvSpPr>
        <p:spPr bwMode="auto">
          <a:xfrm>
            <a:off x="0" y="6484938"/>
            <a:ext cx="838200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E4A84BFD-A475-4A30-B0F4-9C90979D2475}" type="slidenum">
              <a:rPr lang="en-US" altLang="zh-CN" sz="1000">
                <a:solidFill>
                  <a:srgbClr val="000090"/>
                </a:solidFill>
                <a:latin typeface="Century Gothic" panose="020B0502020202020204" pitchFamily="34" charset="0"/>
              </a:rPr>
            </a:fld>
            <a:endParaRPr lang="en-US" altLang="zh-CN" sz="1000">
              <a:solidFill>
                <a:srgbClr val="000090"/>
              </a:solidFill>
              <a:latin typeface="Century Gothic" panose="020B0502020202020204" pitchFamily="34" charset="0"/>
            </a:endParaRPr>
          </a:p>
        </p:txBody>
      </p:sp>
      <p:sp>
        <p:nvSpPr>
          <p:cNvPr id="4103" name="Rectangle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52400" y="990600"/>
            <a:ext cx="8839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104" name="Rectangle 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228600" y="95250"/>
            <a:ext cx="7924800" cy="781050"/>
          </a:xfrm>
          <a:prstGeom prst="rect">
            <a:avLst/>
          </a:prstGeom>
          <a:solidFill>
            <a:srgbClr val="003366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•"/>
        <a:defRPr sz="2000" b="1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spcBef>
          <a:spcPct val="20000"/>
        </a:spcBef>
        <a:spcAft>
          <a:spcPct val="0"/>
        </a:spcAft>
        <a:buClr>
          <a:srgbClr val="004181"/>
        </a:buClr>
        <a:buChar char="»"/>
        <a:defRPr sz="1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24.xml"/><Relationship Id="rId2" Type="http://schemas.openxmlformats.org/officeDocument/2006/relationships/tags" Target="../tags/tag11.xml"/><Relationship Id="rId19" Type="http://schemas.openxmlformats.org/officeDocument/2006/relationships/tags" Target="../tags/tag22.xml"/><Relationship Id="rId18" Type="http://schemas.openxmlformats.org/officeDocument/2006/relationships/image" Target="../media/image12.jpeg"/><Relationship Id="rId17" Type="http://schemas.openxmlformats.org/officeDocument/2006/relationships/image" Target="../media/image11.png"/><Relationship Id="rId16" Type="http://schemas.openxmlformats.org/officeDocument/2006/relationships/image" Target="../media/image10.png"/><Relationship Id="rId15" Type="http://schemas.openxmlformats.org/officeDocument/2006/relationships/image" Target="../media/image9.png"/><Relationship Id="rId14" Type="http://schemas.openxmlformats.org/officeDocument/2006/relationships/image" Target="../media/image8.png"/><Relationship Id="rId13" Type="http://schemas.openxmlformats.org/officeDocument/2006/relationships/image" Target="../media/image7.png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24.xml"/><Relationship Id="rId2" Type="http://schemas.openxmlformats.org/officeDocument/2006/relationships/tags" Target="../tags/tag24.xml"/><Relationship Id="rId19" Type="http://schemas.openxmlformats.org/officeDocument/2006/relationships/tags" Target="../tags/tag35.xml"/><Relationship Id="rId18" Type="http://schemas.openxmlformats.org/officeDocument/2006/relationships/image" Target="../media/image18.png"/><Relationship Id="rId17" Type="http://schemas.openxmlformats.org/officeDocument/2006/relationships/image" Target="../media/image17.emf"/><Relationship Id="rId16" Type="http://schemas.openxmlformats.org/officeDocument/2006/relationships/image" Target="../media/image16.png"/><Relationship Id="rId15" Type="http://schemas.openxmlformats.org/officeDocument/2006/relationships/image" Target="../media/image15.jpe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副标题 2"/>
          <p:cNvSpPr>
            <a:spLocks noGrp="1" noChangeArrowheads="1"/>
          </p:cNvSpPr>
          <p:nvPr>
            <p:ph type="subTitle" idx="4294967295"/>
          </p:nvPr>
        </p:nvSpPr>
        <p:spPr>
          <a:xfrm>
            <a:off x="329703" y="1402432"/>
            <a:ext cx="7986713" cy="4114800"/>
          </a:xfrm>
        </p:spPr>
        <p:txBody>
          <a:bodyPr/>
          <a:lstStyle/>
          <a:p>
            <a:pPr marL="0" indent="0" algn="ctr" eaLnBrk="1" hangingPunct="1">
              <a:lnSpc>
                <a:spcPct val="150000"/>
              </a:lnSpc>
              <a:buClr>
                <a:schemeClr val="tx1"/>
              </a:buClr>
              <a:buFontTx/>
              <a:buNone/>
              <a:defRPr/>
            </a:pPr>
            <a:r>
              <a:rPr lang="en-US" sz="4000" b="0" dirty="0" smtClean="0">
                <a:solidFill>
                  <a:srgbClr val="150A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软雅黑" panose="020B0503020204020204" pitchFamily="34" charset="-122"/>
              </a:rPr>
              <a:t>EAST上快离子Dα快速测量</a:t>
            </a:r>
            <a:endParaRPr lang="en-US" sz="4000" b="0" dirty="0" smtClean="0">
              <a:solidFill>
                <a:srgbClr val="150AE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微软雅黑" panose="020B0503020204020204" pitchFamily="34" charset="-122"/>
            </a:endParaRPr>
          </a:p>
          <a:p>
            <a:pPr marL="0" indent="0" algn="ctr" eaLnBrk="1" hangingPunct="1">
              <a:lnSpc>
                <a:spcPct val="150000"/>
              </a:lnSpc>
              <a:buClr>
                <a:schemeClr val="tx1"/>
              </a:buClr>
              <a:buFontTx/>
              <a:buNone/>
              <a:defRPr/>
            </a:pPr>
            <a:r>
              <a:rPr lang="en-US" sz="4000" b="0" dirty="0" smtClean="0">
                <a:solidFill>
                  <a:srgbClr val="150A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软雅黑" panose="020B0503020204020204" pitchFamily="34" charset="-122"/>
              </a:rPr>
              <a:t>(</a:t>
            </a:r>
            <a:r>
              <a:rPr lang="en-US" sz="4000" b="0" dirty="0" smtClean="0">
                <a:solidFill>
                  <a:srgbClr val="150A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f-FIDA)</a:t>
            </a:r>
            <a:r>
              <a:rPr lang="en-US" sz="4000" b="0" dirty="0" smtClean="0">
                <a:solidFill>
                  <a:srgbClr val="150A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软雅黑" panose="020B0503020204020204" pitchFamily="34" charset="-122"/>
              </a:rPr>
              <a:t>诊断研究</a:t>
            </a:r>
            <a:endParaRPr lang="en-US" sz="4000" b="0" dirty="0" smtClean="0">
              <a:solidFill>
                <a:srgbClr val="150AE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微软雅黑" panose="020B0503020204020204" pitchFamily="34" charset="-122"/>
            </a:endParaRPr>
          </a:p>
          <a:p>
            <a:pPr marL="0" indent="0" algn="ctr" eaLnBrk="1" hangingPunct="1">
              <a:buClr>
                <a:schemeClr val="tx1"/>
              </a:buClr>
              <a:buFontTx/>
              <a:buNone/>
              <a:defRPr/>
            </a:pPr>
            <a:endParaRPr lang="zh-CN" altLang="en-US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indent="0" algn="l" eaLnBrk="1" hangingPunct="1">
              <a:buClr>
                <a:schemeClr val="tx1"/>
              </a:buClr>
              <a:buFontTx/>
              <a:buNone/>
              <a:defRPr/>
            </a:pPr>
            <a:r>
              <a:rPr lang="zh-CN" altLang="en-US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             导  师：黄娟研究员</a:t>
            </a:r>
            <a:endParaRPr lang="zh-CN" altLang="en-US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indent="0" algn="l" eaLnBrk="1" hangingPunct="1">
              <a:buClr>
                <a:schemeClr val="tx1"/>
              </a:buClr>
              <a:buFontTx/>
              <a:buNone/>
              <a:defRPr/>
            </a:pPr>
            <a:r>
              <a:rPr lang="zh-CN" altLang="en-US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             报告人：张静</a:t>
            </a:r>
            <a:endParaRPr lang="zh-CN" altLang="en-US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indent="0" algn="ctr" eaLnBrk="1" hangingPunct="1">
              <a:buClr>
                <a:schemeClr val="tx1"/>
              </a:buClr>
              <a:buFontTx/>
              <a:buNone/>
              <a:defRPr/>
            </a:pPr>
            <a:endParaRPr lang="zh-CN" altLang="en-US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504" y="1001457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CC6600"/>
                </a:solidFill>
              </a:rPr>
              <a:t>开题报告</a:t>
            </a:r>
            <a:endParaRPr lang="zh-CN" altLang="en-US" b="1" dirty="0">
              <a:solidFill>
                <a:srgbClr val="CC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7169"/>
          <p:cNvSpPr>
            <a:spLocks noGrp="1" noChangeArrowheads="1"/>
          </p:cNvSpPr>
          <p:nvPr>
            <p:ph type="title"/>
          </p:nvPr>
        </p:nvSpPr>
        <p:spPr>
          <a:xfrm>
            <a:off x="107950" y="44450"/>
            <a:ext cx="7924800" cy="781050"/>
          </a:xfrm>
        </p:spPr>
        <p:txBody>
          <a:bodyPr/>
          <a:lstStyle/>
          <a:p>
            <a:pPr algn="ctr"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zh-CN" altLang="en-US" sz="4000" b="0" dirty="0">
                <a:solidFill>
                  <a:srgbClr val="150A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微软雅黑" panose="020B0503020204020204" pitchFamily="34" charset="-122"/>
                <a:cs typeface="+mn-cs"/>
              </a:rPr>
              <a:t>目录</a:t>
            </a:r>
            <a:endParaRPr lang="zh-CN" altLang="en-US" sz="4000" b="0" dirty="0">
              <a:solidFill>
                <a:srgbClr val="150AE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47" name="文本占位符 717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1.选题及研究意义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国内外研究现状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研究原理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400" dirty="0" smtClean="0">
              <a:latin typeface="宋体" panose="02010600030101010101" pitchFamily="2" charset="-122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.研究基础及进展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.工作安排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任意多边形 5"/>
          <p:cNvSpPr/>
          <p:nvPr>
            <p:custDataLst>
              <p:tags r:id="rId1"/>
            </p:custDataLst>
          </p:nvPr>
        </p:nvSpPr>
        <p:spPr bwMode="auto">
          <a:xfrm rot="16200000">
            <a:off x="2626995" y="1049020"/>
            <a:ext cx="2163445" cy="2749550"/>
          </a:xfrm>
          <a:custGeom>
            <a:avLst/>
            <a:gdLst>
              <a:gd name="T0" fmla="*/ 2039282 w 1661196"/>
              <a:gd name="T1" fmla="*/ 261517 h 2161132"/>
              <a:gd name="T2" fmla="*/ 2347533 w 1661196"/>
              <a:gd name="T3" fmla="*/ 1943481 h 2161132"/>
              <a:gd name="T4" fmla="*/ 3511210 w 1661196"/>
              <a:gd name="T5" fmla="*/ 4168665 h 2161132"/>
              <a:gd name="T6" fmla="*/ 3481778 w 1661196"/>
              <a:gd name="T7" fmla="*/ 4274248 h 2161132"/>
              <a:gd name="T8" fmla="*/ 3730277 w 1661196"/>
              <a:gd name="T9" fmla="*/ 4223885 h 2161132"/>
              <a:gd name="T10" fmla="*/ 3319434 w 1661196"/>
              <a:gd name="T11" fmla="*/ 4862288 h 2161132"/>
              <a:gd name="T12" fmla="*/ 3224695 w 1661196"/>
              <a:gd name="T13" fmla="*/ 4107857 h 2161132"/>
              <a:gd name="T14" fmla="*/ 3433900 w 1661196"/>
              <a:gd name="T15" fmla="*/ 4263162 h 2161132"/>
              <a:gd name="T16" fmla="*/ 2244396 w 1661196"/>
              <a:gd name="T17" fmla="*/ 2105316 h 2161132"/>
              <a:gd name="T18" fmla="*/ 1770913 w 1661196"/>
              <a:gd name="T19" fmla="*/ 1947264 h 2161132"/>
              <a:gd name="T20" fmla="*/ 313718 w 1661196"/>
              <a:gd name="T21" fmla="*/ 2111325 h 2161132"/>
              <a:gd name="T22" fmla="*/ 316187 w 1661196"/>
              <a:gd name="T23" fmla="*/ 2108094 h 2161132"/>
              <a:gd name="T24" fmla="*/ 310488 w 1661196"/>
              <a:gd name="T25" fmla="*/ 2108849 h 2161132"/>
              <a:gd name="T26" fmla="*/ 247777 w 1661196"/>
              <a:gd name="T27" fmla="*/ 2030002 h 2161132"/>
              <a:gd name="T28" fmla="*/ 250247 w 1661196"/>
              <a:gd name="T29" fmla="*/ 2026771 h 2161132"/>
              <a:gd name="T30" fmla="*/ 261014 w 1661196"/>
              <a:gd name="T31" fmla="*/ 497180 h 2161132"/>
              <a:gd name="T32" fmla="*/ 2039282 w 1661196"/>
              <a:gd name="T33" fmla="*/ 261517 h 2161132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1661196" h="2161132">
                <a:moveTo>
                  <a:pt x="908149" y="116236"/>
                </a:moveTo>
                <a:cubicBezTo>
                  <a:pt x="1141188" y="294601"/>
                  <a:pt x="1196152" y="619193"/>
                  <a:pt x="1045422" y="863815"/>
                </a:cubicBezTo>
                <a:cubicBezTo>
                  <a:pt x="1427287" y="1044447"/>
                  <a:pt x="1652072" y="1451172"/>
                  <a:pt x="1563639" y="1852839"/>
                </a:cubicBezTo>
                <a:cubicBezTo>
                  <a:pt x="1558735" y="1874148"/>
                  <a:pt x="1556875" y="1879559"/>
                  <a:pt x="1550532" y="1899767"/>
                </a:cubicBezTo>
                <a:cubicBezTo>
                  <a:pt x="1550532" y="1899767"/>
                  <a:pt x="1550532" y="1899767"/>
                  <a:pt x="1661196" y="1877382"/>
                </a:cubicBezTo>
                <a:cubicBezTo>
                  <a:pt x="1661196" y="1877382"/>
                  <a:pt x="1661196" y="1877382"/>
                  <a:pt x="1478236" y="2161132"/>
                </a:cubicBezTo>
                <a:cubicBezTo>
                  <a:pt x="1478236" y="2161132"/>
                  <a:pt x="1478236" y="2161132"/>
                  <a:pt x="1436046" y="1825812"/>
                </a:cubicBezTo>
                <a:cubicBezTo>
                  <a:pt x="1436046" y="1825812"/>
                  <a:pt x="1436046" y="1825812"/>
                  <a:pt x="1529211" y="1894840"/>
                </a:cubicBezTo>
                <a:cubicBezTo>
                  <a:pt x="1608930" y="1495617"/>
                  <a:pt x="1380679" y="1111303"/>
                  <a:pt x="999492" y="935746"/>
                </a:cubicBezTo>
                <a:cubicBezTo>
                  <a:pt x="998053" y="934645"/>
                  <a:pt x="923084" y="895492"/>
                  <a:pt x="788637" y="865497"/>
                </a:cubicBezTo>
                <a:cubicBezTo>
                  <a:pt x="559511" y="813161"/>
                  <a:pt x="329975" y="844813"/>
                  <a:pt x="139707" y="938417"/>
                </a:cubicBezTo>
                <a:cubicBezTo>
                  <a:pt x="139707" y="938417"/>
                  <a:pt x="139707" y="938417"/>
                  <a:pt x="140807" y="936981"/>
                </a:cubicBezTo>
                <a:cubicBezTo>
                  <a:pt x="140807" y="936981"/>
                  <a:pt x="140807" y="936981"/>
                  <a:pt x="138269" y="937316"/>
                </a:cubicBezTo>
                <a:cubicBezTo>
                  <a:pt x="128960" y="925635"/>
                  <a:pt x="119651" y="913953"/>
                  <a:pt x="110342" y="902271"/>
                </a:cubicBezTo>
                <a:cubicBezTo>
                  <a:pt x="110342" y="902271"/>
                  <a:pt x="110342" y="902271"/>
                  <a:pt x="111442" y="900835"/>
                </a:cubicBezTo>
                <a:cubicBezTo>
                  <a:pt x="-34877" y="704542"/>
                  <a:pt x="-41015" y="426435"/>
                  <a:pt x="116237" y="220981"/>
                </a:cubicBezTo>
                <a:cubicBezTo>
                  <a:pt x="305379" y="-26139"/>
                  <a:pt x="660724" y="-73140"/>
                  <a:pt x="908149" y="116236"/>
                </a:cubicBezTo>
                <a:close/>
              </a:path>
            </a:pathLst>
          </a:custGeom>
          <a:solidFill>
            <a:srgbClr val="150A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 sz="1015"/>
          </a:p>
        </p:txBody>
      </p:sp>
      <p:sp>
        <p:nvSpPr>
          <p:cNvPr id="13316" name="任意多边形 6"/>
          <p:cNvSpPr/>
          <p:nvPr>
            <p:custDataLst>
              <p:tags r:id="rId2"/>
            </p:custDataLst>
          </p:nvPr>
        </p:nvSpPr>
        <p:spPr bwMode="auto">
          <a:xfrm rot="5400000">
            <a:off x="4339590" y="1661160"/>
            <a:ext cx="2029460" cy="2828925"/>
          </a:xfrm>
          <a:custGeom>
            <a:avLst/>
            <a:gdLst>
              <a:gd name="T0" fmla="*/ 2039280 w 1661196"/>
              <a:gd name="T1" fmla="*/ 261517 h 2161132"/>
              <a:gd name="T2" fmla="*/ 2347532 w 1661196"/>
              <a:gd name="T3" fmla="*/ 1943481 h 2161132"/>
              <a:gd name="T4" fmla="*/ 3511207 w 1661196"/>
              <a:gd name="T5" fmla="*/ 4168665 h 2161132"/>
              <a:gd name="T6" fmla="*/ 3481775 w 1661196"/>
              <a:gd name="T7" fmla="*/ 4274248 h 2161132"/>
              <a:gd name="T8" fmla="*/ 3730274 w 1661196"/>
              <a:gd name="T9" fmla="*/ 4223885 h 2161132"/>
              <a:gd name="T10" fmla="*/ 3319431 w 1661196"/>
              <a:gd name="T11" fmla="*/ 4862288 h 2161132"/>
              <a:gd name="T12" fmla="*/ 3224692 w 1661196"/>
              <a:gd name="T13" fmla="*/ 4107857 h 2161132"/>
              <a:gd name="T14" fmla="*/ 3433897 w 1661196"/>
              <a:gd name="T15" fmla="*/ 4263162 h 2161132"/>
              <a:gd name="T16" fmla="*/ 2244394 w 1661196"/>
              <a:gd name="T17" fmla="*/ 2105316 h 2161132"/>
              <a:gd name="T18" fmla="*/ 1770912 w 1661196"/>
              <a:gd name="T19" fmla="*/ 1947264 h 2161132"/>
              <a:gd name="T20" fmla="*/ 313718 w 1661196"/>
              <a:gd name="T21" fmla="*/ 2111325 h 2161132"/>
              <a:gd name="T22" fmla="*/ 316187 w 1661196"/>
              <a:gd name="T23" fmla="*/ 2108094 h 2161132"/>
              <a:gd name="T24" fmla="*/ 310488 w 1661196"/>
              <a:gd name="T25" fmla="*/ 2108849 h 2161132"/>
              <a:gd name="T26" fmla="*/ 247777 w 1661196"/>
              <a:gd name="T27" fmla="*/ 2030002 h 2161132"/>
              <a:gd name="T28" fmla="*/ 250247 w 1661196"/>
              <a:gd name="T29" fmla="*/ 2026771 h 2161132"/>
              <a:gd name="T30" fmla="*/ 261014 w 1661196"/>
              <a:gd name="T31" fmla="*/ 497180 h 2161132"/>
              <a:gd name="T32" fmla="*/ 2039280 w 1661196"/>
              <a:gd name="T33" fmla="*/ 261517 h 2161132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1661196" h="2161132">
                <a:moveTo>
                  <a:pt x="908149" y="116236"/>
                </a:moveTo>
                <a:cubicBezTo>
                  <a:pt x="1141188" y="294601"/>
                  <a:pt x="1196152" y="619193"/>
                  <a:pt x="1045422" y="863815"/>
                </a:cubicBezTo>
                <a:cubicBezTo>
                  <a:pt x="1427287" y="1044447"/>
                  <a:pt x="1652072" y="1451172"/>
                  <a:pt x="1563639" y="1852839"/>
                </a:cubicBezTo>
                <a:cubicBezTo>
                  <a:pt x="1558735" y="1874148"/>
                  <a:pt x="1556875" y="1879559"/>
                  <a:pt x="1550532" y="1899767"/>
                </a:cubicBezTo>
                <a:cubicBezTo>
                  <a:pt x="1550532" y="1899767"/>
                  <a:pt x="1550532" y="1899767"/>
                  <a:pt x="1661196" y="1877382"/>
                </a:cubicBezTo>
                <a:cubicBezTo>
                  <a:pt x="1661196" y="1877382"/>
                  <a:pt x="1661196" y="1877382"/>
                  <a:pt x="1478236" y="2161132"/>
                </a:cubicBezTo>
                <a:cubicBezTo>
                  <a:pt x="1478236" y="2161132"/>
                  <a:pt x="1478236" y="2161132"/>
                  <a:pt x="1436046" y="1825812"/>
                </a:cubicBezTo>
                <a:cubicBezTo>
                  <a:pt x="1436046" y="1825812"/>
                  <a:pt x="1436046" y="1825812"/>
                  <a:pt x="1529211" y="1894840"/>
                </a:cubicBezTo>
                <a:cubicBezTo>
                  <a:pt x="1608930" y="1495617"/>
                  <a:pt x="1380679" y="1111303"/>
                  <a:pt x="999492" y="935746"/>
                </a:cubicBezTo>
                <a:cubicBezTo>
                  <a:pt x="998053" y="934645"/>
                  <a:pt x="923084" y="895492"/>
                  <a:pt x="788637" y="865497"/>
                </a:cubicBezTo>
                <a:cubicBezTo>
                  <a:pt x="559511" y="813161"/>
                  <a:pt x="329975" y="844813"/>
                  <a:pt x="139707" y="938417"/>
                </a:cubicBezTo>
                <a:cubicBezTo>
                  <a:pt x="139707" y="938417"/>
                  <a:pt x="139707" y="938417"/>
                  <a:pt x="140807" y="936981"/>
                </a:cubicBezTo>
                <a:cubicBezTo>
                  <a:pt x="140807" y="936981"/>
                  <a:pt x="140807" y="936981"/>
                  <a:pt x="138269" y="937316"/>
                </a:cubicBezTo>
                <a:cubicBezTo>
                  <a:pt x="128960" y="925635"/>
                  <a:pt x="119651" y="913953"/>
                  <a:pt x="110342" y="902271"/>
                </a:cubicBezTo>
                <a:cubicBezTo>
                  <a:pt x="110342" y="902271"/>
                  <a:pt x="110342" y="902271"/>
                  <a:pt x="111442" y="900835"/>
                </a:cubicBezTo>
                <a:cubicBezTo>
                  <a:pt x="-34877" y="704542"/>
                  <a:pt x="-41015" y="426435"/>
                  <a:pt x="116237" y="220981"/>
                </a:cubicBezTo>
                <a:cubicBezTo>
                  <a:pt x="305379" y="-26139"/>
                  <a:pt x="660724" y="-73140"/>
                  <a:pt x="908149" y="116236"/>
                </a:cubicBezTo>
                <a:close/>
              </a:path>
            </a:pathLst>
          </a:custGeom>
          <a:solidFill>
            <a:srgbClr val="150A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 sz="1015"/>
          </a:p>
        </p:txBody>
      </p:sp>
      <p:sp>
        <p:nvSpPr>
          <p:cNvPr id="13319" name="Oval 1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615055" y="1846580"/>
            <a:ext cx="1913890" cy="1753235"/>
          </a:xfrm>
          <a:prstGeom prst="ellipse">
            <a:avLst/>
          </a:prstGeom>
          <a:solidFill>
            <a:srgbClr val="150A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algn="just">
              <a:lnSpc>
                <a:spcPct val="110000"/>
              </a:lnSpc>
              <a:spcBef>
                <a:spcPts val="1800"/>
              </a:spcBef>
              <a:buClr>
                <a:srgbClr val="5D8A3F"/>
              </a:buClr>
              <a:buSzPct val="75000"/>
              <a:buFont typeface="Wingdings" panose="05000000000000000000" pitchFamily="2" charset="2"/>
              <a:buChar char=""/>
              <a:defRPr sz="2400">
                <a:solidFill>
                  <a:srgbClr val="8B8E2E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742950" algn="just">
              <a:lnSpc>
                <a:spcPct val="130000"/>
              </a:lnSpc>
              <a:spcAft>
                <a:spcPts val="600"/>
              </a:spcAft>
              <a:buClr>
                <a:srgbClr val="B1D19B"/>
              </a:buClr>
              <a:buFont typeface="幼圆" pitchFamily="49" charset="-122"/>
              <a:buChar char=" "/>
              <a:defRPr sz="2000">
                <a:solidFill>
                  <a:srgbClr val="7D7D7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幼圆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研究意义</a:t>
            </a:r>
            <a:endParaRPr lang="zh-CN" altLang="zh-CN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170" name="标题 8193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zh-CN" altLang="en-US" sz="3200" b="0" dirty="0">
                <a:solidFill>
                  <a:srgbClr val="150A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微软雅黑" panose="020B0503020204020204" pitchFamily="34" charset="-122"/>
                <a:cs typeface="+mn-cs"/>
              </a:rPr>
              <a:t>1.选题及研究意义</a:t>
            </a:r>
            <a:endParaRPr lang="zh-CN" altLang="en-US" sz="3200" b="0" dirty="0">
              <a:solidFill>
                <a:srgbClr val="150AE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25395" y="2369820"/>
            <a:ext cx="7696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</a:rPr>
              <a:t>物理意义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42635" y="2369820"/>
            <a:ext cx="7378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</a:rPr>
              <a:t>工程意义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105" y="1434465"/>
            <a:ext cx="26454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       </a:t>
            </a:r>
            <a:r>
              <a:rPr lang="zh-CN" altLang="en-US" dirty="0"/>
              <a:t>决定加热或电流驱动的效率</a:t>
            </a:r>
            <a:endParaRPr lang="zh-CN" altLang="en-US" dirty="0"/>
          </a:p>
        </p:txBody>
      </p:sp>
      <p:sp>
        <p:nvSpPr>
          <p:cNvPr id="7" name="五角星 6"/>
          <p:cNvSpPr/>
          <p:nvPr/>
        </p:nvSpPr>
        <p:spPr>
          <a:xfrm>
            <a:off x="252730" y="1434465"/>
            <a:ext cx="233045" cy="213995"/>
          </a:xfrm>
          <a:prstGeom prst="star5">
            <a:avLst/>
          </a:prstGeom>
          <a:solidFill>
            <a:srgbClr val="150A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五角星 5"/>
          <p:cNvSpPr/>
          <p:nvPr/>
        </p:nvSpPr>
        <p:spPr>
          <a:xfrm>
            <a:off x="252730" y="3168650"/>
            <a:ext cx="233045" cy="213995"/>
          </a:xfrm>
          <a:prstGeom prst="star5">
            <a:avLst/>
          </a:prstGeom>
          <a:solidFill>
            <a:srgbClr val="150A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2075" y="3168650"/>
            <a:ext cx="26314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       </a:t>
            </a:r>
            <a:r>
              <a:rPr lang="zh-CN" altLang="en-US" dirty="0">
                <a:sym typeface="Arial" panose="020B0604020202020204" pitchFamily="34" charset="0"/>
              </a:rPr>
              <a:t>驱动等离子体的不稳定性，将降低等离子体品质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9" name="五角星 8"/>
          <p:cNvSpPr/>
          <p:nvPr/>
        </p:nvSpPr>
        <p:spPr>
          <a:xfrm>
            <a:off x="6812915" y="1220470"/>
            <a:ext cx="233045" cy="213995"/>
          </a:xfrm>
          <a:prstGeom prst="star5">
            <a:avLst>
              <a:gd name="adj" fmla="val 19133"/>
              <a:gd name="hf" fmla="val 105146"/>
              <a:gd name="vf" fmla="val 110557"/>
            </a:avLst>
          </a:prstGeom>
          <a:solidFill>
            <a:srgbClr val="150A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769100" y="1157605"/>
            <a:ext cx="21570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       </a:t>
            </a:r>
            <a:r>
              <a:rPr lang="zh-CN" altLang="en-US" dirty="0">
                <a:sym typeface="Arial" panose="020B0604020202020204" pitchFamily="34" charset="0"/>
              </a:rPr>
              <a:t>快离子致使等离子体的约束性能变坏，甚至毁坏第一壁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450850" y="4963795"/>
            <a:ext cx="60032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EAST</a:t>
            </a:r>
            <a:r>
              <a:rPr lang="zh-CN" altLang="en-US"/>
              <a:t>：实现高功率，高品质稳态长脉冲放电</a:t>
            </a:r>
            <a:endParaRPr lang="zh-CN" altLang="en-US"/>
          </a:p>
          <a:p>
            <a:endParaRPr lang="zh-CN" altLang="en-US"/>
          </a:p>
          <a:p>
            <a:endParaRPr lang="zh-CN" altLang="en-US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62780" y="144716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7200" y="5375275"/>
            <a:ext cx="8229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快离子对功率沉积以及等离子体性能，能量输运有影响</a:t>
            </a:r>
            <a:endParaRPr kumimoji="0" lang="zh-CN" altLang="en-US" b="0" i="0" u="none" strike="noStrike" kern="1200" cap="none" spc="0" normalizeH="0" baseline="0">
              <a:sym typeface="+mn-ea"/>
            </a:endParaRPr>
          </a:p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任意多边形 41"/>
          <p:cNvSpPr/>
          <p:nvPr>
            <p:custDataLst>
              <p:tags r:id="rId1"/>
            </p:custDataLst>
          </p:nvPr>
        </p:nvSpPr>
        <p:spPr bwMode="auto">
          <a:xfrm>
            <a:off x="4109795" y="2892358"/>
            <a:ext cx="2676647" cy="1052640"/>
          </a:xfrm>
          <a:custGeom>
            <a:avLst/>
            <a:gdLst>
              <a:gd name="T0" fmla="*/ 6529951 w 1871661"/>
              <a:gd name="T1" fmla="*/ 0 h 736603"/>
              <a:gd name="T2" fmla="*/ 7416971 w 1871661"/>
              <a:gd name="T3" fmla="*/ 885727 h 736603"/>
              <a:gd name="T4" fmla="*/ 6529951 w 1871661"/>
              <a:gd name="T5" fmla="*/ 1771451 h 736603"/>
              <a:gd name="T6" fmla="*/ 6529951 w 1871661"/>
              <a:gd name="T7" fmla="*/ 1328588 h 736603"/>
              <a:gd name="T8" fmla="*/ 2500694 w 1871661"/>
              <a:gd name="T9" fmla="*/ 1328588 h 736603"/>
              <a:gd name="T10" fmla="*/ 2500634 w 1871661"/>
              <a:gd name="T11" fmla="*/ 1331743 h 736603"/>
              <a:gd name="T12" fmla="*/ 1361225 w 1871661"/>
              <a:gd name="T13" fmla="*/ 1785260 h 736603"/>
              <a:gd name="T14" fmla="*/ 886775 w 1871661"/>
              <a:gd name="T15" fmla="*/ 2914726 h 736603"/>
              <a:gd name="T16" fmla="*/ 0 w 1871661"/>
              <a:gd name="T17" fmla="*/ 2914726 h 736603"/>
              <a:gd name="T18" fmla="*/ 739803 w 1871661"/>
              <a:gd name="T19" fmla="*/ 1153567 h 736603"/>
              <a:gd name="T20" fmla="*/ 2025604 w 1871661"/>
              <a:gd name="T21" fmla="*/ 486638 h 736603"/>
              <a:gd name="T22" fmla="*/ 2472319 w 1871661"/>
              <a:gd name="T23" fmla="*/ 450024 h 736603"/>
              <a:gd name="T24" fmla="*/ 2472319 w 1871661"/>
              <a:gd name="T25" fmla="*/ 442861 h 736603"/>
              <a:gd name="T26" fmla="*/ 6529951 w 1871661"/>
              <a:gd name="T27" fmla="*/ 442861 h 736603"/>
              <a:gd name="T28" fmla="*/ 6529951 w 1871661"/>
              <a:gd name="T29" fmla="*/ 0 h 736603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871661" h="736603">
                <a:moveTo>
                  <a:pt x="1647823" y="0"/>
                </a:moveTo>
                <a:lnTo>
                  <a:pt x="1871661" y="223839"/>
                </a:lnTo>
                <a:lnTo>
                  <a:pt x="1647823" y="447677"/>
                </a:lnTo>
                <a:lnTo>
                  <a:pt x="1647823" y="335758"/>
                </a:lnTo>
                <a:lnTo>
                  <a:pt x="631046" y="335758"/>
                </a:lnTo>
                <a:lnTo>
                  <a:pt x="631031" y="336555"/>
                </a:lnTo>
                <a:cubicBezTo>
                  <a:pt x="523694" y="334638"/>
                  <a:pt x="420088" y="375936"/>
                  <a:pt x="343503" y="451167"/>
                </a:cubicBezTo>
                <a:cubicBezTo>
                  <a:pt x="266917" y="526397"/>
                  <a:pt x="223776" y="629249"/>
                  <a:pt x="223776" y="736603"/>
                </a:cubicBezTo>
                <a:lnTo>
                  <a:pt x="0" y="736603"/>
                </a:lnTo>
                <a:cubicBezTo>
                  <a:pt x="0" y="569207"/>
                  <a:pt x="67269" y="408832"/>
                  <a:pt x="186688" y="291527"/>
                </a:cubicBezTo>
                <a:cubicBezTo>
                  <a:pt x="276253" y="203548"/>
                  <a:pt x="389515" y="145331"/>
                  <a:pt x="511158" y="122982"/>
                </a:cubicBezTo>
                <a:lnTo>
                  <a:pt x="623886" y="113729"/>
                </a:lnTo>
                <a:lnTo>
                  <a:pt x="623886" y="111919"/>
                </a:lnTo>
                <a:lnTo>
                  <a:pt x="1647823" y="111919"/>
                </a:lnTo>
                <a:lnTo>
                  <a:pt x="1647823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tIns="0" bIns="0" anchor="ctr"/>
          <a:lstStyle/>
          <a:p>
            <a:endParaRPr lang="zh-CN" altLang="en-US" sz="1015"/>
          </a:p>
        </p:txBody>
      </p:sp>
      <p:sp>
        <p:nvSpPr>
          <p:cNvPr id="29700" name="任意多边形 39"/>
          <p:cNvSpPr/>
          <p:nvPr>
            <p:custDataLst>
              <p:tags r:id="rId2"/>
            </p:custDataLst>
          </p:nvPr>
        </p:nvSpPr>
        <p:spPr bwMode="auto">
          <a:xfrm flipH="1">
            <a:off x="2230327" y="2892358"/>
            <a:ext cx="2675506" cy="1052640"/>
          </a:xfrm>
          <a:custGeom>
            <a:avLst/>
            <a:gdLst>
              <a:gd name="T0" fmla="*/ 6524386 w 1871661"/>
              <a:gd name="T1" fmla="*/ 0 h 736603"/>
              <a:gd name="T2" fmla="*/ 7410650 w 1871661"/>
              <a:gd name="T3" fmla="*/ 885727 h 736603"/>
              <a:gd name="T4" fmla="*/ 6524386 w 1871661"/>
              <a:gd name="T5" fmla="*/ 1771451 h 736603"/>
              <a:gd name="T6" fmla="*/ 6524386 w 1871661"/>
              <a:gd name="T7" fmla="*/ 1328588 h 736603"/>
              <a:gd name="T8" fmla="*/ 2498562 w 1871661"/>
              <a:gd name="T9" fmla="*/ 1328588 h 736603"/>
              <a:gd name="T10" fmla="*/ 2498502 w 1871661"/>
              <a:gd name="T11" fmla="*/ 1331743 h 736603"/>
              <a:gd name="T12" fmla="*/ 1360064 w 1871661"/>
              <a:gd name="T13" fmla="*/ 1785260 h 736603"/>
              <a:gd name="T14" fmla="*/ 886019 w 1871661"/>
              <a:gd name="T15" fmla="*/ 2914726 h 736603"/>
              <a:gd name="T16" fmla="*/ 0 w 1871661"/>
              <a:gd name="T17" fmla="*/ 2914726 h 736603"/>
              <a:gd name="T18" fmla="*/ 739172 w 1871661"/>
              <a:gd name="T19" fmla="*/ 1153567 h 736603"/>
              <a:gd name="T20" fmla="*/ 2023877 w 1871661"/>
              <a:gd name="T21" fmla="*/ 486638 h 736603"/>
              <a:gd name="T22" fmla="*/ 2470213 w 1871661"/>
              <a:gd name="T23" fmla="*/ 450024 h 736603"/>
              <a:gd name="T24" fmla="*/ 2470213 w 1871661"/>
              <a:gd name="T25" fmla="*/ 442861 h 736603"/>
              <a:gd name="T26" fmla="*/ 6524386 w 1871661"/>
              <a:gd name="T27" fmla="*/ 442861 h 736603"/>
              <a:gd name="T28" fmla="*/ 6524386 w 1871661"/>
              <a:gd name="T29" fmla="*/ 0 h 736603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871661" h="736603">
                <a:moveTo>
                  <a:pt x="1647823" y="0"/>
                </a:moveTo>
                <a:lnTo>
                  <a:pt x="1871661" y="223839"/>
                </a:lnTo>
                <a:lnTo>
                  <a:pt x="1647823" y="447677"/>
                </a:lnTo>
                <a:lnTo>
                  <a:pt x="1647823" y="335758"/>
                </a:lnTo>
                <a:lnTo>
                  <a:pt x="631046" y="335758"/>
                </a:lnTo>
                <a:lnTo>
                  <a:pt x="631031" y="336555"/>
                </a:lnTo>
                <a:cubicBezTo>
                  <a:pt x="523694" y="334638"/>
                  <a:pt x="420088" y="375936"/>
                  <a:pt x="343503" y="451167"/>
                </a:cubicBezTo>
                <a:cubicBezTo>
                  <a:pt x="266917" y="526397"/>
                  <a:pt x="223776" y="629249"/>
                  <a:pt x="223776" y="736603"/>
                </a:cubicBezTo>
                <a:lnTo>
                  <a:pt x="0" y="736603"/>
                </a:lnTo>
                <a:cubicBezTo>
                  <a:pt x="0" y="569207"/>
                  <a:pt x="67269" y="408832"/>
                  <a:pt x="186688" y="291527"/>
                </a:cubicBezTo>
                <a:cubicBezTo>
                  <a:pt x="276253" y="203548"/>
                  <a:pt x="389515" y="145331"/>
                  <a:pt x="511158" y="122982"/>
                </a:cubicBezTo>
                <a:lnTo>
                  <a:pt x="623886" y="113729"/>
                </a:lnTo>
                <a:lnTo>
                  <a:pt x="623886" y="111919"/>
                </a:lnTo>
                <a:lnTo>
                  <a:pt x="1647823" y="111919"/>
                </a:lnTo>
                <a:lnTo>
                  <a:pt x="1647823" y="0"/>
                </a:lnTo>
                <a:close/>
              </a:path>
            </a:pathLst>
          </a:custGeom>
          <a:solidFill>
            <a:srgbClr val="150A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tIns="0" bIns="0" anchor="ctr"/>
          <a:lstStyle/>
          <a:p>
            <a:endParaRPr lang="zh-CN" altLang="en-US" sz="1015"/>
          </a:p>
        </p:txBody>
      </p:sp>
      <p:sp>
        <p:nvSpPr>
          <p:cNvPr id="29701" name="空心弧 40"/>
          <p:cNvSpPr/>
          <p:nvPr>
            <p:custDataLst>
              <p:tags r:id="rId3"/>
            </p:custDataLst>
          </p:nvPr>
        </p:nvSpPr>
        <p:spPr bwMode="auto">
          <a:xfrm flipH="1" flipV="1">
            <a:off x="3972941" y="3931312"/>
            <a:ext cx="932892" cy="891835"/>
          </a:xfrm>
          <a:custGeom>
            <a:avLst/>
            <a:gdLst>
              <a:gd name="T0" fmla="*/ 0 w 652814"/>
              <a:gd name="T1" fmla="*/ 2470213 h 623888"/>
              <a:gd name="T2" fmla="*/ 738706 w 652814"/>
              <a:gd name="T3" fmla="*/ 707986 h 623888"/>
              <a:gd name="T4" fmla="*/ 2512734 w 652814"/>
              <a:gd name="T5" fmla="*/ 396 h 623888"/>
              <a:gd name="T6" fmla="*/ 2496926 w 652814"/>
              <a:gd name="T7" fmla="*/ 886268 h 623888"/>
              <a:gd name="T8" fmla="*/ 1359208 w 652814"/>
              <a:gd name="T9" fmla="*/ 1340062 h 623888"/>
              <a:gd name="T10" fmla="*/ 885459 w 652814"/>
              <a:gd name="T11" fmla="*/ 2470213 h 623888"/>
              <a:gd name="T12" fmla="*/ 0 w 652814"/>
              <a:gd name="T13" fmla="*/ 2470213 h 6238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52814" h="623888">
                <a:moveTo>
                  <a:pt x="0" y="623888"/>
                </a:moveTo>
                <a:cubicBezTo>
                  <a:pt x="0" y="456492"/>
                  <a:pt x="67269" y="296117"/>
                  <a:pt x="186688" y="178812"/>
                </a:cubicBezTo>
                <a:cubicBezTo>
                  <a:pt x="306107" y="61506"/>
                  <a:pt x="467657" y="-2889"/>
                  <a:pt x="635026" y="100"/>
                </a:cubicBezTo>
                <a:cubicBezTo>
                  <a:pt x="652744" y="69917"/>
                  <a:pt x="665701" y="156404"/>
                  <a:pt x="631031" y="223840"/>
                </a:cubicBezTo>
                <a:cubicBezTo>
                  <a:pt x="523694" y="221923"/>
                  <a:pt x="420088" y="263221"/>
                  <a:pt x="343503" y="338452"/>
                </a:cubicBezTo>
                <a:cubicBezTo>
                  <a:pt x="266917" y="413682"/>
                  <a:pt x="223776" y="516534"/>
                  <a:pt x="223776" y="623888"/>
                </a:cubicBezTo>
                <a:lnTo>
                  <a:pt x="0" y="623888"/>
                </a:lnTo>
                <a:close/>
              </a:path>
            </a:pathLst>
          </a:custGeom>
          <a:solidFill>
            <a:srgbClr val="150A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tIns="0" bIns="0" anchor="ctr"/>
          <a:lstStyle/>
          <a:p>
            <a:endParaRPr lang="zh-CN" altLang="en-US" sz="1015"/>
          </a:p>
        </p:txBody>
      </p:sp>
      <p:sp>
        <p:nvSpPr>
          <p:cNvPr id="29702" name="空心弧 40"/>
          <p:cNvSpPr/>
          <p:nvPr>
            <p:custDataLst>
              <p:tags r:id="rId4"/>
            </p:custDataLst>
          </p:nvPr>
        </p:nvSpPr>
        <p:spPr bwMode="auto">
          <a:xfrm flipV="1">
            <a:off x="4108654" y="3931312"/>
            <a:ext cx="934032" cy="891835"/>
          </a:xfrm>
          <a:custGeom>
            <a:avLst/>
            <a:gdLst>
              <a:gd name="T0" fmla="*/ 0 w 652814"/>
              <a:gd name="T1" fmla="*/ 2470213 h 623888"/>
              <a:gd name="T2" fmla="*/ 740513 w 652814"/>
              <a:gd name="T3" fmla="*/ 707986 h 623888"/>
              <a:gd name="T4" fmla="*/ 2518880 w 652814"/>
              <a:gd name="T5" fmla="*/ 396 h 623888"/>
              <a:gd name="T6" fmla="*/ 2503033 w 652814"/>
              <a:gd name="T7" fmla="*/ 886268 h 623888"/>
              <a:gd name="T8" fmla="*/ 1362532 w 652814"/>
              <a:gd name="T9" fmla="*/ 1340062 h 623888"/>
              <a:gd name="T10" fmla="*/ 887624 w 652814"/>
              <a:gd name="T11" fmla="*/ 2470213 h 623888"/>
              <a:gd name="T12" fmla="*/ 0 w 652814"/>
              <a:gd name="T13" fmla="*/ 2470213 h 6238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52814" h="623888">
                <a:moveTo>
                  <a:pt x="0" y="623888"/>
                </a:moveTo>
                <a:cubicBezTo>
                  <a:pt x="0" y="456492"/>
                  <a:pt x="67269" y="296117"/>
                  <a:pt x="186688" y="178812"/>
                </a:cubicBezTo>
                <a:cubicBezTo>
                  <a:pt x="306107" y="61506"/>
                  <a:pt x="467657" y="-2889"/>
                  <a:pt x="635026" y="100"/>
                </a:cubicBezTo>
                <a:cubicBezTo>
                  <a:pt x="652744" y="69917"/>
                  <a:pt x="665701" y="156404"/>
                  <a:pt x="631031" y="223840"/>
                </a:cubicBezTo>
                <a:cubicBezTo>
                  <a:pt x="523694" y="221923"/>
                  <a:pt x="420088" y="263221"/>
                  <a:pt x="343503" y="338452"/>
                </a:cubicBezTo>
                <a:cubicBezTo>
                  <a:pt x="266917" y="413682"/>
                  <a:pt x="223776" y="516534"/>
                  <a:pt x="223776" y="623888"/>
                </a:cubicBezTo>
                <a:lnTo>
                  <a:pt x="0" y="623888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tIns="0" bIns="0" anchor="ctr"/>
          <a:lstStyle/>
          <a:p>
            <a:endParaRPr lang="zh-CN" altLang="en-US" sz="1015"/>
          </a:p>
        </p:txBody>
      </p:sp>
      <p:sp>
        <p:nvSpPr>
          <p:cNvPr id="4" name="文本框 3"/>
          <p:cNvSpPr txBox="1"/>
          <p:nvPr/>
        </p:nvSpPr>
        <p:spPr>
          <a:xfrm>
            <a:off x="477520" y="1362710"/>
            <a:ext cx="7923530" cy="783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0" indent="0" algn="just">
              <a:lnSpc>
                <a:spcPct val="125000"/>
              </a:lnSpc>
              <a:buFontTx/>
              <a:buNone/>
            </a:pP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sz="1600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800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2004年</a:t>
            </a:r>
            <a:r>
              <a:rPr lang="en-US" altLang="zh-CN" sz="1800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FIDA</a:t>
            </a:r>
            <a:r>
              <a:rPr lang="zh-CN" altLang="en-US" sz="1800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第一次在DIII-D上运行，随后在NSTX、ASDEX-U、DIII-D、</a:t>
            </a:r>
            <a:endParaRPr lang="zh-CN" altLang="en-US" sz="1800" kern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125000"/>
              </a:lnSpc>
              <a:buFontTx/>
              <a:buNone/>
            </a:pPr>
            <a:r>
              <a:rPr lang="zh-CN" altLang="en-US" sz="1800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EAST等装置上均有应用</a:t>
            </a:r>
            <a:endParaRPr lang="zh-CN" altLang="en-US" sz="1800" kern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194" name="标题 9218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altLang="zh-CN" sz="3200" b="0" dirty="0">
                <a:solidFill>
                  <a:srgbClr val="150A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微软雅黑" panose="020B0503020204020204" pitchFamily="34" charset="-122"/>
                <a:cs typeface="+mn-cs"/>
              </a:rPr>
              <a:t>2</a:t>
            </a:r>
            <a:r>
              <a:rPr lang="zh-CN" altLang="en-US" sz="3200" b="0" dirty="0">
                <a:solidFill>
                  <a:srgbClr val="150A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微软雅黑" panose="020B0503020204020204" pitchFamily="34" charset="-122"/>
                <a:cs typeface="+mn-cs"/>
              </a:rPr>
              <a:t>.国内外研究现状</a:t>
            </a:r>
            <a:endParaRPr lang="zh-CN" altLang="en-US" sz="3200" b="0" dirty="0">
              <a:solidFill>
                <a:srgbClr val="150AE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五角星 6"/>
          <p:cNvSpPr/>
          <p:nvPr/>
        </p:nvSpPr>
        <p:spPr>
          <a:xfrm>
            <a:off x="507365" y="1454785"/>
            <a:ext cx="233045" cy="213995"/>
          </a:xfrm>
          <a:prstGeom prst="star5">
            <a:avLst/>
          </a:prstGeom>
          <a:solidFill>
            <a:srgbClr val="150A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06145" y="3764280"/>
            <a:ext cx="31546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+mn-lt"/>
                <a:ea typeface="+mn-ea"/>
                <a:sym typeface="+mn-ea"/>
              </a:rPr>
              <a:t>快离子的不稳定性</a:t>
            </a:r>
            <a:endParaRPr lang="zh-CN" altLang="en-US" dirty="0">
              <a:latin typeface="+mn-lt"/>
              <a:ea typeface="+mn-ea"/>
              <a:sym typeface="+mn-ea"/>
            </a:endParaRPr>
          </a:p>
          <a:p>
            <a:endParaRPr lang="zh-CN" altLang="en-US" dirty="0">
              <a:latin typeface="+mn-lt"/>
              <a:ea typeface="+mn-ea"/>
              <a:sym typeface="+mn-ea"/>
            </a:endParaRPr>
          </a:p>
          <a:p>
            <a:r>
              <a:rPr lang="zh-CN" altLang="en-US">
                <a:sym typeface="+mn-ea"/>
              </a:rPr>
              <a:t>快离子的重新分布现象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湍流对快离子输运的影响</a:t>
            </a:r>
            <a:endParaRPr lang="zh-CN" altLang="en-US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09310" y="3764280"/>
            <a:ext cx="31546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+mn-lt"/>
                <a:ea typeface="+mn-ea"/>
                <a:sym typeface="+mn-ea"/>
              </a:rPr>
              <a:t>快离子分布函数及权重函数</a:t>
            </a:r>
            <a:endParaRPr lang="zh-CN" altLang="en-US" dirty="0">
              <a:latin typeface="+mn-lt"/>
              <a:ea typeface="+mn-ea"/>
              <a:sym typeface="+mn-ea"/>
            </a:endParaRPr>
          </a:p>
          <a:p>
            <a:endParaRPr lang="zh-CN" altLang="en-US" dirty="0">
              <a:latin typeface="+mn-lt"/>
              <a:ea typeface="+mn-ea"/>
              <a:sym typeface="+mn-ea"/>
            </a:endParaRPr>
          </a:p>
          <a:p>
            <a:r>
              <a:rPr lang="zh-CN" altLang="en-US">
                <a:sym typeface="+mn-ea"/>
              </a:rPr>
              <a:t>背景扣除的方法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实验数据与程序模拟的比较</a:t>
            </a:r>
            <a:endParaRPr lang="zh-CN" altLang="en-US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17115" y="3066415"/>
            <a:ext cx="2512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快</a:t>
            </a:r>
            <a:r>
              <a:rPr lang="zh-CN" altLang="en-US" sz="1600">
                <a:solidFill>
                  <a:schemeClr val="bg1"/>
                </a:solidFill>
              </a:rPr>
              <a:t>离子输运及不稳定性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993005" y="3066415"/>
            <a:ext cx="2512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快</a:t>
            </a:r>
            <a:r>
              <a:rPr lang="zh-CN" altLang="en-US" sz="1600">
                <a:solidFill>
                  <a:schemeClr val="bg1"/>
                </a:solidFill>
              </a:rPr>
              <a:t>离子特性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233295" y="5511800"/>
            <a:ext cx="5716905" cy="9531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p>
            <a:pPr marL="182880" lvl="0" indent="-182880"/>
            <a:r>
              <a:rPr lang="it-IT" altLang="zh-CN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</a:rPr>
              <a:t>W. W. Heidbrink, et al., </a:t>
            </a:r>
            <a:r>
              <a:rPr lang="it-IT" altLang="zh-CN" sz="1400" i="1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</a:rPr>
              <a:t>RSI</a:t>
            </a:r>
            <a:r>
              <a:rPr lang="it-IT" altLang="zh-CN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</a:rPr>
              <a:t>  77: 10F120-1-10F120-4(20</a:t>
            </a:r>
            <a:r>
              <a:rPr lang="en-US" altLang="it-IT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</a:rPr>
              <a:t>06</a:t>
            </a:r>
            <a:r>
              <a:rPr lang="it-IT" altLang="zh-CN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</a:rPr>
              <a:t>)</a:t>
            </a:r>
            <a:endParaRPr lang="it-IT" altLang="zh-CN" sz="1400" dirty="0" smtClean="0">
              <a:solidFill>
                <a:srgbClr val="0070C0"/>
              </a:solidFill>
              <a:latin typeface="Century Gothic" panose="020B0502020202020204" pitchFamily="34" charset="0"/>
              <a:ea typeface="华文中宋"/>
            </a:endParaRPr>
          </a:p>
          <a:p>
            <a:pPr marL="182880" lvl="0" indent="-182880"/>
            <a:r>
              <a:rPr lang="it-IT" altLang="zh-CN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</a:rPr>
              <a:t>W. W. Heidbrink</a:t>
            </a:r>
            <a:r>
              <a:rPr lang="it-IT" altLang="zh-CN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  <a:sym typeface="+mn-ea"/>
              </a:rPr>
              <a:t>, et al., </a:t>
            </a:r>
            <a:r>
              <a:rPr lang="it-IT" altLang="zh-CN" sz="1400" i="1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  <a:sym typeface="+mn-ea"/>
              </a:rPr>
              <a:t>RSI</a:t>
            </a:r>
            <a:r>
              <a:rPr lang="it-IT" altLang="zh-CN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  <a:sym typeface="+mn-ea"/>
              </a:rPr>
              <a:t>  81: 10D727-1-10D727-8(20</a:t>
            </a:r>
            <a:r>
              <a:rPr lang="en-US" altLang="it-IT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  <a:sym typeface="+mn-ea"/>
              </a:rPr>
              <a:t>10</a:t>
            </a:r>
            <a:r>
              <a:rPr lang="it-IT" altLang="zh-CN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  <a:sym typeface="+mn-ea"/>
              </a:rPr>
              <a:t>)</a:t>
            </a:r>
            <a:endParaRPr lang="it-IT" altLang="zh-CN" sz="1400" dirty="0" smtClean="0">
              <a:solidFill>
                <a:srgbClr val="0070C0"/>
              </a:solidFill>
              <a:latin typeface="Century Gothic" panose="020B0502020202020204" pitchFamily="34" charset="0"/>
              <a:ea typeface="华文中宋"/>
            </a:endParaRPr>
          </a:p>
          <a:p>
            <a:pPr marL="182880" lvl="0" indent="-182880"/>
            <a:r>
              <a:rPr lang="it-IT" altLang="zh-CN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</a:rPr>
              <a:t>M. Podesta</a:t>
            </a:r>
            <a:r>
              <a:rPr lang="it-IT" altLang="zh-CN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  <a:sym typeface="+mn-ea"/>
              </a:rPr>
              <a:t>, et al., </a:t>
            </a:r>
            <a:r>
              <a:rPr lang="it-IT" altLang="zh-CN" sz="1400" i="1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  <a:sym typeface="+mn-ea"/>
              </a:rPr>
              <a:t>RSI</a:t>
            </a:r>
            <a:r>
              <a:rPr lang="it-IT" altLang="zh-CN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  <a:sym typeface="+mn-ea"/>
              </a:rPr>
              <a:t>  79</a:t>
            </a:r>
            <a:r>
              <a:rPr lang="zh-CN" altLang="it-IT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  <a:sym typeface="+mn-ea"/>
              </a:rPr>
              <a:t>：</a:t>
            </a:r>
            <a:r>
              <a:rPr lang="it-IT" altLang="zh-CN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  <a:sym typeface="+mn-ea"/>
              </a:rPr>
              <a:t>10E521-1-10E521-5(2008)</a:t>
            </a:r>
            <a:endParaRPr lang="it-IT" altLang="zh-CN" sz="1400" dirty="0" smtClean="0">
              <a:solidFill>
                <a:srgbClr val="0070C0"/>
              </a:solidFill>
              <a:latin typeface="Century Gothic" panose="020B0502020202020204" pitchFamily="34" charset="0"/>
              <a:ea typeface="华文中宋"/>
            </a:endParaRPr>
          </a:p>
          <a:p>
            <a:pPr marL="182880" lvl="0" indent="-182880"/>
            <a:r>
              <a:rPr lang="it-IT" altLang="zh-CN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</a:rPr>
              <a:t>M .A. Van. Zeedland, et al., PPCF  51:055001-1-055001-19 (20</a:t>
            </a:r>
            <a:r>
              <a:rPr lang="en-US" altLang="it-IT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</a:rPr>
              <a:t>09</a:t>
            </a:r>
            <a:r>
              <a:rPr lang="it-IT" altLang="zh-CN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</a:rPr>
              <a:t>)</a:t>
            </a:r>
            <a:endParaRPr lang="it-IT" altLang="zh-CN" sz="1400" dirty="0" smtClean="0">
              <a:solidFill>
                <a:srgbClr val="0070C0"/>
              </a:solidFill>
              <a:latin typeface="Century Gothic" panose="020B0502020202020204" pitchFamily="34" charset="0"/>
              <a:ea typeface="华文中宋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71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140" y="3062605"/>
            <a:ext cx="3625850" cy="197326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172" name="组合 9"/>
          <p:cNvGrpSpPr/>
          <p:nvPr/>
        </p:nvGrpSpPr>
        <p:grpSpPr>
          <a:xfrm>
            <a:off x="4208145" y="1081405"/>
            <a:ext cx="4648200" cy="1981200"/>
            <a:chOff x="0" y="0"/>
            <a:chExt cx="4829175" cy="2028825"/>
          </a:xfrm>
        </p:grpSpPr>
        <p:pic>
          <p:nvPicPr>
            <p:cNvPr id="7175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829175" cy="202882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76" name="TextBox 7"/>
            <p:cNvSpPr txBox="1"/>
            <p:nvPr/>
          </p:nvSpPr>
          <p:spPr>
            <a:xfrm>
              <a:off x="1261721" y="29262"/>
              <a:ext cx="903821" cy="369026"/>
            </a:xfrm>
            <a:prstGeom prst="rect">
              <a:avLst/>
            </a:prstGeom>
            <a:solidFill>
              <a:srgbClr val="CCCCCC"/>
            </a:solidFill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</a:rPr>
                <a:t>s-FIDA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7" name="TextBox 8"/>
            <p:cNvSpPr txBox="1"/>
            <p:nvPr/>
          </p:nvSpPr>
          <p:spPr>
            <a:xfrm>
              <a:off x="3471795" y="29262"/>
              <a:ext cx="851043" cy="369026"/>
            </a:xfrm>
            <a:prstGeom prst="rect">
              <a:avLst/>
            </a:prstGeom>
            <a:solidFill>
              <a:srgbClr val="CCCCCC"/>
            </a:solidFill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</a:rPr>
                <a:t>f-FIDA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80720" y="1390015"/>
            <a:ext cx="1673225" cy="63246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buSzTx/>
              <a:buFontTx/>
              <a:buNone/>
              <a:defRPr/>
            </a:pPr>
            <a:r>
              <a:rPr kumimoji="0" lang="en-US" sz="1600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FIDA</a:t>
            </a:r>
            <a:r>
              <a:rPr kumimoji="0" lang="zh-CN" altLang="en-US" sz="1600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诊断原理</a:t>
            </a:r>
            <a:r>
              <a:rPr kumimoji="0" lang="zh-CN" altLang="en-US" sz="1600" b="0" kern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</a:t>
            </a: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EE0"/>
              </a:buClr>
              <a:buSzTx/>
              <a:buFontTx/>
              <a:buNone/>
              <a:defRPr/>
            </a:pPr>
            <a:r>
              <a:rPr kumimoji="0" lang="en-US" sz="1600" b="0" kern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</a:t>
            </a:r>
            <a:endParaRPr kumimoji="0" lang="zh-CN" altLang="en-US" sz="1600" b="0" kern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4519295" y="3806190"/>
            <a:ext cx="2265045" cy="13220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457200">
              <a:defRPr/>
            </a:pPr>
            <a:r>
              <a:rPr kumimoji="0" lang="zh-CN" altLang="en-US" sz="1600" b="0" kern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光谱分辨率好</a:t>
            </a:r>
            <a:endParaRPr kumimoji="0" lang="zh-CN" altLang="en-US" sz="1600" b="0" kern="0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57200">
              <a:defRPr/>
            </a:pPr>
            <a:r>
              <a:rPr kumimoji="0" lang="zh-CN" altLang="en-US" sz="1600" b="0" kern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用于分析不同能量成分</a:t>
            </a:r>
            <a:endParaRPr kumimoji="0" lang="zh-CN" altLang="en-US" sz="1600" b="0" kern="0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57200">
              <a:defRPr/>
            </a:pPr>
            <a:r>
              <a:rPr kumimoji="0" lang="zh-CN" altLang="en-US" sz="1600" b="0" kern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时间分辨率为</a:t>
            </a:r>
            <a:r>
              <a:rPr kumimoji="0" lang="en-US" altLang="zh-CN" sz="1600" b="0" kern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ms</a:t>
            </a:r>
            <a:r>
              <a:rPr kumimoji="0" lang="zh-CN" altLang="en-US" sz="1600" b="0" kern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量级</a:t>
            </a:r>
            <a:endParaRPr kumimoji="0" lang="zh-CN" altLang="en-US" sz="1600" b="0" kern="0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80555" y="3806825"/>
            <a:ext cx="2075180" cy="15684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457200">
              <a:defRPr/>
            </a:pPr>
            <a:r>
              <a:rPr kumimoji="0" lang="zh-CN" altLang="en-US" sz="1600" b="0" kern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时间分辨率好为</a:t>
            </a:r>
            <a:r>
              <a:rPr lang="zh-CN" altLang="en-US" sz="1600" kern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µs量级</a:t>
            </a:r>
            <a:endParaRPr lang="zh-CN" altLang="en-US" sz="1600" kern="0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indent="457200">
              <a:defRPr/>
            </a:pPr>
            <a:endParaRPr lang="zh-CN" altLang="en-US" sz="1600" kern="0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indent="457200">
              <a:defRPr/>
            </a:pPr>
            <a:r>
              <a:rPr lang="zh-CN" altLang="en-US" sz="1600" kern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研究不稳定性下的快离子的输运</a:t>
            </a:r>
            <a:endParaRPr lang="zh-CN" altLang="en-US" sz="1600" kern="0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indent="457200">
              <a:defRPr/>
            </a:pPr>
            <a:endParaRPr kumimoji="0" lang="zh-CN" altLang="en-US" sz="1600" b="0" kern="0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04080" y="3121660"/>
            <a:ext cx="1712595" cy="33718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p>
            <a:pPr>
              <a:buNone/>
            </a:pPr>
            <a:r>
              <a:rPr kumimoji="0" lang="en-US" altLang="zh-CN" sz="1600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s-</a:t>
            </a:r>
            <a:r>
              <a:rPr kumimoji="0" lang="zh-CN" altLang="en-US" sz="1600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FIDA</a:t>
            </a:r>
            <a:r>
              <a:rPr kumimoji="0" lang="en-US" altLang="zh-CN" sz="1600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zh-CN" altLang="en-US" sz="1600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谱仪测量</a:t>
            </a:r>
            <a:endParaRPr kumimoji="0" lang="zh-CN" altLang="en-US" sz="1600" kern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19975" y="2976880"/>
            <a:ext cx="1496695" cy="82994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p>
            <a:pPr algn="l">
              <a:buNone/>
            </a:pPr>
            <a:r>
              <a:rPr kumimoji="0" lang="en-US" altLang="zh-CN" sz="1600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f-</a:t>
            </a:r>
            <a:r>
              <a:rPr kumimoji="0" lang="zh-CN" altLang="en-US" sz="1600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FIDA</a:t>
            </a:r>
            <a:r>
              <a:rPr kumimoji="0" lang="en-US" altLang="zh-CN" sz="1600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zh-CN" altLang="en-US" sz="1600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光电倍</a:t>
            </a:r>
            <a:endParaRPr kumimoji="0" lang="zh-CN" altLang="en-US" sz="1600" kern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buNone/>
            </a:pPr>
            <a:r>
              <a:rPr kumimoji="0" lang="zh-CN" altLang="en-US" sz="1600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增管测量</a:t>
            </a:r>
            <a:r>
              <a:rPr lang="zh-CN" altLang="en-US" sz="1600" dirty="0">
                <a:solidFill>
                  <a:srgbClr val="000000"/>
                </a:solidFill>
                <a:sym typeface="+mn-ea"/>
              </a:rPr>
              <a:t> </a:t>
            </a:r>
            <a:endParaRPr lang="zh-CN" altLang="en-US" sz="1600" dirty="0">
              <a:solidFill>
                <a:srgbClr val="000000"/>
              </a:solidFill>
              <a:latin typeface="+mn-lt"/>
              <a:ea typeface="+mn-ea"/>
            </a:endParaRPr>
          </a:p>
          <a:p>
            <a:pPr>
              <a:buNone/>
            </a:pPr>
            <a:endParaRPr kumimoji="0" lang="zh-CN" altLang="en-US" sz="1600" kern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0" name="标题 8193"/>
          <p:cNvSpPr>
            <a:spLocks noGrp="1" noChangeArrowheads="1"/>
          </p:cNvSpPr>
          <p:nvPr/>
        </p:nvSpPr>
        <p:spPr>
          <a:xfrm>
            <a:off x="228600" y="95250"/>
            <a:ext cx="7924800" cy="781050"/>
          </a:xfrm>
          <a:prstGeom prst="rect">
            <a:avLst/>
          </a:prstGeom>
          <a:solidFill>
            <a:srgbClr val="003366">
              <a:alpha val="0"/>
            </a:srgbClr>
          </a:solidFill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altLang="zh-CN" sz="3200" b="0" dirty="0">
                <a:solidFill>
                  <a:srgbClr val="150A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微软雅黑" panose="020B0503020204020204" pitchFamily="34" charset="-122"/>
                <a:cs typeface="+mn-cs"/>
              </a:rPr>
              <a:t>3</a:t>
            </a:r>
            <a:r>
              <a:rPr lang="zh-CN" altLang="en-US" sz="3200" b="0" dirty="0">
                <a:solidFill>
                  <a:srgbClr val="150A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微软雅黑" panose="020B0503020204020204" pitchFamily="34" charset="-122"/>
                <a:cs typeface="+mn-cs"/>
              </a:rPr>
              <a:t>.研究原理</a:t>
            </a:r>
            <a:endParaRPr lang="zh-CN" altLang="en-US" sz="3200" b="0" dirty="0">
              <a:solidFill>
                <a:srgbClr val="150AE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35" y="1788795"/>
            <a:ext cx="2400300" cy="323850"/>
          </a:xfrm>
          <a:prstGeom prst="rect">
            <a:avLst/>
          </a:prstGeom>
        </p:spPr>
      </p:pic>
      <p:sp>
        <p:nvSpPr>
          <p:cNvPr id="9" name="五角星 8"/>
          <p:cNvSpPr/>
          <p:nvPr/>
        </p:nvSpPr>
        <p:spPr>
          <a:xfrm>
            <a:off x="4704080" y="3806825"/>
            <a:ext cx="233045" cy="213995"/>
          </a:xfrm>
          <a:prstGeom prst="star5">
            <a:avLst/>
          </a:prstGeom>
          <a:solidFill>
            <a:srgbClr val="150A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五角星 9"/>
          <p:cNvSpPr/>
          <p:nvPr/>
        </p:nvSpPr>
        <p:spPr>
          <a:xfrm>
            <a:off x="4704080" y="4091305"/>
            <a:ext cx="233045" cy="213995"/>
          </a:xfrm>
          <a:prstGeom prst="star5">
            <a:avLst/>
          </a:prstGeom>
          <a:solidFill>
            <a:srgbClr val="150A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五角星 10"/>
          <p:cNvSpPr/>
          <p:nvPr/>
        </p:nvSpPr>
        <p:spPr>
          <a:xfrm>
            <a:off x="4704080" y="4568190"/>
            <a:ext cx="233045" cy="213995"/>
          </a:xfrm>
          <a:prstGeom prst="star5">
            <a:avLst/>
          </a:prstGeom>
          <a:solidFill>
            <a:srgbClr val="150A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五角星 11"/>
          <p:cNvSpPr/>
          <p:nvPr/>
        </p:nvSpPr>
        <p:spPr>
          <a:xfrm>
            <a:off x="7122795" y="3806825"/>
            <a:ext cx="233045" cy="213995"/>
          </a:xfrm>
          <a:prstGeom prst="star5">
            <a:avLst/>
          </a:prstGeom>
          <a:solidFill>
            <a:srgbClr val="150A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五角星 12"/>
          <p:cNvSpPr/>
          <p:nvPr/>
        </p:nvSpPr>
        <p:spPr>
          <a:xfrm>
            <a:off x="7186930" y="4568190"/>
            <a:ext cx="233045" cy="213995"/>
          </a:xfrm>
          <a:prstGeom prst="star5">
            <a:avLst/>
          </a:prstGeom>
          <a:solidFill>
            <a:srgbClr val="150A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六边形 8"/>
          <p:cNvSpPr/>
          <p:nvPr/>
        </p:nvSpPr>
        <p:spPr>
          <a:xfrm>
            <a:off x="1537970" y="1630045"/>
            <a:ext cx="1007745" cy="93599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Oval 1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5331" y="2461932"/>
            <a:ext cx="1529532" cy="1543769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accent1">
                <a:alpha val="50000"/>
              </a:schemeClr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rmAutofit/>
          </a:bodyPr>
          <a:lstStyle/>
          <a:p>
            <a:pPr>
              <a:defRPr/>
            </a:pPr>
            <a:endParaRPr lang="zh-CN" altLang="en-US" sz="1015" kern="0" dirty="0">
              <a:solidFill>
                <a:sysClr val="windowText" lastClr="000000"/>
              </a:solidFill>
            </a:endParaRPr>
          </a:p>
        </p:txBody>
      </p:sp>
      <p:sp>
        <p:nvSpPr>
          <p:cNvPr id="30" name="Oval 19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2349786" y="2671793"/>
            <a:ext cx="121963" cy="12195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round/>
          </a:ln>
          <a:effectLst/>
        </p:spPr>
        <p:txBody>
          <a:bodyPr wrap="none" anchor="ctr">
            <a:normAutofit fontScale="55000" lnSpcReduction="20000"/>
          </a:bodyPr>
          <a:lstStyle/>
          <a:p>
            <a:pPr>
              <a:defRPr/>
            </a:pPr>
            <a:endParaRPr lang="zh-CN" altLang="en-US" sz="1015" kern="0" dirty="0">
              <a:solidFill>
                <a:sysClr val="windowText" lastClr="000000"/>
              </a:solidFill>
            </a:endParaRPr>
          </a:p>
        </p:txBody>
      </p:sp>
      <p:sp>
        <p:nvSpPr>
          <p:cNvPr id="33" name="Line 16"/>
          <p:cNvSpPr>
            <a:spLocks noChangeShapeType="1"/>
          </p:cNvSpPr>
          <p:nvPr>
            <p:custDataLst>
              <p:tags r:id="rId3"/>
            </p:custDataLst>
          </p:nvPr>
        </p:nvSpPr>
        <p:spPr bwMode="gray">
          <a:xfrm>
            <a:off x="1158608" y="3400652"/>
            <a:ext cx="1689582" cy="0"/>
          </a:xfrm>
          <a:prstGeom prst="line">
            <a:avLst/>
          </a:prstGeom>
          <a:noFill/>
          <a:ln w="28575">
            <a:solidFill>
              <a:schemeClr val="accent1">
                <a:alpha val="5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 fontScale="25000" lnSpcReduction="20000"/>
          </a:bodyPr>
          <a:lstStyle/>
          <a:p>
            <a:pPr>
              <a:defRPr/>
            </a:pPr>
            <a:endParaRPr lang="zh-CN" altLang="en-US" sz="1015" kern="0" dirty="0">
              <a:solidFill>
                <a:sysClr val="windowText" lastClr="000000"/>
              </a:solidFill>
            </a:endParaRPr>
          </a:p>
        </p:txBody>
      </p:sp>
      <p:sp>
        <p:nvSpPr>
          <p:cNvPr id="34" name="Line 17"/>
          <p:cNvSpPr>
            <a:spLocks noChangeShapeType="1"/>
          </p:cNvSpPr>
          <p:nvPr>
            <p:custDataLst>
              <p:tags r:id="rId4"/>
            </p:custDataLst>
          </p:nvPr>
        </p:nvSpPr>
        <p:spPr bwMode="gray">
          <a:xfrm>
            <a:off x="2003399" y="2511384"/>
            <a:ext cx="0" cy="1777033"/>
          </a:xfrm>
          <a:prstGeom prst="line">
            <a:avLst/>
          </a:prstGeom>
          <a:noFill/>
          <a:ln w="28575">
            <a:solidFill>
              <a:schemeClr val="accent1">
                <a:alpha val="5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 fontScale="25000" lnSpcReduction="20000"/>
          </a:bodyPr>
          <a:lstStyle/>
          <a:p>
            <a:pPr>
              <a:defRPr/>
            </a:pPr>
            <a:endParaRPr lang="zh-CN" altLang="en-US" sz="1015" kern="0" dirty="0">
              <a:solidFill>
                <a:sysClr val="windowText" lastClr="000000"/>
              </a:solidFill>
            </a:endParaRPr>
          </a:p>
        </p:txBody>
      </p:sp>
      <p:sp>
        <p:nvSpPr>
          <p:cNvPr id="35" name="Oval 10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1326207" y="2712941"/>
            <a:ext cx="1352874" cy="1363349"/>
          </a:xfrm>
          <a:prstGeom prst="ellipse">
            <a:avLst/>
          </a:prstGeom>
          <a:noFill/>
          <a:ln w="9525">
            <a:solidFill>
              <a:schemeClr val="accent1">
                <a:alpha val="5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64999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rmAutofit/>
          </a:bodyPr>
          <a:lstStyle/>
          <a:p>
            <a:pPr>
              <a:defRPr/>
            </a:pPr>
            <a:endParaRPr lang="zh-CN" altLang="en-US" sz="1015" kern="0" dirty="0">
              <a:solidFill>
                <a:sysClr val="windowText" lastClr="000000"/>
              </a:solidFill>
            </a:endParaRPr>
          </a:p>
        </p:txBody>
      </p:sp>
      <p:sp>
        <p:nvSpPr>
          <p:cNvPr id="37" name="Oval 13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521935" y="2746302"/>
            <a:ext cx="1036814" cy="1058353"/>
          </a:xfrm>
          <a:prstGeom prst="ellipse">
            <a:avLst/>
          </a:prstGeom>
          <a:solidFill>
            <a:srgbClr val="150AEC"/>
          </a:solidFill>
          <a:ln w="0">
            <a:noFill/>
          </a:ln>
          <a:effectLst/>
        </p:spPr>
        <p:txBody>
          <a:bodyPr wrap="none" anchor="ctr">
            <a:normAutofit/>
          </a:bodyPr>
          <a:lstStyle/>
          <a:p>
            <a:pPr>
              <a:defRPr/>
            </a:pPr>
            <a:endParaRPr lang="zh-CN" altLang="en-US" sz="1015" kern="0" dirty="0">
              <a:solidFill>
                <a:sysClr val="windowText" lastClr="000000"/>
              </a:solidFill>
            </a:endParaRPr>
          </a:p>
        </p:txBody>
      </p:sp>
      <p:sp>
        <p:nvSpPr>
          <p:cNvPr id="51" name="KSO_GT1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708892" y="2936570"/>
            <a:ext cx="663727" cy="67782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lIns="0" tIns="0" rIns="0" bIns="0" anchor="ctr">
            <a:normAutofit fontScale="70000"/>
          </a:bodyPr>
          <a:lstStyle/>
          <a:p>
            <a:pPr algn="ctr"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基础</a:t>
            </a:r>
            <a:endParaRPr lang="zh-CN" altLang="en-US" sz="2400" kern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Oval 19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2713292" y="3328370"/>
            <a:ext cx="121963" cy="12195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round/>
          </a:ln>
          <a:effectLst/>
        </p:spPr>
        <p:txBody>
          <a:bodyPr wrap="none" anchor="ctr">
            <a:normAutofit fontScale="55000" lnSpcReduction="20000"/>
          </a:bodyPr>
          <a:lstStyle/>
          <a:p>
            <a:pPr>
              <a:defRPr/>
            </a:pPr>
            <a:endParaRPr lang="zh-CN" altLang="en-US" sz="1015" kern="0" dirty="0">
              <a:solidFill>
                <a:sysClr val="windowText" lastClr="000000"/>
              </a:solidFill>
            </a:endParaRPr>
          </a:p>
        </p:txBody>
      </p:sp>
      <p:sp>
        <p:nvSpPr>
          <p:cNvPr id="25" name="Oval 19"/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2347476" y="3996839"/>
            <a:ext cx="121963" cy="12195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round/>
          </a:ln>
          <a:effectLst/>
        </p:spPr>
        <p:txBody>
          <a:bodyPr wrap="none" anchor="ctr">
            <a:normAutofit fontScale="55000" lnSpcReduction="20000"/>
          </a:bodyPr>
          <a:lstStyle/>
          <a:p>
            <a:pPr>
              <a:defRPr/>
            </a:pPr>
            <a:endParaRPr lang="zh-CN" altLang="en-US" sz="1015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Oval 19"/>
          <p:cNvSpPr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4358695" y="2532898"/>
            <a:ext cx="228326" cy="22831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round/>
          </a:ln>
          <a:effectLst/>
        </p:spPr>
        <p:txBody>
          <a:bodyPr wrap="none" anchor="ctr">
            <a:normAutofit fontScale="55000" lnSpcReduction="20000"/>
          </a:bodyPr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</a:endParaRPr>
          </a:p>
        </p:txBody>
      </p:sp>
      <p:sp>
        <p:nvSpPr>
          <p:cNvPr id="3" name="Oval 19"/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1576704" y="2565763"/>
            <a:ext cx="228326" cy="228311"/>
          </a:xfrm>
          <a:prstGeom prst="ellipse">
            <a:avLst/>
          </a:prstGeom>
          <a:solidFill>
            <a:srgbClr val="150AEC"/>
          </a:solidFill>
          <a:ln w="12700">
            <a:solidFill>
              <a:srgbClr val="002060"/>
            </a:solidFill>
            <a:round/>
          </a:ln>
          <a:effectLst/>
        </p:spPr>
        <p:txBody>
          <a:bodyPr wrap="none" anchor="ctr">
            <a:normAutofit fontScale="55000" lnSpcReduction="20000"/>
          </a:bodyPr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Oval 19"/>
          <p:cNvSpPr>
            <a:spLocks noChangeArrowheads="1"/>
          </p:cNvSpPr>
          <p:nvPr>
            <p:custDataLst>
              <p:tags r:id="rId12"/>
            </p:custDataLst>
          </p:nvPr>
        </p:nvSpPr>
        <p:spPr bwMode="gray">
          <a:xfrm>
            <a:off x="1453893" y="3848074"/>
            <a:ext cx="228326" cy="228311"/>
          </a:xfrm>
          <a:prstGeom prst="ellipse">
            <a:avLst/>
          </a:prstGeom>
          <a:solidFill>
            <a:srgbClr val="150AEC"/>
          </a:solidFill>
          <a:ln w="12700">
            <a:solidFill>
              <a:srgbClr val="002060"/>
            </a:solidFill>
            <a:round/>
          </a:ln>
          <a:effectLst/>
        </p:spPr>
        <p:txBody>
          <a:bodyPr wrap="none" anchor="ctr">
            <a:normAutofit fontScale="55000" lnSpcReduction="20000"/>
          </a:bodyPr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48460" y="1918970"/>
            <a:ext cx="1501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s-FIDA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2469515" y="3875405"/>
            <a:ext cx="2040890" cy="1337310"/>
          </a:xfrm>
          <a:prstGeom prst="rect">
            <a:avLst/>
          </a:prstGeom>
        </p:spPr>
      </p:pic>
      <p:pic>
        <p:nvPicPr>
          <p:cNvPr id="54277" name="Picture 5" descr="C:\Users\Administrator\AppData\Roaming\Tencent\Users\44688391\QQ\WinTemp\RichOle\R)KL@7$_EBTC@32D04}A5AV.png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5172075" y="3813175"/>
            <a:ext cx="3789045" cy="838200"/>
          </a:xfrm>
          <a:prstGeom prst="rect">
            <a:avLst/>
          </a:prstGeom>
          <a:noFill/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469515" y="5295265"/>
            <a:ext cx="1970405" cy="1456055"/>
          </a:xfrm>
          <a:prstGeom prst="rect">
            <a:avLst/>
          </a:prstGeom>
        </p:spPr>
      </p:pic>
      <p:pic>
        <p:nvPicPr>
          <p:cNvPr id="54276" name="Picture 4" descr="C:\Users\Administrator\AppData\Roaming\Tencent\Users\44688391\QQ\WinTemp\RichOle\3F4ZN~[VM749VCOY(@_]`)N.png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5172710" y="4526280"/>
            <a:ext cx="3788410" cy="855345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4510094" y="4118910"/>
            <a:ext cx="745490" cy="70675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p>
            <a:pPr>
              <a:buNone/>
            </a:pPr>
            <a:r>
              <a:rPr lang="en-US" altLang="zh-CN" sz="2000" dirty="0" smtClean="0">
                <a:latin typeface="Century Gothic" panose="020B0502020202020204" pitchFamily="34" charset="0"/>
              </a:rPr>
              <a:t>PMT </a:t>
            </a:r>
            <a:endParaRPr lang="en-US" altLang="zh-CN" sz="2000" dirty="0" smtClean="0">
              <a:latin typeface="Century Gothic" panose="020B0502020202020204" pitchFamily="34" charset="0"/>
            </a:endParaRPr>
          </a:p>
          <a:p>
            <a:pPr>
              <a:buNone/>
            </a:pPr>
            <a:r>
              <a:rPr lang="zh-CN" altLang="en-US" sz="2000" dirty="0" smtClean="0">
                <a:latin typeface="Century Gothic" panose="020B0502020202020204" pitchFamily="34" charset="0"/>
              </a:rPr>
              <a:t>阵列</a:t>
            </a:r>
            <a:endParaRPr lang="zh-CN" altLang="en-US" sz="2000" dirty="0" smtClean="0">
              <a:latin typeface="Century Gothic" panose="020B0502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81490" y="5598460"/>
            <a:ext cx="690880" cy="70675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p>
            <a:pPr>
              <a:buNone/>
            </a:pPr>
            <a:r>
              <a:rPr lang="zh-CN" altLang="en-US" sz="2000" dirty="0" smtClean="0">
                <a:latin typeface="Century Gothic" panose="020B0502020202020204" pitchFamily="34" charset="0"/>
              </a:rPr>
              <a:t>单道</a:t>
            </a:r>
            <a:endParaRPr lang="zh-CN" altLang="en-US" sz="2000" dirty="0" smtClean="0">
              <a:latin typeface="Century Gothic" panose="020B0502020202020204" pitchFamily="34" charset="0"/>
            </a:endParaRPr>
          </a:p>
          <a:p>
            <a:pPr>
              <a:buNone/>
            </a:pPr>
            <a:r>
              <a:rPr lang="en-US" altLang="zh-CN" sz="2000" dirty="0" smtClean="0">
                <a:latin typeface="Century Gothic" panose="020B0502020202020204" pitchFamily="34" charset="0"/>
              </a:rPr>
              <a:t>PMT</a:t>
            </a:r>
            <a:endParaRPr lang="zh-CN" altLang="en-US" sz="2000" dirty="0" smtClean="0">
              <a:latin typeface="Century Gothic" panose="020B0502020202020204" pitchFamily="34" charset="0"/>
            </a:endParaRPr>
          </a:p>
        </p:txBody>
      </p:sp>
      <p:sp>
        <p:nvSpPr>
          <p:cNvPr id="11" name="六边形 10"/>
          <p:cNvSpPr/>
          <p:nvPr/>
        </p:nvSpPr>
        <p:spPr>
          <a:xfrm>
            <a:off x="1385570" y="4076065"/>
            <a:ext cx="1007745" cy="93599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标题 10241"/>
          <p:cNvSpPr>
            <a:spLocks noGrp="1" noChangeArrowheads="1"/>
          </p:cNvSpPr>
          <p:nvPr>
            <p:ph type="title"/>
          </p:nvPr>
        </p:nvSpPr>
        <p:spPr>
          <a:xfrm>
            <a:off x="228600" y="78105"/>
            <a:ext cx="7924800" cy="781050"/>
          </a:xfrm>
        </p:spPr>
        <p:txBody>
          <a:bodyPr/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zh-CN" altLang="en-US" sz="3200" b="0" dirty="0">
                <a:solidFill>
                  <a:srgbClr val="150A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微软雅黑" panose="020B0503020204020204" pitchFamily="34" charset="-122"/>
                <a:cs typeface="+mn-cs"/>
              </a:rPr>
              <a:t>4.研究基础及进展</a:t>
            </a:r>
            <a:endParaRPr lang="zh-CN" altLang="en-US" sz="3200" b="0" dirty="0">
              <a:solidFill>
                <a:srgbClr val="150AE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87170" y="4149725"/>
            <a:ext cx="15011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f-FIDA</a:t>
            </a:r>
            <a:endParaRPr lang="en-US" altLang="zh-CN"/>
          </a:p>
          <a:p>
            <a:r>
              <a:rPr lang="zh-CN" altLang="en-US"/>
              <a:t>的搭建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468110" y="2550160"/>
            <a:ext cx="2329815" cy="9531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p>
            <a:pPr marL="182880" lvl="0" indent="-182880"/>
            <a:r>
              <a:rPr lang="it-IT" altLang="zh-CN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</a:rPr>
              <a:t>J. Huang, et al., </a:t>
            </a:r>
            <a:r>
              <a:rPr lang="it-IT" altLang="zh-CN" sz="1400" i="1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</a:rPr>
              <a:t>RSI</a:t>
            </a:r>
            <a:r>
              <a:rPr lang="it-IT" altLang="zh-CN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</a:rPr>
              <a:t> 85, 11E407 (2014)</a:t>
            </a:r>
            <a:endParaRPr lang="it-IT" altLang="zh-CN" sz="1400" dirty="0" smtClean="0">
              <a:solidFill>
                <a:srgbClr val="0070C0"/>
              </a:solidFill>
              <a:latin typeface="Century Gothic" panose="020B0502020202020204" pitchFamily="34" charset="0"/>
              <a:ea typeface="华文中宋"/>
            </a:endParaRPr>
          </a:p>
          <a:p>
            <a:pPr marL="182880" lvl="0" indent="-182880"/>
            <a:r>
              <a:rPr lang="it-IT" altLang="zh-CN" sz="1400" dirty="0" smtClean="0">
                <a:solidFill>
                  <a:srgbClr val="0070C0"/>
                </a:solidFill>
                <a:latin typeface="Century Gothic" panose="020B0502020202020204" pitchFamily="34" charset="0"/>
                <a:ea typeface="华文中宋"/>
              </a:rPr>
              <a:t>Y. Hou, et al., RSI 87, 11E552 (2016)</a:t>
            </a:r>
            <a:endParaRPr lang="it-IT" altLang="zh-CN" sz="1400" dirty="0" smtClean="0">
              <a:solidFill>
                <a:srgbClr val="0070C0"/>
              </a:solidFill>
              <a:latin typeface="Century Gothic" panose="020B0502020202020204" pitchFamily="34" charset="0"/>
              <a:ea typeface="华文中宋"/>
            </a:endParaRPr>
          </a:p>
        </p:txBody>
      </p:sp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6140450" y="970915"/>
            <a:ext cx="2953385" cy="1491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5252720" y="5354320"/>
          <a:ext cx="3234690" cy="119443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08735"/>
                <a:gridCol w="1200785"/>
                <a:gridCol w="725170"/>
              </a:tblGrid>
              <a:tr h="419735">
                <a:tc>
                  <a:txBody>
                    <a:bodyPr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PMT</a:t>
                      </a:r>
                      <a:r>
                        <a:rPr lang="en-US" altLang="zh-CN" sz="1200" b="1" dirty="0" smtClean="0">
                          <a:latin typeface="Calibri" panose="020F0502020204030204" pitchFamily="34" charset="0"/>
                        </a:rPr>
                        <a:t>r</a:t>
                      </a:r>
                      <a:endParaRPr lang="en-US" altLang="zh-CN" sz="1200" b="1" dirty="0" smtClean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光利用率</a:t>
                      </a:r>
                      <a:endParaRPr lang="zh-CN" altLang="en-US" sz="1200" b="1" dirty="0" smtClean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采样率</a:t>
                      </a:r>
                      <a:endParaRPr lang="zh-CN" altLang="en-US" sz="1200" b="1" dirty="0" smtClean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</a:tr>
              <a:tr h="419735">
                <a:tc>
                  <a:txBody>
                    <a:bodyPr/>
                    <a:p>
                      <a:pPr algn="ctr"/>
                      <a:r>
                        <a:rPr lang="en-US" altLang="zh-CN" sz="1200" b="1" dirty="0" err="1" smtClean="0">
                          <a:latin typeface="Calibri" panose="020F0502020204030204" pitchFamily="34" charset="0"/>
                        </a:rPr>
                        <a:t>PMT</a:t>
                      </a:r>
                      <a:r>
                        <a:rPr lang="zh-CN" altLang="en-US" sz="1200" b="1" dirty="0" err="1" smtClean="0">
                          <a:latin typeface="Calibri" panose="020F0502020204030204" pitchFamily="34" charset="0"/>
                        </a:rPr>
                        <a:t>阵列</a:t>
                      </a:r>
                      <a:endParaRPr lang="zh-CN" altLang="en-US" sz="1200" b="1" dirty="0" err="1" smtClean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200" dirty="0" smtClean="0">
                          <a:solidFill>
                            <a:schemeClr val="dk1"/>
                          </a:solidFill>
                          <a:sym typeface="+mn-ea"/>
                        </a:rPr>
                        <a:t>60%</a:t>
                      </a:r>
                      <a:endParaRPr lang="en-US" altLang="zh-CN" sz="1200" b="1" dirty="0" smtClean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200" b="1" dirty="0" smtClean="0">
                          <a:latin typeface="Calibri" panose="020F0502020204030204" pitchFamily="34" charset="0"/>
                        </a:rPr>
                        <a:t>20KHZ</a:t>
                      </a:r>
                      <a:endParaRPr lang="en-US" altLang="zh-CN" sz="1200" b="1" dirty="0" smtClean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</a:tr>
              <a:tr h="354965">
                <a:tc>
                  <a:txBody>
                    <a:bodyPr/>
                    <a:p>
                      <a:pPr algn="ctr"/>
                      <a:r>
                        <a:rPr lang="zh-CN" altLang="en-US" sz="1200" b="1" dirty="0" smtClean="0">
                          <a:latin typeface="Calibri" panose="020F0502020204030204" pitchFamily="34" charset="0"/>
                        </a:rPr>
                        <a:t>单道</a:t>
                      </a:r>
                      <a:r>
                        <a:rPr lang="en-US" altLang="zh-CN" sz="1200" b="1" dirty="0" smtClean="0">
                          <a:latin typeface="Calibri" panose="020F0502020204030204" pitchFamily="34" charset="0"/>
                        </a:rPr>
                        <a:t>PMT</a:t>
                      </a:r>
                      <a:endParaRPr lang="en-US" altLang="zh-CN" sz="1200" b="1" dirty="0" smtClean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200" dirty="0" smtClean="0">
                          <a:solidFill>
                            <a:schemeClr val="dk1"/>
                          </a:solidFill>
                          <a:sym typeface="+mn-ea"/>
                        </a:rPr>
                        <a:t>90</a:t>
                      </a:r>
                      <a:r>
                        <a:rPr lang="zh-CN" altLang="en-US" sz="1200" dirty="0" smtClean="0">
                          <a:solidFill>
                            <a:schemeClr val="dk1"/>
                          </a:solidFill>
                          <a:sym typeface="+mn-ea"/>
                        </a:rPr>
                        <a:t>%</a:t>
                      </a:r>
                      <a:endParaRPr lang="en-US" altLang="zh-CN" sz="1200" b="1" dirty="0" smtClean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200" b="1" dirty="0" smtClean="0">
                          <a:latin typeface="Calibri" panose="020F0502020204030204" pitchFamily="34" charset="0"/>
                        </a:rPr>
                        <a:t>2MHZ</a:t>
                      </a:r>
                      <a:endParaRPr lang="en-US" altLang="zh-CN" sz="1200" b="1" dirty="0" smtClean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图片 3" descr="触发图"/>
          <p:cNvPicPr>
            <a:picLocks noChangeAspect="1"/>
          </p:cNvPicPr>
          <p:nvPr/>
        </p:nvPicPr>
        <p:blipFill>
          <a:blip r:embed="rId18"/>
          <a:srcRect r="26682" b="1168"/>
          <a:stretch>
            <a:fillRect/>
          </a:stretch>
        </p:blipFill>
        <p:spPr>
          <a:xfrm>
            <a:off x="2545715" y="970915"/>
            <a:ext cx="3728720" cy="2632710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六边形 8"/>
          <p:cNvSpPr/>
          <p:nvPr/>
        </p:nvSpPr>
        <p:spPr>
          <a:xfrm>
            <a:off x="1537970" y="1630045"/>
            <a:ext cx="1007745" cy="93599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Oval 1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5331" y="2461932"/>
            <a:ext cx="1529532" cy="1543769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accent1">
                <a:alpha val="50000"/>
              </a:schemeClr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rmAutofit/>
          </a:bodyPr>
          <a:lstStyle/>
          <a:p>
            <a:pPr>
              <a:defRPr/>
            </a:pPr>
            <a:endParaRPr lang="zh-CN" altLang="en-US" sz="1015" kern="0" dirty="0">
              <a:solidFill>
                <a:sysClr val="windowText" lastClr="000000"/>
              </a:solidFill>
            </a:endParaRPr>
          </a:p>
        </p:txBody>
      </p:sp>
      <p:sp>
        <p:nvSpPr>
          <p:cNvPr id="30" name="Oval 19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2349786" y="2671793"/>
            <a:ext cx="121963" cy="12195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round/>
          </a:ln>
          <a:effectLst/>
        </p:spPr>
        <p:txBody>
          <a:bodyPr wrap="none" anchor="ctr">
            <a:normAutofit fontScale="55000" lnSpcReduction="20000"/>
          </a:bodyPr>
          <a:lstStyle/>
          <a:p>
            <a:pPr>
              <a:defRPr/>
            </a:pPr>
            <a:endParaRPr lang="zh-CN" altLang="en-US" sz="1015" kern="0" dirty="0">
              <a:solidFill>
                <a:sysClr val="windowText" lastClr="000000"/>
              </a:solidFill>
            </a:endParaRPr>
          </a:p>
        </p:txBody>
      </p:sp>
      <p:sp>
        <p:nvSpPr>
          <p:cNvPr id="33" name="Line 16"/>
          <p:cNvSpPr>
            <a:spLocks noChangeShapeType="1"/>
          </p:cNvSpPr>
          <p:nvPr>
            <p:custDataLst>
              <p:tags r:id="rId3"/>
            </p:custDataLst>
          </p:nvPr>
        </p:nvSpPr>
        <p:spPr bwMode="gray">
          <a:xfrm>
            <a:off x="1158608" y="3400652"/>
            <a:ext cx="1689582" cy="0"/>
          </a:xfrm>
          <a:prstGeom prst="line">
            <a:avLst/>
          </a:prstGeom>
          <a:noFill/>
          <a:ln w="28575">
            <a:solidFill>
              <a:schemeClr val="accent1">
                <a:alpha val="5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 fontScale="25000" lnSpcReduction="20000"/>
          </a:bodyPr>
          <a:lstStyle/>
          <a:p>
            <a:pPr>
              <a:defRPr/>
            </a:pPr>
            <a:endParaRPr lang="zh-CN" altLang="en-US" sz="1015" kern="0" dirty="0">
              <a:solidFill>
                <a:sysClr val="windowText" lastClr="000000"/>
              </a:solidFill>
            </a:endParaRPr>
          </a:p>
        </p:txBody>
      </p:sp>
      <p:sp>
        <p:nvSpPr>
          <p:cNvPr id="34" name="Line 17"/>
          <p:cNvSpPr>
            <a:spLocks noChangeShapeType="1"/>
          </p:cNvSpPr>
          <p:nvPr>
            <p:custDataLst>
              <p:tags r:id="rId4"/>
            </p:custDataLst>
          </p:nvPr>
        </p:nvSpPr>
        <p:spPr bwMode="gray">
          <a:xfrm>
            <a:off x="2003399" y="2511384"/>
            <a:ext cx="0" cy="1777033"/>
          </a:xfrm>
          <a:prstGeom prst="line">
            <a:avLst/>
          </a:prstGeom>
          <a:noFill/>
          <a:ln w="28575">
            <a:solidFill>
              <a:schemeClr val="accent1">
                <a:alpha val="5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 fontScale="25000" lnSpcReduction="20000"/>
          </a:bodyPr>
          <a:lstStyle/>
          <a:p>
            <a:pPr>
              <a:defRPr/>
            </a:pPr>
            <a:endParaRPr lang="zh-CN" altLang="en-US" sz="1015" kern="0" dirty="0">
              <a:solidFill>
                <a:sysClr val="windowText" lastClr="000000"/>
              </a:solidFill>
            </a:endParaRPr>
          </a:p>
        </p:txBody>
      </p:sp>
      <p:sp>
        <p:nvSpPr>
          <p:cNvPr id="35" name="Oval 10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1326207" y="2712941"/>
            <a:ext cx="1352874" cy="1363349"/>
          </a:xfrm>
          <a:prstGeom prst="ellipse">
            <a:avLst/>
          </a:prstGeom>
          <a:noFill/>
          <a:ln w="9525">
            <a:solidFill>
              <a:schemeClr val="accent1">
                <a:alpha val="5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64999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rmAutofit/>
          </a:bodyPr>
          <a:lstStyle/>
          <a:p>
            <a:pPr>
              <a:defRPr/>
            </a:pPr>
            <a:endParaRPr lang="zh-CN" altLang="en-US" sz="1015" kern="0" dirty="0">
              <a:solidFill>
                <a:sysClr val="windowText" lastClr="000000"/>
              </a:solidFill>
            </a:endParaRPr>
          </a:p>
        </p:txBody>
      </p:sp>
      <p:sp>
        <p:nvSpPr>
          <p:cNvPr id="37" name="Oval 13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521935" y="2746302"/>
            <a:ext cx="1036814" cy="1058353"/>
          </a:xfrm>
          <a:prstGeom prst="ellipse">
            <a:avLst/>
          </a:prstGeom>
          <a:solidFill>
            <a:srgbClr val="150AEC"/>
          </a:solidFill>
          <a:ln w="0">
            <a:noFill/>
          </a:ln>
          <a:effectLst/>
        </p:spPr>
        <p:txBody>
          <a:bodyPr wrap="none" anchor="ctr">
            <a:normAutofit/>
          </a:bodyPr>
          <a:lstStyle/>
          <a:p>
            <a:pPr>
              <a:defRPr/>
            </a:pPr>
            <a:endParaRPr lang="zh-CN" altLang="en-US" sz="1015" kern="0" dirty="0">
              <a:solidFill>
                <a:sysClr val="windowText" lastClr="000000"/>
              </a:solidFill>
            </a:endParaRPr>
          </a:p>
        </p:txBody>
      </p:sp>
      <p:sp>
        <p:nvSpPr>
          <p:cNvPr id="51" name="KSO_GT1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708892" y="2936570"/>
            <a:ext cx="663727" cy="67782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lIns="0" tIns="0" rIns="0" bIns="0" anchor="ctr">
            <a:normAutofit fontScale="70000"/>
          </a:bodyPr>
          <a:lstStyle/>
          <a:p>
            <a:pPr algn="ctr"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进展</a:t>
            </a:r>
            <a:endParaRPr lang="zh-CN" altLang="en-US" sz="2400" kern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Oval 19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2713292" y="3328370"/>
            <a:ext cx="121963" cy="12195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round/>
          </a:ln>
          <a:effectLst/>
        </p:spPr>
        <p:txBody>
          <a:bodyPr wrap="none" anchor="ctr">
            <a:normAutofit fontScale="55000" lnSpcReduction="20000"/>
          </a:bodyPr>
          <a:lstStyle/>
          <a:p>
            <a:pPr>
              <a:defRPr/>
            </a:pPr>
            <a:endParaRPr lang="zh-CN" altLang="en-US" sz="1015" kern="0" dirty="0">
              <a:solidFill>
                <a:sysClr val="windowText" lastClr="000000"/>
              </a:solidFill>
            </a:endParaRPr>
          </a:p>
        </p:txBody>
      </p:sp>
      <p:sp>
        <p:nvSpPr>
          <p:cNvPr id="25" name="Oval 19"/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2347476" y="3996839"/>
            <a:ext cx="121963" cy="12195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round/>
          </a:ln>
          <a:effectLst/>
        </p:spPr>
        <p:txBody>
          <a:bodyPr wrap="none" anchor="ctr">
            <a:normAutofit fontScale="55000" lnSpcReduction="20000"/>
          </a:bodyPr>
          <a:lstStyle/>
          <a:p>
            <a:pPr>
              <a:defRPr/>
            </a:pPr>
            <a:endParaRPr lang="zh-CN" altLang="en-US" sz="1015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Oval 19"/>
          <p:cNvSpPr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4358695" y="2532898"/>
            <a:ext cx="228326" cy="22831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round/>
          </a:ln>
          <a:effectLst/>
        </p:spPr>
        <p:txBody>
          <a:bodyPr wrap="none" anchor="ctr">
            <a:normAutofit fontScale="55000" lnSpcReduction="20000"/>
          </a:bodyPr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</a:endParaRPr>
          </a:p>
        </p:txBody>
      </p:sp>
      <p:sp>
        <p:nvSpPr>
          <p:cNvPr id="3" name="Oval 19"/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1576704" y="2565763"/>
            <a:ext cx="228326" cy="228311"/>
          </a:xfrm>
          <a:prstGeom prst="ellipse">
            <a:avLst/>
          </a:prstGeom>
          <a:solidFill>
            <a:srgbClr val="150AEC"/>
          </a:solidFill>
          <a:ln w="12700">
            <a:solidFill>
              <a:srgbClr val="002060"/>
            </a:solidFill>
            <a:round/>
          </a:ln>
          <a:effectLst/>
        </p:spPr>
        <p:txBody>
          <a:bodyPr wrap="none" anchor="ctr">
            <a:normAutofit fontScale="55000" lnSpcReduction="20000"/>
          </a:bodyPr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Oval 19"/>
          <p:cNvSpPr>
            <a:spLocks noChangeArrowheads="1"/>
          </p:cNvSpPr>
          <p:nvPr>
            <p:custDataLst>
              <p:tags r:id="rId12"/>
            </p:custDataLst>
          </p:nvPr>
        </p:nvSpPr>
        <p:spPr bwMode="gray">
          <a:xfrm>
            <a:off x="1453893" y="3848074"/>
            <a:ext cx="228326" cy="228311"/>
          </a:xfrm>
          <a:prstGeom prst="ellipse">
            <a:avLst/>
          </a:prstGeom>
          <a:solidFill>
            <a:srgbClr val="150AEC"/>
          </a:solidFill>
          <a:ln w="12700">
            <a:solidFill>
              <a:srgbClr val="002060"/>
            </a:solidFill>
            <a:round/>
          </a:ln>
          <a:effectLst/>
        </p:spPr>
        <p:txBody>
          <a:bodyPr wrap="none" anchor="ctr">
            <a:normAutofit fontScale="55000" lnSpcReduction="20000"/>
          </a:bodyPr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76705" y="1775460"/>
            <a:ext cx="15011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f-FIDA</a:t>
            </a:r>
            <a:endParaRPr lang="en-US" altLang="zh-CN"/>
          </a:p>
          <a:p>
            <a:r>
              <a:rPr lang="zh-CN" altLang="en-US"/>
              <a:t>的测试</a:t>
            </a:r>
            <a:endParaRPr lang="zh-CN" altLang="en-US"/>
          </a:p>
        </p:txBody>
      </p:sp>
      <p:sp>
        <p:nvSpPr>
          <p:cNvPr id="11" name="六边形 10"/>
          <p:cNvSpPr/>
          <p:nvPr/>
        </p:nvSpPr>
        <p:spPr>
          <a:xfrm>
            <a:off x="1385570" y="4076065"/>
            <a:ext cx="1007745" cy="93599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标题 10241"/>
          <p:cNvSpPr>
            <a:spLocks noGrp="1" noChangeArrowheads="1"/>
          </p:cNvSpPr>
          <p:nvPr>
            <p:ph type="title"/>
          </p:nvPr>
        </p:nvSpPr>
        <p:spPr>
          <a:xfrm>
            <a:off x="275590" y="48260"/>
            <a:ext cx="7924800" cy="781050"/>
          </a:xfrm>
        </p:spPr>
        <p:txBody>
          <a:bodyPr/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zh-CN" altLang="en-US" sz="3200" b="0" dirty="0">
                <a:solidFill>
                  <a:srgbClr val="150A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微软雅黑" panose="020B0503020204020204" pitchFamily="34" charset="-122"/>
                <a:cs typeface="+mn-cs"/>
              </a:rPr>
              <a:t>4.研究基础及进展</a:t>
            </a:r>
            <a:endParaRPr lang="zh-CN" altLang="en-US" sz="3200" b="0" dirty="0">
              <a:solidFill>
                <a:srgbClr val="150AE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87170" y="4221480"/>
            <a:ext cx="15011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实验的</a:t>
            </a:r>
            <a:endParaRPr lang="zh-CN" altLang="en-US"/>
          </a:p>
          <a:p>
            <a:r>
              <a:rPr lang="zh-CN" altLang="en-US"/>
              <a:t>验证</a:t>
            </a:r>
            <a:endParaRPr lang="zh-CN" altLang="en-US"/>
          </a:p>
        </p:txBody>
      </p:sp>
      <p:pic>
        <p:nvPicPr>
          <p:cNvPr id="15" name="图片 14" descr="单道角度"/>
          <p:cNvPicPr>
            <a:picLocks noChangeAspect="1"/>
          </p:cNvPicPr>
          <p:nvPr/>
        </p:nvPicPr>
        <p:blipFill>
          <a:blip r:embed="rId13"/>
          <a:srcRect l="421" t="10386"/>
          <a:stretch>
            <a:fillRect/>
          </a:stretch>
        </p:blipFill>
        <p:spPr>
          <a:xfrm>
            <a:off x="4767580" y="996315"/>
            <a:ext cx="2251075" cy="1621790"/>
          </a:xfrm>
          <a:prstGeom prst="rect">
            <a:avLst/>
          </a:prstGeom>
        </p:spPr>
      </p:pic>
      <p:pic>
        <p:nvPicPr>
          <p:cNvPr id="18" name="图片 17" descr="移动光纤"/>
          <p:cNvPicPr>
            <a:picLocks noChangeAspect="1"/>
          </p:cNvPicPr>
          <p:nvPr/>
        </p:nvPicPr>
        <p:blipFill>
          <a:blip r:embed="rId14"/>
          <a:srcRect l="818" t="9944"/>
          <a:stretch>
            <a:fillRect/>
          </a:stretch>
        </p:blipFill>
        <p:spPr>
          <a:xfrm>
            <a:off x="6803390" y="998855"/>
            <a:ext cx="2232025" cy="1621790"/>
          </a:xfrm>
          <a:prstGeom prst="rect">
            <a:avLst/>
          </a:prstGeom>
        </p:spPr>
      </p:pic>
      <p:pic>
        <p:nvPicPr>
          <p:cNvPr id="24" name="图片 23" descr="fFIDA_Ip_Ne75438_"/>
          <p:cNvPicPr>
            <a:picLocks noChangeAspect="1"/>
          </p:cNvPicPr>
          <p:nvPr/>
        </p:nvPicPr>
        <p:blipFill>
          <a:blip r:embed="rId15"/>
          <a:srcRect l="50442" t="-976" r="3885" b="4275"/>
          <a:stretch>
            <a:fillRect/>
          </a:stretch>
        </p:blipFill>
        <p:spPr>
          <a:xfrm>
            <a:off x="2397760" y="4190365"/>
            <a:ext cx="3830320" cy="2622550"/>
          </a:xfrm>
          <a:prstGeom prst="rect">
            <a:avLst/>
          </a:prstGeom>
        </p:spPr>
      </p:pic>
      <p:sp>
        <p:nvSpPr>
          <p:cNvPr id="22" name="五角星 21"/>
          <p:cNvSpPr/>
          <p:nvPr/>
        </p:nvSpPr>
        <p:spPr>
          <a:xfrm>
            <a:off x="7454900" y="3293745"/>
            <a:ext cx="233045" cy="213995"/>
          </a:xfrm>
          <a:prstGeom prst="star5">
            <a:avLst/>
          </a:prstGeom>
          <a:solidFill>
            <a:srgbClr val="150A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751445" y="2937510"/>
            <a:ext cx="13843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滤光片倾斜对光谱有影响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抽拔光纤没有影响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26" name="五角星 25"/>
          <p:cNvSpPr/>
          <p:nvPr/>
        </p:nvSpPr>
        <p:spPr>
          <a:xfrm>
            <a:off x="7446645" y="4077335"/>
            <a:ext cx="233045" cy="213995"/>
          </a:xfrm>
          <a:prstGeom prst="star5">
            <a:avLst/>
          </a:prstGeom>
          <a:solidFill>
            <a:srgbClr val="150A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五角星 26"/>
          <p:cNvSpPr/>
          <p:nvPr/>
        </p:nvSpPr>
        <p:spPr>
          <a:xfrm>
            <a:off x="6497320" y="5208905"/>
            <a:ext cx="233045" cy="213995"/>
          </a:xfrm>
          <a:prstGeom prst="star5">
            <a:avLst/>
          </a:prstGeom>
          <a:solidFill>
            <a:srgbClr val="150AE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687185" y="5155565"/>
            <a:ext cx="1666875" cy="58356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>
              <a:buNone/>
            </a:pPr>
            <a:r>
              <a:rPr lang="en-US" altLang="zh-CN" sz="1600" dirty="0" smtClean="0"/>
              <a:t> </a:t>
            </a:r>
            <a:r>
              <a:rPr lang="zh-CN" altLang="en-US" sz="1600" dirty="0" smtClean="0"/>
              <a:t>垂直</a:t>
            </a:r>
            <a:r>
              <a:rPr lang="en-US" altLang="zh-CN" sz="1600" dirty="0" smtClean="0"/>
              <a:t>B</a:t>
            </a:r>
            <a:r>
              <a:rPr lang="zh-CN" altLang="en-US" sz="1600" dirty="0" smtClean="0"/>
              <a:t>窗口观测</a:t>
            </a:r>
            <a:endParaRPr lang="zh-CN" altLang="en-US" sz="1600" dirty="0" smtClean="0"/>
          </a:p>
          <a:p>
            <a:pPr>
              <a:buNone/>
            </a:pPr>
            <a:r>
              <a:rPr lang="zh-CN" altLang="en-US" sz="1600" dirty="0" smtClean="0"/>
              <a:t>到</a:t>
            </a:r>
            <a:r>
              <a:rPr lang="en-US" altLang="zh-CN" sz="1600" dirty="0" smtClean="0"/>
              <a:t>f-FIDA</a:t>
            </a:r>
            <a:r>
              <a:rPr lang="zh-CN" altLang="en-US" sz="1600" dirty="0" smtClean="0">
                <a:sym typeface="+mn-ea"/>
              </a:rPr>
              <a:t>信号</a:t>
            </a:r>
            <a:endParaRPr lang="zh-CN" altLang="en-US" sz="1600" dirty="0" smtClean="0">
              <a:sym typeface="+mn-ea"/>
            </a:endParaRPr>
          </a:p>
        </p:txBody>
      </p:sp>
      <p:pic>
        <p:nvPicPr>
          <p:cNvPr id="4" name="图片 3" descr="QQ图片2017120815105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58695" y="2620645"/>
            <a:ext cx="3037205" cy="1617345"/>
          </a:xfrm>
          <a:prstGeom prst="rect">
            <a:avLst/>
          </a:prstGeom>
        </p:spPr>
      </p:pic>
      <p:pic>
        <p:nvPicPr>
          <p:cNvPr id="7" name="图片 3" descr="绘图11111111"/>
          <p:cNvPicPr>
            <a:picLocks noChangeAspect="1"/>
          </p:cNvPicPr>
          <p:nvPr/>
        </p:nvPicPr>
        <p:blipFill>
          <a:blip r:embed="rId17"/>
          <a:srcRect l="36037" t="832" r="19199" b="87269"/>
          <a:stretch>
            <a:fillRect/>
          </a:stretch>
        </p:blipFill>
        <p:spPr>
          <a:xfrm>
            <a:off x="5161915" y="2926080"/>
            <a:ext cx="2160270" cy="9359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 descr="s-fida与滤光片"/>
          <p:cNvPicPr>
            <a:picLocks noChangeAspect="1"/>
          </p:cNvPicPr>
          <p:nvPr/>
        </p:nvPicPr>
        <p:blipFill>
          <a:blip r:embed="rId18"/>
          <a:srcRect l="-934" t="8205" r="1209" b="6145"/>
          <a:stretch>
            <a:fillRect/>
          </a:stretch>
        </p:blipFill>
        <p:spPr>
          <a:xfrm>
            <a:off x="2555875" y="981075"/>
            <a:ext cx="2304415" cy="1584325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13313"/>
          <p:cNvGrpSpPr/>
          <p:nvPr/>
        </p:nvGrpSpPr>
        <p:grpSpPr bwMode="auto">
          <a:xfrm>
            <a:off x="155258" y="2125028"/>
            <a:ext cx="9034462" cy="3578225"/>
            <a:chOff x="1555" y="1213973"/>
            <a:chExt cx="9033379" cy="3579946"/>
          </a:xfrm>
        </p:grpSpPr>
        <p:sp>
          <p:nvSpPr>
            <p:cNvPr id="14345" name="任意多边形 13314"/>
            <p:cNvSpPr>
              <a:spLocks noChangeArrowheads="1"/>
            </p:cNvSpPr>
            <p:nvPr/>
          </p:nvSpPr>
          <p:spPr bwMode="auto">
            <a:xfrm rot="5400000">
              <a:off x="259404" y="2512130"/>
              <a:ext cx="1576507" cy="2092205"/>
            </a:xfrm>
            <a:custGeom>
              <a:avLst/>
              <a:gdLst>
                <a:gd name="T0" fmla="*/ 0 w 1257351"/>
                <a:gd name="T1" fmla="*/ 0 h 2092204"/>
                <a:gd name="T2" fmla="*/ 253975 w 1257351"/>
                <a:gd name="T3" fmla="*/ 0 h 2092204"/>
                <a:gd name="T4" fmla="*/ 253975 w 1257351"/>
                <a:gd name="T5" fmla="*/ 1889520 h 2092204"/>
                <a:gd name="T6" fmla="*/ 1576507 w 1257351"/>
                <a:gd name="T7" fmla="*/ 1889520 h 2092204"/>
                <a:gd name="T8" fmla="*/ 1576507 w 1257351"/>
                <a:gd name="T9" fmla="*/ 2092205 h 2092204"/>
                <a:gd name="T10" fmla="*/ 0 w 1257351"/>
                <a:gd name="T11" fmla="*/ 2092205 h 20922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57351" h="2092204">
                  <a:moveTo>
                    <a:pt x="0" y="0"/>
                  </a:moveTo>
                  <a:lnTo>
                    <a:pt x="202559" y="0"/>
                  </a:lnTo>
                  <a:lnTo>
                    <a:pt x="202559" y="1889519"/>
                  </a:lnTo>
                  <a:lnTo>
                    <a:pt x="1257351" y="1889519"/>
                  </a:lnTo>
                  <a:lnTo>
                    <a:pt x="1257351" y="2092204"/>
                  </a:lnTo>
                  <a:lnTo>
                    <a:pt x="0" y="20922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4F81BD"/>
              </a:solidFill>
              <a:beve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6" name="矩形 13315"/>
            <p:cNvSpPr>
              <a:spLocks noChangeArrowheads="1"/>
            </p:cNvSpPr>
            <p:nvPr/>
          </p:nvSpPr>
          <p:spPr bwMode="auto">
            <a:xfrm>
              <a:off x="209103" y="3138228"/>
              <a:ext cx="1888853" cy="1655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" name="矩形 13316"/>
            <p:cNvSpPr>
              <a:spLocks noChangeArrowheads="1"/>
            </p:cNvSpPr>
            <p:nvPr/>
          </p:nvSpPr>
          <p:spPr bwMode="auto">
            <a:xfrm>
              <a:off x="265048" y="2982663"/>
              <a:ext cx="1775247" cy="1688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3340" tIns="53340" rIns="53340" bIns="53340"/>
            <a:lstStyle/>
            <a:p>
              <a:pPr algn="ctr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b="1" dirty="0">
                  <a:solidFill>
                    <a:srgbClr val="150AEC"/>
                  </a:solidFill>
                  <a:latin typeface="+mn-ea"/>
                </a:rPr>
                <a:t>调研</a:t>
              </a:r>
              <a:endParaRPr lang="en-US" altLang="zh-CN" sz="2000" b="1" dirty="0" smtClean="0">
                <a:solidFill>
                  <a:srgbClr val="150AEC"/>
                </a:solidFill>
                <a:latin typeface="+mn-ea"/>
                <a:ea typeface="+mn-ea"/>
              </a:endParaRPr>
            </a:p>
            <a:p>
              <a:pPr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dirty="0" smtClean="0">
                  <a:latin typeface="+mn-ea"/>
                  <a:ea typeface="+mn-ea"/>
                </a:rPr>
                <a:t>   文献</a:t>
              </a:r>
              <a:r>
                <a:rPr lang="zh-CN" altLang="en-US" sz="2000" dirty="0">
                  <a:latin typeface="+mn-ea"/>
                  <a:ea typeface="+mn-ea"/>
                </a:rPr>
                <a:t>调研</a:t>
              </a:r>
              <a:endParaRPr lang="zh-CN" altLang="en-US" sz="2000" dirty="0">
                <a:latin typeface="+mn-ea"/>
                <a:ea typeface="+mn-ea"/>
              </a:endParaRPr>
            </a:p>
            <a:p>
              <a:pPr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dirty="0">
                  <a:latin typeface="+mn-ea"/>
                  <a:ea typeface="+mn-ea"/>
                </a:rPr>
                <a:t>总结其他装置结果 </a:t>
              </a:r>
              <a:endParaRPr lang="zh-CN" altLang="en-US" sz="2000" dirty="0">
                <a:latin typeface="+mn-ea"/>
                <a:ea typeface="+mn-ea"/>
              </a:endParaRPr>
            </a:p>
            <a:p>
              <a:pPr algn="just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400" dirty="0"/>
            </a:p>
            <a:p>
              <a:pPr algn="just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400" dirty="0"/>
            </a:p>
          </p:txBody>
        </p:sp>
        <p:sp>
          <p:nvSpPr>
            <p:cNvPr id="14348" name="等腰三角形 13317"/>
            <p:cNvSpPr>
              <a:spLocks noChangeArrowheads="1"/>
            </p:cNvSpPr>
            <p:nvPr/>
          </p:nvSpPr>
          <p:spPr bwMode="auto">
            <a:xfrm>
              <a:off x="1741570" y="2359079"/>
              <a:ext cx="356387" cy="356387"/>
            </a:xfrm>
            <a:prstGeom prst="triangle">
              <a:avLst>
                <a:gd name="adj" fmla="val 100000"/>
              </a:avLst>
            </a:prstGeom>
            <a:solidFill>
              <a:srgbClr val="4F81BD"/>
            </a:solidFill>
            <a:ln w="12700">
              <a:solidFill>
                <a:srgbClr val="4F81BD"/>
              </a:solidFill>
              <a:beve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49" name="任意多边形 13318"/>
            <p:cNvSpPr>
              <a:spLocks noChangeArrowheads="1"/>
            </p:cNvSpPr>
            <p:nvPr/>
          </p:nvSpPr>
          <p:spPr bwMode="auto">
            <a:xfrm rot="5400000">
              <a:off x="2484103" y="2044089"/>
              <a:ext cx="1751766" cy="2092204"/>
            </a:xfrm>
            <a:custGeom>
              <a:avLst/>
              <a:gdLst>
                <a:gd name="T0" fmla="*/ 0 w 1257351"/>
                <a:gd name="T1" fmla="*/ 0 h 2092204"/>
                <a:gd name="T2" fmla="*/ 282209 w 1257351"/>
                <a:gd name="T3" fmla="*/ 0 h 2092204"/>
                <a:gd name="T4" fmla="*/ 282209 w 1257351"/>
                <a:gd name="T5" fmla="*/ 1889519 h 2092204"/>
                <a:gd name="T6" fmla="*/ 1751766 w 1257351"/>
                <a:gd name="T7" fmla="*/ 1889519 h 2092204"/>
                <a:gd name="T8" fmla="*/ 1751766 w 1257351"/>
                <a:gd name="T9" fmla="*/ 2092204 h 2092204"/>
                <a:gd name="T10" fmla="*/ 0 w 1257351"/>
                <a:gd name="T11" fmla="*/ 2092204 h 20922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57351" h="2092204">
                  <a:moveTo>
                    <a:pt x="0" y="0"/>
                  </a:moveTo>
                  <a:lnTo>
                    <a:pt x="202559" y="0"/>
                  </a:lnTo>
                  <a:lnTo>
                    <a:pt x="202559" y="1889519"/>
                  </a:lnTo>
                  <a:lnTo>
                    <a:pt x="1257351" y="1889519"/>
                  </a:lnTo>
                  <a:lnTo>
                    <a:pt x="1257351" y="2092204"/>
                  </a:lnTo>
                  <a:lnTo>
                    <a:pt x="0" y="20922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4F81BD"/>
              </a:solidFill>
              <a:beve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0" name="矩形 13319"/>
            <p:cNvSpPr>
              <a:spLocks noChangeArrowheads="1"/>
            </p:cNvSpPr>
            <p:nvPr/>
          </p:nvSpPr>
          <p:spPr bwMode="auto">
            <a:xfrm>
              <a:off x="2521429" y="2566041"/>
              <a:ext cx="1888853" cy="1655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" name="矩形 13320"/>
            <p:cNvSpPr>
              <a:spLocks noChangeArrowheads="1"/>
            </p:cNvSpPr>
            <p:nvPr/>
          </p:nvSpPr>
          <p:spPr bwMode="auto">
            <a:xfrm>
              <a:off x="2522203" y="2530817"/>
              <a:ext cx="1887311" cy="1256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3340" tIns="53340" rIns="53340" bIns="53340"/>
            <a:lstStyle/>
            <a:p>
              <a:pPr algn="ctr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b="1" dirty="0">
                  <a:solidFill>
                    <a:srgbClr val="150AEC"/>
                  </a:solidFill>
                  <a:latin typeface="+mn-ea"/>
                </a:rPr>
                <a:t>实验</a:t>
              </a:r>
              <a:endParaRPr lang="en-US" altLang="zh-CN" sz="2000" b="1" dirty="0">
                <a:solidFill>
                  <a:srgbClr val="150AEC"/>
                </a:solidFill>
                <a:latin typeface="+mn-ea"/>
              </a:endParaRPr>
            </a:p>
            <a:p>
              <a:pPr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</a:t>
              </a:r>
              <a:r>
                <a:rPr lang="zh-CN" altLang="en-US" sz="20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参与</a:t>
              </a:r>
              <a:r>
                <a: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EAST</a:t>
              </a:r>
              <a:r>
                <a: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实验</a:t>
              </a:r>
              <a:r>
                <a:rPr lang="zh-CN" altLang="en-US" sz="2000" dirty="0">
                  <a:latin typeface="+mn-ea"/>
                  <a:ea typeface="+mn-ea"/>
                  <a:sym typeface="+mn-ea"/>
                </a:rPr>
                <a:t>，</a:t>
              </a:r>
              <a:r>
                <a:rPr lang="zh-CN" altLang="en-US" sz="20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对</a:t>
              </a:r>
              <a:r>
                <a:rPr lang="en-US" altLang="zh-CN" sz="20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f-FIDA</a:t>
              </a:r>
              <a:r>
                <a:rPr lang="zh-CN" altLang="en-US" sz="20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装置进行测试，优化设计方案</a:t>
              </a:r>
              <a:endPara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just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dirty="0"/>
            </a:p>
          </p:txBody>
        </p:sp>
        <p:sp>
          <p:nvSpPr>
            <p:cNvPr id="14352" name="等腰三角形 13321"/>
            <p:cNvSpPr>
              <a:spLocks noChangeArrowheads="1"/>
            </p:cNvSpPr>
            <p:nvPr/>
          </p:nvSpPr>
          <p:spPr bwMode="auto">
            <a:xfrm>
              <a:off x="4053896" y="1770371"/>
              <a:ext cx="356387" cy="356387"/>
            </a:xfrm>
            <a:prstGeom prst="triangle">
              <a:avLst>
                <a:gd name="adj" fmla="val 100000"/>
              </a:avLst>
            </a:prstGeom>
            <a:solidFill>
              <a:srgbClr val="4F81BD"/>
            </a:solidFill>
            <a:ln w="12700">
              <a:solidFill>
                <a:srgbClr val="4F81BD"/>
              </a:solidFill>
              <a:beve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53" name="任意多边形 13322"/>
            <p:cNvSpPr>
              <a:spLocks noChangeArrowheads="1"/>
            </p:cNvSpPr>
            <p:nvPr/>
          </p:nvSpPr>
          <p:spPr bwMode="auto">
            <a:xfrm rot="5400000">
              <a:off x="4868447" y="1543922"/>
              <a:ext cx="1607729" cy="2092204"/>
            </a:xfrm>
            <a:custGeom>
              <a:avLst/>
              <a:gdLst>
                <a:gd name="T0" fmla="*/ 0 w 1257351"/>
                <a:gd name="T1" fmla="*/ 0 h 2092204"/>
                <a:gd name="T2" fmla="*/ 259005 w 1257351"/>
                <a:gd name="T3" fmla="*/ 0 h 2092204"/>
                <a:gd name="T4" fmla="*/ 259005 w 1257351"/>
                <a:gd name="T5" fmla="*/ 1889519 h 2092204"/>
                <a:gd name="T6" fmla="*/ 1607729 w 1257351"/>
                <a:gd name="T7" fmla="*/ 1889519 h 2092204"/>
                <a:gd name="T8" fmla="*/ 1607729 w 1257351"/>
                <a:gd name="T9" fmla="*/ 2092204 h 2092204"/>
                <a:gd name="T10" fmla="*/ 0 w 1257351"/>
                <a:gd name="T11" fmla="*/ 2092204 h 20922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57351" h="2092204">
                  <a:moveTo>
                    <a:pt x="0" y="0"/>
                  </a:moveTo>
                  <a:lnTo>
                    <a:pt x="202559" y="0"/>
                  </a:lnTo>
                  <a:lnTo>
                    <a:pt x="202559" y="1889519"/>
                  </a:lnTo>
                  <a:lnTo>
                    <a:pt x="1257351" y="1889519"/>
                  </a:lnTo>
                  <a:lnTo>
                    <a:pt x="1257351" y="2092204"/>
                  </a:lnTo>
                  <a:lnTo>
                    <a:pt x="0" y="20922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4F81BD"/>
              </a:solidFill>
              <a:beve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4" name="矩形 13323"/>
            <p:cNvSpPr>
              <a:spLocks noChangeArrowheads="1"/>
            </p:cNvSpPr>
            <p:nvPr/>
          </p:nvSpPr>
          <p:spPr bwMode="auto">
            <a:xfrm>
              <a:off x="4833755" y="1993853"/>
              <a:ext cx="1888853" cy="1655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" name="矩形 13324"/>
            <p:cNvSpPr>
              <a:spLocks noChangeArrowheads="1"/>
            </p:cNvSpPr>
            <p:nvPr/>
          </p:nvSpPr>
          <p:spPr bwMode="auto">
            <a:xfrm>
              <a:off x="4858400" y="2058110"/>
              <a:ext cx="1888899" cy="14008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3340" tIns="53340" rIns="53340" bIns="53340"/>
            <a:lstStyle/>
            <a:p>
              <a:pPr algn="ctr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b="1" dirty="0">
                  <a:solidFill>
                    <a:srgbClr val="150AEC"/>
                  </a:solidFill>
                  <a:latin typeface="+mn-ea"/>
                </a:rPr>
                <a:t>数据分析</a:t>
              </a:r>
              <a:endParaRPr lang="en-US" altLang="zh-CN" sz="2000" b="1" dirty="0">
                <a:solidFill>
                  <a:srgbClr val="150AEC"/>
                </a:solidFill>
                <a:latin typeface="+mn-ea"/>
              </a:endParaRPr>
            </a:p>
            <a:p>
              <a:pPr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dirty="0">
                  <a:latin typeface="+mn-ea"/>
                  <a:ea typeface="+mn-ea"/>
                </a:rPr>
                <a:t>   参与</a:t>
              </a:r>
              <a:r>
                <a:rPr lang="en-US" altLang="zh-CN" sz="2000" dirty="0">
                  <a:latin typeface="+mn-ea"/>
                  <a:ea typeface="+mn-ea"/>
                </a:rPr>
                <a:t>18</a:t>
              </a:r>
              <a:r>
                <a:rPr lang="zh-CN" altLang="en-US" sz="2000" dirty="0">
                  <a:latin typeface="+mn-ea"/>
                  <a:ea typeface="+mn-ea"/>
                </a:rPr>
                <a:t>年实验，收集更多</a:t>
              </a:r>
              <a:r>
                <a:rPr lang="en-US" altLang="zh-CN" sz="2000" dirty="0">
                  <a:latin typeface="+mn-ea"/>
                  <a:ea typeface="+mn-ea"/>
                </a:rPr>
                <a:t>f-FIDA</a:t>
              </a:r>
              <a:r>
                <a:rPr lang="zh-CN" altLang="en-US" sz="2000" dirty="0">
                  <a:latin typeface="+mn-ea"/>
                  <a:ea typeface="+mn-ea"/>
                </a:rPr>
                <a:t>的有效信号，进一步对相关不稳定性进行分析</a:t>
              </a:r>
              <a:endParaRPr lang="zh-CN" altLang="en-US" sz="2000" dirty="0">
                <a:latin typeface="+mn-ea"/>
                <a:ea typeface="+mn-ea"/>
              </a:endParaRPr>
            </a:p>
            <a:p>
              <a:pPr algn="just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400" dirty="0"/>
            </a:p>
          </p:txBody>
        </p:sp>
        <p:sp>
          <p:nvSpPr>
            <p:cNvPr id="14356" name="等腰三角形 13325"/>
            <p:cNvSpPr>
              <a:spLocks noChangeArrowheads="1"/>
            </p:cNvSpPr>
            <p:nvPr/>
          </p:nvSpPr>
          <p:spPr bwMode="auto">
            <a:xfrm>
              <a:off x="6366222" y="1341966"/>
              <a:ext cx="356387" cy="356387"/>
            </a:xfrm>
            <a:prstGeom prst="triangle">
              <a:avLst>
                <a:gd name="adj" fmla="val 100000"/>
              </a:avLst>
            </a:prstGeom>
            <a:solidFill>
              <a:srgbClr val="4F81BD"/>
            </a:solidFill>
            <a:ln w="12700">
              <a:solidFill>
                <a:srgbClr val="4F81BD"/>
              </a:solidFill>
              <a:beve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57" name="任意多边形 13326"/>
            <p:cNvSpPr>
              <a:spLocks noChangeArrowheads="1"/>
            </p:cNvSpPr>
            <p:nvPr/>
          </p:nvSpPr>
          <p:spPr bwMode="auto">
            <a:xfrm rot="5400000">
              <a:off x="7236584" y="915924"/>
              <a:ext cx="1496106" cy="2092204"/>
            </a:xfrm>
            <a:custGeom>
              <a:avLst/>
              <a:gdLst>
                <a:gd name="T0" fmla="*/ 0 w 1257351"/>
                <a:gd name="T1" fmla="*/ 0 h 2092204"/>
                <a:gd name="T2" fmla="*/ 241022 w 1257351"/>
                <a:gd name="T3" fmla="*/ 0 h 2092204"/>
                <a:gd name="T4" fmla="*/ 241022 w 1257351"/>
                <a:gd name="T5" fmla="*/ 1889519 h 2092204"/>
                <a:gd name="T6" fmla="*/ 1496106 w 1257351"/>
                <a:gd name="T7" fmla="*/ 1889519 h 2092204"/>
                <a:gd name="T8" fmla="*/ 1496106 w 1257351"/>
                <a:gd name="T9" fmla="*/ 2092204 h 2092204"/>
                <a:gd name="T10" fmla="*/ 0 w 1257351"/>
                <a:gd name="T11" fmla="*/ 2092204 h 20922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57351" h="2092204">
                  <a:moveTo>
                    <a:pt x="0" y="0"/>
                  </a:moveTo>
                  <a:lnTo>
                    <a:pt x="202559" y="0"/>
                  </a:lnTo>
                  <a:lnTo>
                    <a:pt x="202559" y="1889519"/>
                  </a:lnTo>
                  <a:lnTo>
                    <a:pt x="1257351" y="1889519"/>
                  </a:lnTo>
                  <a:lnTo>
                    <a:pt x="1257351" y="2092204"/>
                  </a:lnTo>
                  <a:lnTo>
                    <a:pt x="0" y="20922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  <a:ln w="12700">
              <a:solidFill>
                <a:srgbClr val="4F81BD"/>
              </a:solidFill>
              <a:beve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8" name="矩形 13327"/>
            <p:cNvSpPr>
              <a:spLocks noChangeArrowheads="1"/>
            </p:cNvSpPr>
            <p:nvPr/>
          </p:nvSpPr>
          <p:spPr bwMode="auto">
            <a:xfrm>
              <a:off x="7146081" y="1421666"/>
              <a:ext cx="1888853" cy="1655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59" name="矩形 13328"/>
            <p:cNvSpPr>
              <a:spLocks noChangeArrowheads="1"/>
            </p:cNvSpPr>
            <p:nvPr/>
          </p:nvSpPr>
          <p:spPr bwMode="auto">
            <a:xfrm>
              <a:off x="7146081" y="1481769"/>
              <a:ext cx="1888853" cy="1288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3340" tIns="53340" rIns="53340" bIns="5334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000" b="1" dirty="0">
                  <a:solidFill>
                    <a:srgbClr val="150AEC"/>
                  </a:solidFill>
                  <a:latin typeface="+mn-ea"/>
                </a:rPr>
                <a:t> </a:t>
              </a:r>
              <a:r>
                <a:rPr lang="zh-CN" altLang="en-US" sz="2000" b="1" dirty="0">
                  <a:solidFill>
                    <a:srgbClr val="150AEC"/>
                  </a:solidFill>
                  <a:latin typeface="+mn-ea"/>
                </a:rPr>
                <a:t>总结</a:t>
              </a:r>
              <a:endParaRPr lang="en-US" altLang="zh-CN" sz="2000" b="1" dirty="0">
                <a:solidFill>
                  <a:srgbClr val="150AEC"/>
                </a:solidFill>
                <a:latin typeface="+mn-ea"/>
              </a:endParaRPr>
            </a:p>
            <a:p>
              <a:pPr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000" dirty="0" smtClean="0">
                  <a:solidFill>
                    <a:srgbClr val="000000"/>
                  </a:solidFill>
                </a:rPr>
                <a:t>     总结</a:t>
              </a:r>
              <a:r>
                <a:rPr lang="zh-CN" altLang="en-US" sz="2000" dirty="0">
                  <a:solidFill>
                    <a:srgbClr val="000000"/>
                  </a:solidFill>
                </a:rPr>
                <a:t>已完成工作，完成毕业论文的撰写</a:t>
              </a:r>
              <a:endParaRPr lang="zh-CN" altLang="en-US" sz="2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4339" name="矩形 2"/>
          <p:cNvSpPr>
            <a:spLocks noChangeArrowheads="1"/>
          </p:cNvSpPr>
          <p:nvPr/>
        </p:nvSpPr>
        <p:spPr bwMode="auto">
          <a:xfrm>
            <a:off x="155575" y="3266758"/>
            <a:ext cx="186626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u="sng">
                <a:latin typeface="微软雅黑" panose="020B0503020204020204" pitchFamily="34" charset="-122"/>
                <a:ea typeface="微软雅黑" panose="020B0503020204020204" pitchFamily="34" charset="-122"/>
              </a:rPr>
              <a:t>2016.09-2017.5</a:t>
            </a:r>
            <a:endParaRPr lang="en-US" altLang="zh-CN" u="sng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0" name="矩形 6"/>
          <p:cNvSpPr>
            <a:spLocks noChangeArrowheads="1"/>
          </p:cNvSpPr>
          <p:nvPr/>
        </p:nvSpPr>
        <p:spPr bwMode="auto">
          <a:xfrm>
            <a:off x="2394903" y="2653030"/>
            <a:ext cx="186626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u="sng">
                <a:latin typeface="微软雅黑" panose="020B0503020204020204" pitchFamily="34" charset="-122"/>
                <a:ea typeface="微软雅黑" panose="020B0503020204020204" pitchFamily="34" charset="-122"/>
              </a:rPr>
              <a:t>2017.5-2017.12</a:t>
            </a:r>
            <a:endParaRPr lang="en-US" altLang="zh-CN" u="sng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1" name="矩形 5"/>
          <p:cNvSpPr>
            <a:spLocks noChangeArrowheads="1"/>
          </p:cNvSpPr>
          <p:nvPr/>
        </p:nvSpPr>
        <p:spPr bwMode="auto">
          <a:xfrm>
            <a:off x="4500563" y="2271713"/>
            <a:ext cx="186626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u="sng">
                <a:latin typeface="微软雅黑" panose="020B0503020204020204" pitchFamily="34" charset="-122"/>
                <a:ea typeface="微软雅黑" panose="020B0503020204020204" pitchFamily="34" charset="-122"/>
              </a:rPr>
              <a:t>2018.1-2018.12</a:t>
            </a:r>
            <a:endParaRPr lang="en-US" altLang="zh-CN" u="sng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2" name="矩形 3"/>
          <p:cNvSpPr>
            <a:spLocks noChangeArrowheads="1"/>
          </p:cNvSpPr>
          <p:nvPr/>
        </p:nvSpPr>
        <p:spPr bwMode="auto">
          <a:xfrm>
            <a:off x="6804025" y="1700213"/>
            <a:ext cx="20002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u="sng">
                <a:latin typeface="微软雅黑" panose="020B0503020204020204" pitchFamily="34" charset="-122"/>
                <a:ea typeface="微软雅黑" panose="020B0503020204020204" pitchFamily="34" charset="-122"/>
              </a:rPr>
              <a:t>2018.12-2019.05</a:t>
            </a:r>
            <a:endParaRPr lang="en-US" altLang="zh-CN" u="sng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3" name="矩形 13333"/>
          <p:cNvSpPr>
            <a:spLocks noGrp="1" noChangeArrowheads="1"/>
          </p:cNvSpPr>
          <p:nvPr/>
        </p:nvSpPr>
        <p:spPr bwMode="auto">
          <a:xfrm>
            <a:off x="247600" y="79375"/>
            <a:ext cx="7924800" cy="781050"/>
          </a:xfrm>
          <a:prstGeom prst="rect">
            <a:avLst/>
          </a:prstGeom>
          <a:solidFill>
            <a:srgbClr val="003366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altLang="zh-CN" sz="3200" dirty="0">
                <a:solidFill>
                  <a:srgbClr val="150A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微软雅黑" panose="020B0503020204020204" pitchFamily="34" charset="-122"/>
              </a:rPr>
              <a:t>5</a:t>
            </a:r>
            <a:r>
              <a:rPr lang="zh-CN" altLang="en-US" sz="3200" dirty="0">
                <a:solidFill>
                  <a:srgbClr val="150A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微软雅黑" panose="020B0503020204020204" pitchFamily="34" charset="-122"/>
              </a:rPr>
              <a:t>.工作安排</a:t>
            </a:r>
            <a:endParaRPr lang="zh-CN" altLang="en-US" sz="3200" dirty="0">
              <a:solidFill>
                <a:srgbClr val="150AE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ea typeface="微软雅黑" panose="020B0503020204020204" pitchFamily="34" charset="-122"/>
            </a:endParaRPr>
          </a:p>
        </p:txBody>
      </p:sp>
      <p:sp>
        <p:nvSpPr>
          <p:cNvPr id="14344" name="等腰三角形 13325"/>
          <p:cNvSpPr>
            <a:spLocks noChangeArrowheads="1"/>
          </p:cNvSpPr>
          <p:nvPr/>
        </p:nvSpPr>
        <p:spPr bwMode="auto">
          <a:xfrm>
            <a:off x="8740775" y="1628775"/>
            <a:ext cx="357188" cy="355600"/>
          </a:xfrm>
          <a:prstGeom prst="triangle">
            <a:avLst>
              <a:gd name="adj" fmla="val 100000"/>
            </a:avLst>
          </a:prstGeom>
          <a:solidFill>
            <a:srgbClr val="4F81BD"/>
          </a:solidFill>
          <a:ln w="12700">
            <a:solidFill>
              <a:srgbClr val="4F81BD"/>
            </a:solidFill>
            <a:beve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19320" y="2687320"/>
            <a:ext cx="4139565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8000" dirty="0">
                <a:ln w="1905"/>
                <a:solidFill>
                  <a:schemeClr val="accent2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谢谢大家！</a:t>
            </a:r>
            <a:endParaRPr lang="zh-CN" altLang="en-US" sz="8000" dirty="0">
              <a:ln w="1905"/>
              <a:solidFill>
                <a:schemeClr val="accent2">
                  <a:lumMod val="5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365" y="1374140"/>
            <a:ext cx="3895090" cy="4266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62"/>
  <p:tag name="KSO_WM_UNIT_TYPE" val="n_i"/>
  <p:tag name="KSO_WM_UNIT_INDEX" val="1_1"/>
  <p:tag name="KSO_WM_UNIT_ID" val="custom160462_14*n_i*1_1"/>
  <p:tag name="KSO_WM_UNIT_CLEAR" val="1"/>
  <p:tag name="KSO_WM_UNIT_LAYERLEVEL" val="1_1"/>
  <p:tag name="KSO_WM_DIAGRAM_GROUP_CODE" val="n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62"/>
  <p:tag name="KSO_WM_UNIT_TYPE" val="n_i"/>
  <p:tag name="KSO_WM_UNIT_INDEX" val="1_2"/>
  <p:tag name="KSO_WM_UNIT_ID" val="custom160462_14*n_i*1_2"/>
  <p:tag name="KSO_WM_UNIT_CLEAR" val="1"/>
  <p:tag name="KSO_WM_UNIT_LAYERLEVEL" val="1_1"/>
  <p:tag name="KSO_WM_DIAGRAM_GROUP_CODE" val="n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62"/>
  <p:tag name="KSO_WM_UNIT_TYPE" val="n_h_a"/>
  <p:tag name="KSO_WM_UNIT_INDEX" val="1_1_1"/>
  <p:tag name="KSO_WM_UNIT_ID" val="custom160462_14*n_h_a*1_1_1"/>
  <p:tag name="KSO_WM_UNIT_CLEAR" val="1"/>
  <p:tag name="KSO_WM_UNIT_LAYERLEVEL" val="1_1_1"/>
  <p:tag name="KSO_WM_UNIT_VALUE" val="30"/>
  <p:tag name="KSO_WM_UNIT_HIGHLIGHT" val="0"/>
  <p:tag name="KSO_WM_UNIT_COMPATIBLE" val="0"/>
  <p:tag name="KSO_WM_UNIT_PRESET_TEXT_INDEX" val="3"/>
  <p:tag name="KSO_WM_DIAGRAM_GROUP_CODE" val="n1-1"/>
  <p:tag name="KSO_WM_UNIT_PRESET_TEXT_LEN" val="5"/>
  <p:tag name="KSO_WM_UNIT_FILL_FORE_SCHEMECOLOR_INDEX" val="6"/>
  <p:tag name="KSO_WM_UNIT_FILL_TYPE" val="1"/>
  <p:tag name="KSO_WM_UNIT_USESOURCEFORMAT_APPLY" val="1"/>
</p:tagLst>
</file>

<file path=ppt/tags/tag4.xml><?xml version="1.0" encoding="utf-8"?>
<p:tagLst xmlns:p="http://schemas.openxmlformats.org/presentationml/2006/main">
  <p:tag name="KSO_WM_TEMPLATE_CATEGORY" val="custom"/>
  <p:tag name="KSO_WM_TEMPLATE_INDEX" val="160462"/>
  <p:tag name="KSO_WM_SLIDE_ID" val="custom160462_14"/>
  <p:tag name="KSO_WM_SLIDE_INDEX" val="14"/>
  <p:tag name="KSO_WM_SLIDE_ITEM_CNT" val="2"/>
  <p:tag name="KSO_WM_SLIDE_LAYOUT" val="a_n"/>
  <p:tag name="KSO_WM_SLIDE_LAYOUT_CNT" val="1_1"/>
  <p:tag name="KSO_WM_SLIDE_TYPE" val="text"/>
  <p:tag name="KSO_WM_BEAUTIFY_FLAG" val="#wm#"/>
  <p:tag name="KSO_WM_TAG_VERSION" val="1.0"/>
  <p:tag name="KSO_WM_SLIDE_POSITION" val="99*172"/>
  <p:tag name="KSO_WM_SLIDE_SIZE" val="762*280"/>
  <p:tag name="KSO_WM_DIAGRAM_GROUP_CODE" val="n1-1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62"/>
  <p:tag name="KSO_WM_UNIT_TYPE" val="l_i"/>
  <p:tag name="KSO_WM_UNIT_INDEX" val="1_1"/>
  <p:tag name="KSO_WM_UNIT_ID" val="custom160462_28*l_i*1_1"/>
  <p:tag name="KSO_WM_UNIT_CLEAR" val="1"/>
  <p:tag name="KSO_WM_UNIT_LAYERLEVEL" val="1_1"/>
  <p:tag name="KSO_WM_DIAGRAM_GROUP_CODE" val="l1-4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62"/>
  <p:tag name="KSO_WM_UNIT_TYPE" val="l_i"/>
  <p:tag name="KSO_WM_UNIT_INDEX" val="1_2"/>
  <p:tag name="KSO_WM_UNIT_ID" val="custom160462_28*l_i*1_2"/>
  <p:tag name="KSO_WM_UNIT_CLEAR" val="1"/>
  <p:tag name="KSO_WM_UNIT_LAYERLEVEL" val="1_1"/>
  <p:tag name="KSO_WM_DIAGRAM_GROUP_CODE" val="l1-4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62"/>
  <p:tag name="KSO_WM_UNIT_TYPE" val="l_i"/>
  <p:tag name="KSO_WM_UNIT_INDEX" val="1_3"/>
  <p:tag name="KSO_WM_UNIT_ID" val="custom160462_28*l_i*1_3"/>
  <p:tag name="KSO_WM_UNIT_CLEAR" val="1"/>
  <p:tag name="KSO_WM_UNIT_LAYERLEVEL" val="1_1"/>
  <p:tag name="KSO_WM_DIAGRAM_GROUP_CODE" val="l1-4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62"/>
  <p:tag name="KSO_WM_UNIT_TYPE" val="l_i"/>
  <p:tag name="KSO_WM_UNIT_INDEX" val="1_4"/>
  <p:tag name="KSO_WM_UNIT_ID" val="custom160462_28*l_i*1_4"/>
  <p:tag name="KSO_WM_UNIT_CLEAR" val="1"/>
  <p:tag name="KSO_WM_UNIT_LAYERLEVEL" val="1_1"/>
  <p:tag name="KSO_WM_DIAGRAM_GROUP_CODE" val="l1-4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9.xml><?xml version="1.0" encoding="utf-8"?>
<p:tagLst xmlns:p="http://schemas.openxmlformats.org/presentationml/2006/main">
  <p:tag name="KSO_WM_TEMPLATE_CATEGORY" val="custom"/>
  <p:tag name="KSO_WM_TEMPLATE_INDEX" val="160462"/>
  <p:tag name="KSO_WM_SLIDE_ID" val="custom160462_28"/>
  <p:tag name="KSO_WM_SLIDE_INDEX" val="28"/>
  <p:tag name="KSO_WM_SLIDE_ITEM_CNT" val="2"/>
  <p:tag name="KSO_WM_SLIDE_LAYOUT" val="a_l"/>
  <p:tag name="KSO_WM_SLIDE_LAYOUT_CNT" val="1_1"/>
  <p:tag name="KSO_WM_SLIDE_TYPE" val="text"/>
  <p:tag name="KSO_WM_BEAUTIFY_FLAG" val="#wm#"/>
  <p:tag name="KSO_WM_TAG_VERSION" val="1.0"/>
  <p:tag name="KSO_WM_SLIDE_POSITION" val="158*217"/>
  <p:tag name="KSO_WM_SLIDE_SIZE" val="644*280"/>
  <p:tag name="KSO_WM_DIAGRAM_GROUP_CODE" val="l1-4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1"/>
  <p:tag name="KSO_WM_UNIT_ID" val="custom160411_23*n_i*1_1"/>
  <p:tag name="KSO_WM_UNIT_CLEAR" val="1"/>
  <p:tag name="KSO_WM_UNIT_LAYERLEVEL" val="1_1"/>
  <p:tag name="KSO_WM_DIAGRAM_GROUP_CODE" val="n1-1"/>
  <p:tag name="KSO_WM_UNIT_LINE_FORE_SCHEMECOLOR_INDEX" val="5"/>
  <p:tag name="KSO_WM_UNIT_LINE_FILL_TYPE" val="2"/>
  <p:tag name="KSO_WM_UNIT_SHADOW_SCHEMECOLOR_INDEX" val="16"/>
  <p:tag name="KSO_WM_UNIT_USESOURCEFORMAT_APPLY" val="1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2"/>
  <p:tag name="KSO_WM_UNIT_ID" val="custom160411_23*n_i*1_2"/>
  <p:tag name="KSO_WM_UNIT_CLEAR" val="1"/>
  <p:tag name="KSO_WM_UNIT_LAYERLEVEL" val="1_1"/>
  <p:tag name="KSO_WM_DIAGRAM_GROUP_CODE" val="n1-1"/>
  <p:tag name="KSO_WM_UNIT_FILL_FORE_SCHEMECOLOR_INDEX" val="5"/>
  <p:tag name="KSO_WM_UNIT_FILL_TYPE" val="1"/>
  <p:tag name="KSO_WM_UNIT_LINE_FORE_SCHEMECOLOR_INDEX" val="14"/>
  <p:tag name="KSO_WM_UNIT_LINE_FILL_TYPE" val="2"/>
  <p:tag name="KSO_WM_UNIT_USESOURCEFORMAT_APPLY" val="1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3"/>
  <p:tag name="KSO_WM_UNIT_ID" val="custom160411_23*n_i*1_3"/>
  <p:tag name="KSO_WM_UNIT_CLEAR" val="1"/>
  <p:tag name="KSO_WM_UNIT_LAYERLEVEL" val="1_1"/>
  <p:tag name="KSO_WM_DIAGRAM_GROUP_CODE" val="n1-1"/>
  <p:tag name="KSO_WM_UNIT_LINE_FORE_SCHEMECOLOR_INDEX" val="5"/>
  <p:tag name="KSO_WM_UNIT_LINE_FILL_TYPE" val="2"/>
  <p:tag name="KSO_WM_UNIT_SHADOW_SCHEMECOLOR_INDEX" val="16"/>
  <p:tag name="KSO_WM_UNIT_USESOURCEFORMAT_APPLY" val="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4"/>
  <p:tag name="KSO_WM_UNIT_ID" val="custom160411_23*n_i*1_4"/>
  <p:tag name="KSO_WM_UNIT_CLEAR" val="1"/>
  <p:tag name="KSO_WM_UNIT_LAYERLEVEL" val="1_1"/>
  <p:tag name="KSO_WM_DIAGRAM_GROUP_CODE" val="n1-1"/>
  <p:tag name="KSO_WM_UNIT_LINE_FORE_SCHEMECOLOR_INDEX" val="5"/>
  <p:tag name="KSO_WM_UNIT_LINE_FILL_TYPE" val="2"/>
  <p:tag name="KSO_WM_UNIT_SHADOW_SCHEMECOLOR_INDEX" val="16"/>
  <p:tag name="KSO_WM_UNIT_USESOURCEFORMAT_APPLY" val="1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5"/>
  <p:tag name="KSO_WM_UNIT_ID" val="custom160411_23*n_i*1_5"/>
  <p:tag name="KSO_WM_UNIT_CLEAR" val="1"/>
  <p:tag name="KSO_WM_UNIT_LAYERLEVEL" val="1_1"/>
  <p:tag name="KSO_WM_DIAGRAM_GROUP_CODE" val="n1-1"/>
  <p:tag name="KSO_WM_UNIT_LINE_FORE_SCHEMECOLOR_INDEX" val="5"/>
  <p:tag name="KSO_WM_UNIT_LINE_FILL_TYPE" val="2"/>
  <p:tag name="KSO_WM_UNIT_SHADOW_SCHEMECOLOR_INDEX" val="16"/>
  <p:tag name="KSO_WM_UNIT_USESOURCEFORMAT_APPLY" val="1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6"/>
  <p:tag name="KSO_WM_UNIT_ID" val="custom160411_23*n_i*1_6"/>
  <p:tag name="KSO_WM_UNIT_CLEAR" val="1"/>
  <p:tag name="KSO_WM_UNIT_LAYERLEVEL" val="1_1"/>
  <p:tag name="KSO_WM_DIAGRAM_GROUP_CODE" val="n1-1"/>
  <p:tag name="KSO_WM_UNIT_FILL_FORE_SCHEMECOLOR_INDEX" val="5"/>
  <p:tag name="KSO_WM_UNIT_FILL_TYPE" val="1"/>
  <p:tag name="KSO_WM_UNIT_USESOURCEFORMAT_APPLY" val="1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h_a"/>
  <p:tag name="KSO_WM_UNIT_INDEX" val="1_1_1"/>
  <p:tag name="KSO_WM_UNIT_ID" val="custom160411_23*n_h_a*1_1_1"/>
  <p:tag name="KSO_WM_UNIT_CLEAR" val="1"/>
  <p:tag name="KSO_WM_UNIT_LAYERLEVEL" val="1_1_1"/>
  <p:tag name="KSO_WM_UNIT_VALUE" val="20"/>
  <p:tag name="KSO_WM_UNIT_HIGHLIGHT" val="0"/>
  <p:tag name="KSO_WM_UNIT_COMPATIBLE" val="0"/>
  <p:tag name="KSO_WM_UNIT_PRESET_TEXT_INDEX" val="3"/>
  <p:tag name="KSO_WM_DIAGRAM_GROUP_CODE" val="n1-1"/>
  <p:tag name="KSO_WM_UNIT_PRESET_TEXT_LEN" val="17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7"/>
  <p:tag name="KSO_WM_UNIT_ID" val="custom160411_23*n_i*1_7"/>
  <p:tag name="KSO_WM_UNIT_CLEAR" val="1"/>
  <p:tag name="KSO_WM_UNIT_LAYERLEVEL" val="1_1"/>
  <p:tag name="KSO_WM_DIAGRAM_GROUP_CODE" val="n1-1"/>
  <p:tag name="KSO_WM_UNIT_FILL_FORE_SCHEMECOLOR_INDEX" val="5"/>
  <p:tag name="KSO_WM_UNIT_FILL_TYPE" val="1"/>
  <p:tag name="KSO_WM_UNIT_LINE_FORE_SCHEMECOLOR_INDEX" val="14"/>
  <p:tag name="KSO_WM_UNIT_LINE_FILL_TYPE" val="2"/>
  <p:tag name="KSO_WM_UNIT_USESOURCEFORMAT_APPLY" val="1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8"/>
  <p:tag name="KSO_WM_UNIT_ID" val="custom160411_23*n_i*1_8"/>
  <p:tag name="KSO_WM_UNIT_CLEAR" val="1"/>
  <p:tag name="KSO_WM_UNIT_LAYERLEVEL" val="1_1"/>
  <p:tag name="KSO_WM_DIAGRAM_GROUP_CODE" val="n1-1"/>
  <p:tag name="KSO_WM_UNIT_FILL_FORE_SCHEMECOLOR_INDEX" val="5"/>
  <p:tag name="KSO_WM_UNIT_FILL_TYPE" val="1"/>
  <p:tag name="KSO_WM_UNIT_LINE_FORE_SCHEMECOLOR_INDEX" val="14"/>
  <p:tag name="KSO_WM_UNIT_LINE_FILL_TYPE" val="2"/>
  <p:tag name="KSO_WM_UNIT_USESOURCEFORMAT_APPLY" val="1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2"/>
  <p:tag name="KSO_WM_UNIT_ID" val="custom160411_23*n_i*1_2"/>
  <p:tag name="KSO_WM_UNIT_CLEAR" val="1"/>
  <p:tag name="KSO_WM_UNIT_LAYERLEVEL" val="1_1"/>
  <p:tag name="KSO_WM_DIAGRAM_GROUP_CODE" val="n1-1"/>
  <p:tag name="KSO_WM_UNIT_FILL_FORE_SCHEMECOLOR_INDEX" val="5"/>
  <p:tag name="KSO_WM_UNIT_FILL_TYPE" val="1"/>
  <p:tag name="KSO_WM_UNIT_LINE_FORE_SCHEMECOLOR_INDEX" val="14"/>
  <p:tag name="KSO_WM_UNIT_LINE_FILL_TYPE" val="2"/>
  <p:tag name="KSO_WM_UNIT_USESOURCEFORMAT_APPLY" val="1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2"/>
  <p:tag name="KSO_WM_UNIT_ID" val="custom160411_23*n_i*1_2"/>
  <p:tag name="KSO_WM_UNIT_CLEAR" val="1"/>
  <p:tag name="KSO_WM_UNIT_LAYERLEVEL" val="1_1"/>
  <p:tag name="KSO_WM_DIAGRAM_GROUP_CODE" val="n1-1"/>
  <p:tag name="KSO_WM_UNIT_FILL_FORE_SCHEMECOLOR_INDEX" val="5"/>
  <p:tag name="KSO_WM_UNIT_FILL_TYPE" val="1"/>
  <p:tag name="KSO_WM_UNIT_LINE_FORE_SCHEMECOLOR_INDEX" val="14"/>
  <p:tag name="KSO_WM_UNIT_LINE_FILL_TYPE" val="2"/>
  <p:tag name="KSO_WM_UNIT_USESOURCEFORMAT_APPLY" val="1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2"/>
  <p:tag name="KSO_WM_UNIT_ID" val="custom160411_23*n_i*1_2"/>
  <p:tag name="KSO_WM_UNIT_CLEAR" val="1"/>
  <p:tag name="KSO_WM_UNIT_LAYERLEVEL" val="1_1"/>
  <p:tag name="KSO_WM_DIAGRAM_GROUP_CODE" val="n1-1"/>
  <p:tag name="KSO_WM_UNIT_FILL_FORE_SCHEMECOLOR_INDEX" val="5"/>
  <p:tag name="KSO_WM_UNIT_FILL_TYPE" val="1"/>
  <p:tag name="KSO_WM_UNIT_LINE_FORE_SCHEMECOLOR_INDEX" val="14"/>
  <p:tag name="KSO_WM_UNIT_LINE_FILL_TYPE" val="2"/>
  <p:tag name="KSO_WM_UNIT_USESOURCEFORMAT_APPLY" val="1"/>
</p:tagLst>
</file>

<file path=ppt/tags/tag22.xml><?xml version="1.0" encoding="utf-8"?>
<p:tagLst xmlns:p="http://schemas.openxmlformats.org/presentationml/2006/main">
  <p:tag name="KSO_WM_TEMPLATE_CATEGORY" val="custom"/>
  <p:tag name="KSO_WM_TEMPLATE_INDEX" val="160411"/>
  <p:tag name="KSO_WM_TAG_VERSION" val="1.0"/>
  <p:tag name="KSO_WM_SLIDE_ID" val="custom160411_23"/>
  <p:tag name="KSO_WM_SLIDE_INDEX" val="23"/>
  <p:tag name="KSO_WM_SLIDE_ITEM_CNT" val="3"/>
  <p:tag name="KSO_WM_SLIDE_LAYOUT" val="a_n"/>
  <p:tag name="KSO_WM_SLIDE_LAYOUT_CNT" val="1_1"/>
  <p:tag name="KSO_WM_SLIDE_TYPE" val="text"/>
  <p:tag name="KSO_WM_BEAUTIFY_FLAG" val="#wm#"/>
  <p:tag name="KSO_WM_SLIDE_POSITION" val="213*166"/>
  <p:tag name="KSO_WM_SLIDE_SIZE" val="551*294"/>
  <p:tag name="KSO_WM_DIAGRAM_GROUP_CODE" val="n1-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1"/>
  <p:tag name="KSO_WM_UNIT_ID" val="custom160411_23*n_i*1_1"/>
  <p:tag name="KSO_WM_UNIT_CLEAR" val="1"/>
  <p:tag name="KSO_WM_UNIT_LAYERLEVEL" val="1_1"/>
  <p:tag name="KSO_WM_DIAGRAM_GROUP_CODE" val="n1-1"/>
  <p:tag name="KSO_WM_UNIT_LINE_FORE_SCHEMECOLOR_INDEX" val="5"/>
  <p:tag name="KSO_WM_UNIT_LINE_FILL_TYPE" val="2"/>
  <p:tag name="KSO_WM_UNIT_SHADOW_SCHEMECOLOR_INDEX" val="16"/>
  <p:tag name="KSO_WM_UNIT_USESOURCEFORMAT_APPLY" val="1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2"/>
  <p:tag name="KSO_WM_UNIT_ID" val="custom160411_23*n_i*1_2"/>
  <p:tag name="KSO_WM_UNIT_CLEAR" val="1"/>
  <p:tag name="KSO_WM_UNIT_LAYERLEVEL" val="1_1"/>
  <p:tag name="KSO_WM_DIAGRAM_GROUP_CODE" val="n1-1"/>
  <p:tag name="KSO_WM_UNIT_FILL_FORE_SCHEMECOLOR_INDEX" val="5"/>
  <p:tag name="KSO_WM_UNIT_FILL_TYPE" val="1"/>
  <p:tag name="KSO_WM_UNIT_LINE_FORE_SCHEMECOLOR_INDEX" val="14"/>
  <p:tag name="KSO_WM_UNIT_LINE_FILL_TYPE" val="2"/>
  <p:tag name="KSO_WM_UNIT_USESOURCEFORMAT_APPLY" val="1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3"/>
  <p:tag name="KSO_WM_UNIT_ID" val="custom160411_23*n_i*1_3"/>
  <p:tag name="KSO_WM_UNIT_CLEAR" val="1"/>
  <p:tag name="KSO_WM_UNIT_LAYERLEVEL" val="1_1"/>
  <p:tag name="KSO_WM_DIAGRAM_GROUP_CODE" val="n1-1"/>
  <p:tag name="KSO_WM_UNIT_LINE_FORE_SCHEMECOLOR_INDEX" val="5"/>
  <p:tag name="KSO_WM_UNIT_LINE_FILL_TYPE" val="2"/>
  <p:tag name="KSO_WM_UNIT_SHADOW_SCHEMECOLOR_INDEX" val="16"/>
  <p:tag name="KSO_WM_UNIT_USESOURCEFORMAT_APPLY" val="1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4"/>
  <p:tag name="KSO_WM_UNIT_ID" val="custom160411_23*n_i*1_4"/>
  <p:tag name="KSO_WM_UNIT_CLEAR" val="1"/>
  <p:tag name="KSO_WM_UNIT_LAYERLEVEL" val="1_1"/>
  <p:tag name="KSO_WM_DIAGRAM_GROUP_CODE" val="n1-1"/>
  <p:tag name="KSO_WM_UNIT_LINE_FORE_SCHEMECOLOR_INDEX" val="5"/>
  <p:tag name="KSO_WM_UNIT_LINE_FILL_TYPE" val="2"/>
  <p:tag name="KSO_WM_UNIT_SHADOW_SCHEMECOLOR_INDEX" val="16"/>
  <p:tag name="KSO_WM_UNIT_USESOURCEFORMAT_APPLY" val="1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5"/>
  <p:tag name="KSO_WM_UNIT_ID" val="custom160411_23*n_i*1_5"/>
  <p:tag name="KSO_WM_UNIT_CLEAR" val="1"/>
  <p:tag name="KSO_WM_UNIT_LAYERLEVEL" val="1_1"/>
  <p:tag name="KSO_WM_DIAGRAM_GROUP_CODE" val="n1-1"/>
  <p:tag name="KSO_WM_UNIT_LINE_FORE_SCHEMECOLOR_INDEX" val="5"/>
  <p:tag name="KSO_WM_UNIT_LINE_FILL_TYPE" val="2"/>
  <p:tag name="KSO_WM_UNIT_SHADOW_SCHEMECOLOR_INDEX" val="16"/>
  <p:tag name="KSO_WM_UNIT_USESOURCEFORMAT_APPLY" val="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6"/>
  <p:tag name="KSO_WM_UNIT_ID" val="custom160411_23*n_i*1_6"/>
  <p:tag name="KSO_WM_UNIT_CLEAR" val="1"/>
  <p:tag name="KSO_WM_UNIT_LAYERLEVEL" val="1_1"/>
  <p:tag name="KSO_WM_DIAGRAM_GROUP_CODE" val="n1-1"/>
  <p:tag name="KSO_WM_UNIT_FILL_FORE_SCHEMECOLOR_INDEX" val="5"/>
  <p:tag name="KSO_WM_UNIT_FILL_TYPE" val="1"/>
  <p:tag name="KSO_WM_UNIT_USESOURCEFORMAT_APPLY" val="1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h_a"/>
  <p:tag name="KSO_WM_UNIT_INDEX" val="1_1_1"/>
  <p:tag name="KSO_WM_UNIT_ID" val="custom160411_23*n_h_a*1_1_1"/>
  <p:tag name="KSO_WM_UNIT_CLEAR" val="1"/>
  <p:tag name="KSO_WM_UNIT_LAYERLEVEL" val="1_1_1"/>
  <p:tag name="KSO_WM_UNIT_VALUE" val="20"/>
  <p:tag name="KSO_WM_UNIT_HIGHLIGHT" val="0"/>
  <p:tag name="KSO_WM_UNIT_COMPATIBLE" val="0"/>
  <p:tag name="KSO_WM_UNIT_PRESET_TEXT_INDEX" val="3"/>
  <p:tag name="KSO_WM_DIAGRAM_GROUP_CODE" val="n1-1"/>
  <p:tag name="KSO_WM_UNIT_PRESET_TEXT_LEN" val="17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7"/>
  <p:tag name="KSO_WM_UNIT_ID" val="custom160411_23*n_i*1_7"/>
  <p:tag name="KSO_WM_UNIT_CLEAR" val="1"/>
  <p:tag name="KSO_WM_UNIT_LAYERLEVEL" val="1_1"/>
  <p:tag name="KSO_WM_DIAGRAM_GROUP_CODE" val="n1-1"/>
  <p:tag name="KSO_WM_UNIT_FILL_FORE_SCHEMECOLOR_INDEX" val="5"/>
  <p:tag name="KSO_WM_UNIT_FILL_TYPE" val="1"/>
  <p:tag name="KSO_WM_UNIT_LINE_FORE_SCHEMECOLOR_INDEX" val="14"/>
  <p:tag name="KSO_WM_UNIT_LINE_FILL_TYPE" val="2"/>
  <p:tag name="KSO_WM_UNIT_USESOURCEFORMAT_APPLY" val="1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8"/>
  <p:tag name="KSO_WM_UNIT_ID" val="custom160411_23*n_i*1_8"/>
  <p:tag name="KSO_WM_UNIT_CLEAR" val="1"/>
  <p:tag name="KSO_WM_UNIT_LAYERLEVEL" val="1_1"/>
  <p:tag name="KSO_WM_DIAGRAM_GROUP_CODE" val="n1-1"/>
  <p:tag name="KSO_WM_UNIT_FILL_FORE_SCHEMECOLOR_INDEX" val="5"/>
  <p:tag name="KSO_WM_UNIT_FILL_TYPE" val="1"/>
  <p:tag name="KSO_WM_UNIT_LINE_FORE_SCHEMECOLOR_INDEX" val="14"/>
  <p:tag name="KSO_WM_UNIT_LINE_FILL_TYPE" val="2"/>
  <p:tag name="KSO_WM_UNIT_USESOURCEFORMAT_APPLY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2"/>
  <p:tag name="KSO_WM_UNIT_ID" val="custom160411_23*n_i*1_2"/>
  <p:tag name="KSO_WM_UNIT_CLEAR" val="1"/>
  <p:tag name="KSO_WM_UNIT_LAYERLEVEL" val="1_1"/>
  <p:tag name="KSO_WM_DIAGRAM_GROUP_CODE" val="n1-1"/>
  <p:tag name="KSO_WM_UNIT_FILL_FORE_SCHEMECOLOR_INDEX" val="5"/>
  <p:tag name="KSO_WM_UNIT_FILL_TYPE" val="1"/>
  <p:tag name="KSO_WM_UNIT_LINE_FORE_SCHEMECOLOR_INDEX" val="14"/>
  <p:tag name="KSO_WM_UNIT_LINE_FILL_TYPE" val="2"/>
  <p:tag name="KSO_WM_UNIT_USESOURCEFORMAT_APPLY" val="1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2"/>
  <p:tag name="KSO_WM_UNIT_ID" val="custom160411_23*n_i*1_2"/>
  <p:tag name="KSO_WM_UNIT_CLEAR" val="1"/>
  <p:tag name="KSO_WM_UNIT_LAYERLEVEL" val="1_1"/>
  <p:tag name="KSO_WM_DIAGRAM_GROUP_CODE" val="n1-1"/>
  <p:tag name="KSO_WM_UNIT_FILL_FORE_SCHEMECOLOR_INDEX" val="5"/>
  <p:tag name="KSO_WM_UNIT_FILL_TYPE" val="1"/>
  <p:tag name="KSO_WM_UNIT_LINE_FORE_SCHEMECOLOR_INDEX" val="14"/>
  <p:tag name="KSO_WM_UNIT_LINE_FILL_TYPE" val="2"/>
  <p:tag name="KSO_WM_UNIT_USESOURCEFORMAT_APPLY" val="1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11"/>
  <p:tag name="KSO_WM_UNIT_TYPE" val="n_i"/>
  <p:tag name="KSO_WM_UNIT_INDEX" val="1_2"/>
  <p:tag name="KSO_WM_UNIT_ID" val="custom160411_23*n_i*1_2"/>
  <p:tag name="KSO_WM_UNIT_CLEAR" val="1"/>
  <p:tag name="KSO_WM_UNIT_LAYERLEVEL" val="1_1"/>
  <p:tag name="KSO_WM_DIAGRAM_GROUP_CODE" val="n1-1"/>
  <p:tag name="KSO_WM_UNIT_FILL_FORE_SCHEMECOLOR_INDEX" val="5"/>
  <p:tag name="KSO_WM_UNIT_FILL_TYPE" val="1"/>
  <p:tag name="KSO_WM_UNIT_LINE_FORE_SCHEMECOLOR_INDEX" val="14"/>
  <p:tag name="KSO_WM_UNIT_LINE_FILL_TYPE" val="2"/>
  <p:tag name="KSO_WM_UNIT_USESOURCEFORMAT_APPLY" val="1"/>
</p:tagLst>
</file>

<file path=ppt/tags/tag35.xml><?xml version="1.0" encoding="utf-8"?>
<p:tagLst xmlns:p="http://schemas.openxmlformats.org/presentationml/2006/main">
  <p:tag name="KSO_WM_TEMPLATE_CATEGORY" val="custom"/>
  <p:tag name="KSO_WM_TEMPLATE_INDEX" val="160411"/>
  <p:tag name="KSO_WM_TAG_VERSION" val="1.0"/>
  <p:tag name="KSO_WM_SLIDE_ID" val="custom160411_23"/>
  <p:tag name="KSO_WM_SLIDE_INDEX" val="23"/>
  <p:tag name="KSO_WM_SLIDE_ITEM_CNT" val="3"/>
  <p:tag name="KSO_WM_SLIDE_LAYOUT" val="a_n"/>
  <p:tag name="KSO_WM_SLIDE_LAYOUT_CNT" val="1_1"/>
  <p:tag name="KSO_WM_SLIDE_TYPE" val="text"/>
  <p:tag name="KSO_WM_BEAUTIFY_FLAG" val="#wm#"/>
  <p:tag name="KSO_WM_SLIDE_POSITION" val="213*166"/>
  <p:tag name="KSO_WM_SLIDE_SIZE" val="551*294"/>
  <p:tag name="KSO_WM_DIAGRAM_GROUP_CODE" val="n1-1"/>
</p:tagLst>
</file>

<file path=ppt/theme/theme1.xml><?xml version="1.0" encoding="utf-8"?>
<a:theme xmlns:a="http://schemas.openxmlformats.org/drawingml/2006/main" name="GA_pppl_2008">
  <a:themeElements>
    <a:clrScheme name="">
      <a:dk1>
        <a:srgbClr val="000000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0000"/>
      </a:accent4>
      <a:accent5>
        <a:srgbClr val="F4FCE5"/>
      </a:accent5>
      <a:accent6>
        <a:srgbClr val="D3DDE5"/>
      </a:accent6>
      <a:hlink>
        <a:srgbClr val="CC99FF"/>
      </a:hlink>
      <a:folHlink>
        <a:srgbClr val="F2DF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GA_pppl_2008 1">
        <a:dk1>
          <a:srgbClr val="990033"/>
        </a:dk1>
        <a:lt1>
          <a:srgbClr val="FFFFCC"/>
        </a:lt1>
        <a:dk2>
          <a:srgbClr val="000000"/>
        </a:dk2>
        <a:lt2>
          <a:srgbClr val="FFFFFF"/>
        </a:lt2>
        <a:accent1>
          <a:srgbClr val="CC3300"/>
        </a:accent1>
        <a:accent2>
          <a:srgbClr val="FF9900"/>
        </a:accent2>
        <a:accent3>
          <a:srgbClr val="AAAAAA"/>
        </a:accent3>
        <a:accent4>
          <a:srgbClr val="DADAAE"/>
        </a:accent4>
        <a:accent5>
          <a:srgbClr val="E2ADAA"/>
        </a:accent5>
        <a:accent6>
          <a:srgbClr val="E78A00"/>
        </a:accent6>
        <a:hlink>
          <a:srgbClr val="FFCC00"/>
        </a:hlink>
        <a:folHlink>
          <a:srgbClr val="FF505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_pppl_2008 2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_pppl_2008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_pppl_2008 4">
        <a:dk1>
          <a:srgbClr val="7A5A00"/>
        </a:dk1>
        <a:lt1>
          <a:srgbClr val="FFFF99"/>
        </a:lt1>
        <a:dk2>
          <a:srgbClr val="000066"/>
        </a:dk2>
        <a:lt2>
          <a:srgbClr val="CCFF33"/>
        </a:lt2>
        <a:accent1>
          <a:srgbClr val="006600"/>
        </a:accent1>
        <a:accent2>
          <a:srgbClr val="4F0777"/>
        </a:accent2>
        <a:accent3>
          <a:srgbClr val="AAAAB8"/>
        </a:accent3>
        <a:accent4>
          <a:srgbClr val="DADA82"/>
        </a:accent4>
        <a:accent5>
          <a:srgbClr val="AAB8AA"/>
        </a:accent5>
        <a:accent6>
          <a:srgbClr val="47066B"/>
        </a:accent6>
        <a:hlink>
          <a:srgbClr val="CC99FF"/>
        </a:hlink>
        <a:folHlink>
          <a:srgbClr val="00589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_pppl_2008 5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_pppl_2008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CCCC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B9B900"/>
        </a:accent6>
        <a:hlink>
          <a:srgbClr val="0080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_pppl_2008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_pppl_2008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_pppl_2008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GA_pppl_2008">
  <a:themeElements>
    <a:clrScheme name="">
      <a:dk1>
        <a:srgbClr val="000000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0000"/>
      </a:accent4>
      <a:accent5>
        <a:srgbClr val="F4FCE5"/>
      </a:accent5>
      <a:accent6>
        <a:srgbClr val="D3DDE5"/>
      </a:accent6>
      <a:hlink>
        <a:srgbClr val="CC99FF"/>
      </a:hlink>
      <a:folHlink>
        <a:srgbClr val="F2DF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1_GA_pppl_2008 1">
        <a:dk1>
          <a:srgbClr val="990033"/>
        </a:dk1>
        <a:lt1>
          <a:srgbClr val="FFFFCC"/>
        </a:lt1>
        <a:dk2>
          <a:srgbClr val="000000"/>
        </a:dk2>
        <a:lt2>
          <a:srgbClr val="FFFFFF"/>
        </a:lt2>
        <a:accent1>
          <a:srgbClr val="CC3300"/>
        </a:accent1>
        <a:accent2>
          <a:srgbClr val="FF9900"/>
        </a:accent2>
        <a:accent3>
          <a:srgbClr val="AAAAAA"/>
        </a:accent3>
        <a:accent4>
          <a:srgbClr val="DADAAE"/>
        </a:accent4>
        <a:accent5>
          <a:srgbClr val="E2ADAA"/>
        </a:accent5>
        <a:accent6>
          <a:srgbClr val="E78A00"/>
        </a:accent6>
        <a:hlink>
          <a:srgbClr val="FFCC00"/>
        </a:hlink>
        <a:folHlink>
          <a:srgbClr val="FF505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GA_pppl_2008 2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GA_pppl_2008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GA_pppl_2008 4">
        <a:dk1>
          <a:srgbClr val="7A5A00"/>
        </a:dk1>
        <a:lt1>
          <a:srgbClr val="FFFF99"/>
        </a:lt1>
        <a:dk2>
          <a:srgbClr val="000066"/>
        </a:dk2>
        <a:lt2>
          <a:srgbClr val="CCFF33"/>
        </a:lt2>
        <a:accent1>
          <a:srgbClr val="006600"/>
        </a:accent1>
        <a:accent2>
          <a:srgbClr val="4F0777"/>
        </a:accent2>
        <a:accent3>
          <a:srgbClr val="AAAAB8"/>
        </a:accent3>
        <a:accent4>
          <a:srgbClr val="DADA82"/>
        </a:accent4>
        <a:accent5>
          <a:srgbClr val="AAB8AA"/>
        </a:accent5>
        <a:accent6>
          <a:srgbClr val="47066B"/>
        </a:accent6>
        <a:hlink>
          <a:srgbClr val="CC99FF"/>
        </a:hlink>
        <a:folHlink>
          <a:srgbClr val="00589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GA_pppl_2008 5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GA_pppl_2008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CCCC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B9B900"/>
        </a:accent6>
        <a:hlink>
          <a:srgbClr val="0080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GA_pppl_2008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GA_pppl_2008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GA_pppl_2008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GA_pppl_2008">
  <a:themeElements>
    <a:clrScheme name="">
      <a:dk1>
        <a:srgbClr val="000000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0000"/>
      </a:accent4>
      <a:accent5>
        <a:srgbClr val="F4FCE5"/>
      </a:accent5>
      <a:accent6>
        <a:srgbClr val="D3DDE5"/>
      </a:accent6>
      <a:hlink>
        <a:srgbClr val="CC99FF"/>
      </a:hlink>
      <a:folHlink>
        <a:srgbClr val="F2DF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2_GA_pppl_2008 1">
        <a:dk1>
          <a:srgbClr val="990033"/>
        </a:dk1>
        <a:lt1>
          <a:srgbClr val="FFFFCC"/>
        </a:lt1>
        <a:dk2>
          <a:srgbClr val="000000"/>
        </a:dk2>
        <a:lt2>
          <a:srgbClr val="FFFFFF"/>
        </a:lt2>
        <a:accent1>
          <a:srgbClr val="CC3300"/>
        </a:accent1>
        <a:accent2>
          <a:srgbClr val="FF9900"/>
        </a:accent2>
        <a:accent3>
          <a:srgbClr val="AAAAAA"/>
        </a:accent3>
        <a:accent4>
          <a:srgbClr val="DADAAE"/>
        </a:accent4>
        <a:accent5>
          <a:srgbClr val="E2ADAA"/>
        </a:accent5>
        <a:accent6>
          <a:srgbClr val="E78A00"/>
        </a:accent6>
        <a:hlink>
          <a:srgbClr val="FFCC00"/>
        </a:hlink>
        <a:folHlink>
          <a:srgbClr val="FF505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GA_pppl_2008 2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GA_pppl_2008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GA_pppl_2008 4">
        <a:dk1>
          <a:srgbClr val="7A5A00"/>
        </a:dk1>
        <a:lt1>
          <a:srgbClr val="FFFF99"/>
        </a:lt1>
        <a:dk2>
          <a:srgbClr val="000066"/>
        </a:dk2>
        <a:lt2>
          <a:srgbClr val="CCFF33"/>
        </a:lt2>
        <a:accent1>
          <a:srgbClr val="006600"/>
        </a:accent1>
        <a:accent2>
          <a:srgbClr val="4F0777"/>
        </a:accent2>
        <a:accent3>
          <a:srgbClr val="AAAAB8"/>
        </a:accent3>
        <a:accent4>
          <a:srgbClr val="DADA82"/>
        </a:accent4>
        <a:accent5>
          <a:srgbClr val="AAB8AA"/>
        </a:accent5>
        <a:accent6>
          <a:srgbClr val="47066B"/>
        </a:accent6>
        <a:hlink>
          <a:srgbClr val="CC99FF"/>
        </a:hlink>
        <a:folHlink>
          <a:srgbClr val="00589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GA_pppl_2008 5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GA_pppl_2008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CCCC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B9B900"/>
        </a:accent6>
        <a:hlink>
          <a:srgbClr val="0080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GA_pppl_2008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GA_pppl_2008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GA_pppl_2008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GA_pppl_2008">
  <a:themeElements>
    <a:clrScheme name="">
      <a:dk1>
        <a:srgbClr val="000000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0000"/>
      </a:accent4>
      <a:accent5>
        <a:srgbClr val="F4FCE5"/>
      </a:accent5>
      <a:accent6>
        <a:srgbClr val="D3DDE5"/>
      </a:accent6>
      <a:hlink>
        <a:srgbClr val="CC99FF"/>
      </a:hlink>
      <a:folHlink>
        <a:srgbClr val="F2DF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GA_pppl_2008 1">
        <a:dk1>
          <a:srgbClr val="990033"/>
        </a:dk1>
        <a:lt1>
          <a:srgbClr val="FFFFCC"/>
        </a:lt1>
        <a:dk2>
          <a:srgbClr val="000000"/>
        </a:dk2>
        <a:lt2>
          <a:srgbClr val="FFFFFF"/>
        </a:lt2>
        <a:accent1>
          <a:srgbClr val="CC3300"/>
        </a:accent1>
        <a:accent2>
          <a:srgbClr val="FF9900"/>
        </a:accent2>
        <a:accent3>
          <a:srgbClr val="AAAAAA"/>
        </a:accent3>
        <a:accent4>
          <a:srgbClr val="DADAAE"/>
        </a:accent4>
        <a:accent5>
          <a:srgbClr val="E2ADAA"/>
        </a:accent5>
        <a:accent6>
          <a:srgbClr val="E78A00"/>
        </a:accent6>
        <a:hlink>
          <a:srgbClr val="FFCC00"/>
        </a:hlink>
        <a:folHlink>
          <a:srgbClr val="FF505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GA_pppl_2008 2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GA_pppl_2008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GA_pppl_2008 4">
        <a:dk1>
          <a:srgbClr val="7A5A00"/>
        </a:dk1>
        <a:lt1>
          <a:srgbClr val="FFFF99"/>
        </a:lt1>
        <a:dk2>
          <a:srgbClr val="000066"/>
        </a:dk2>
        <a:lt2>
          <a:srgbClr val="CCFF33"/>
        </a:lt2>
        <a:accent1>
          <a:srgbClr val="006600"/>
        </a:accent1>
        <a:accent2>
          <a:srgbClr val="4F0777"/>
        </a:accent2>
        <a:accent3>
          <a:srgbClr val="AAAAB8"/>
        </a:accent3>
        <a:accent4>
          <a:srgbClr val="DADA82"/>
        </a:accent4>
        <a:accent5>
          <a:srgbClr val="AAB8AA"/>
        </a:accent5>
        <a:accent6>
          <a:srgbClr val="47066B"/>
        </a:accent6>
        <a:hlink>
          <a:srgbClr val="CC99FF"/>
        </a:hlink>
        <a:folHlink>
          <a:srgbClr val="00589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GA_pppl_2008 5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GA_pppl_2008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CCCC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B9B900"/>
        </a:accent6>
        <a:hlink>
          <a:srgbClr val="0080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GA_pppl_2008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GA_pppl_2008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GA_pppl_2008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asipp_f_运行</Template>
  <TotalTime>0</TotalTime>
  <Words>1163</Words>
  <Application>WPS 演示</Application>
  <PresentationFormat>全屏显示(4:3)</PresentationFormat>
  <Paragraphs>178</Paragraphs>
  <Slides>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9</vt:i4>
      </vt:variant>
    </vt:vector>
  </HeadingPairs>
  <TitlesOfParts>
    <vt:vector size="29" baseType="lpstr">
      <vt:lpstr>Arial</vt:lpstr>
      <vt:lpstr>宋体</vt:lpstr>
      <vt:lpstr>Wingdings</vt:lpstr>
      <vt:lpstr>MS PGothic</vt:lpstr>
      <vt:lpstr>Century Gothic</vt:lpstr>
      <vt:lpstr>楷体_GB2312</vt:lpstr>
      <vt:lpstr>微软雅黑</vt:lpstr>
      <vt:lpstr>Times New Roman</vt:lpstr>
      <vt:lpstr>Algerian</vt:lpstr>
      <vt:lpstr>黑体</vt:lpstr>
      <vt:lpstr>幼圆</vt:lpstr>
      <vt:lpstr>Calibri</vt:lpstr>
      <vt:lpstr>华文中宋</vt:lpstr>
      <vt:lpstr>Arial Unicode MS</vt:lpstr>
      <vt:lpstr>Charlemagne Std</vt:lpstr>
      <vt:lpstr>新宋体</vt:lpstr>
      <vt:lpstr>GA_pppl_2008</vt:lpstr>
      <vt:lpstr>1_GA_pppl_2008</vt:lpstr>
      <vt:lpstr>2_GA_pppl_2008</vt:lpstr>
      <vt:lpstr>3_GA_pppl_2008</vt:lpstr>
      <vt:lpstr>PowerPoint 演示文稿</vt:lpstr>
      <vt:lpstr>目录</vt:lpstr>
      <vt:lpstr>1.选题及研究意义</vt:lpstr>
      <vt:lpstr>2.国内外研究现状</vt:lpstr>
      <vt:lpstr>PowerPoint 演示文稿</vt:lpstr>
      <vt:lpstr>4.研究基础及进展</vt:lpstr>
      <vt:lpstr>4.研究基础及进展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jpqian</dc:creator>
  <cp:lastModifiedBy>÷</cp:lastModifiedBy>
  <cp:revision>237</cp:revision>
  <dcterms:created xsi:type="dcterms:W3CDTF">2015-06-02T07:53:00Z</dcterms:created>
  <dcterms:modified xsi:type="dcterms:W3CDTF">2017-12-11T02:46:51Z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2052-10.1.0.7023</vt:lpwstr>
  </property>
</Properties>
</file>